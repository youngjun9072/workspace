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42" r:id="rId9"/>
    <p:sldId id="343" r:id="rId10"/>
    <p:sldId id="344" r:id="rId11"/>
    <p:sldId id="345" r:id="rId12"/>
    <p:sldId id="346" r:id="rId13"/>
    <p:sldId id="350" r:id="rId14"/>
    <p:sldId id="351" r:id="rId15"/>
    <p:sldId id="347" r:id="rId16"/>
    <p:sldId id="348" r:id="rId17"/>
    <p:sldId id="349" r:id="rId18"/>
    <p:sldId id="263" r:id="rId19"/>
    <p:sldId id="266" r:id="rId20"/>
    <p:sldId id="267" r:id="rId21"/>
    <p:sldId id="352" r:id="rId22"/>
    <p:sldId id="353" r:id="rId23"/>
    <p:sldId id="354" r:id="rId24"/>
    <p:sldId id="355" r:id="rId25"/>
    <p:sldId id="356" r:id="rId26"/>
    <p:sldId id="365" r:id="rId27"/>
    <p:sldId id="366" r:id="rId28"/>
    <p:sldId id="367" r:id="rId29"/>
    <p:sldId id="297" r:id="rId30"/>
    <p:sldId id="268" r:id="rId31"/>
    <p:sldId id="368" r:id="rId32"/>
    <p:sldId id="269" r:id="rId33"/>
    <p:sldId id="270" r:id="rId34"/>
    <p:sldId id="271" r:id="rId35"/>
    <p:sldId id="369" r:id="rId36"/>
    <p:sldId id="371" r:id="rId37"/>
    <p:sldId id="272" r:id="rId38"/>
    <p:sldId id="370" r:id="rId39"/>
    <p:sldId id="273" r:id="rId40"/>
    <p:sldId id="298" r:id="rId41"/>
    <p:sldId id="274" r:id="rId42"/>
    <p:sldId id="275" r:id="rId43"/>
    <p:sldId id="299" r:id="rId44"/>
    <p:sldId id="310" r:id="rId45"/>
    <p:sldId id="300" r:id="rId46"/>
    <p:sldId id="301" r:id="rId47"/>
    <p:sldId id="302" r:id="rId48"/>
    <p:sldId id="303" r:id="rId49"/>
    <p:sldId id="276" r:id="rId50"/>
    <p:sldId id="277" r:id="rId51"/>
    <p:sldId id="280" r:id="rId52"/>
    <p:sldId id="304" r:id="rId53"/>
    <p:sldId id="311" r:id="rId54"/>
    <p:sldId id="305" r:id="rId55"/>
    <p:sldId id="372" r:id="rId56"/>
    <p:sldId id="373" r:id="rId57"/>
    <p:sldId id="316" r:id="rId58"/>
    <p:sldId id="313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5" r:id="rId67"/>
    <p:sldId id="328" r:id="rId68"/>
    <p:sldId id="329" r:id="rId69"/>
    <p:sldId id="330" r:id="rId70"/>
    <p:sldId id="309" r:id="rId71"/>
    <p:sldId id="308" r:id="rId72"/>
    <p:sldId id="278" r:id="rId73"/>
    <p:sldId id="312" r:id="rId74"/>
    <p:sldId id="331" r:id="rId75"/>
    <p:sldId id="314" r:id="rId76"/>
    <p:sldId id="306" r:id="rId77"/>
    <p:sldId id="307" r:id="rId78"/>
    <p:sldId id="286" r:id="rId79"/>
    <p:sldId id="287" r:id="rId80"/>
    <p:sldId id="288" r:id="rId81"/>
    <p:sldId id="289" r:id="rId82"/>
    <p:sldId id="290" r:id="rId83"/>
    <p:sldId id="291" r:id="rId84"/>
    <p:sldId id="332" r:id="rId85"/>
    <p:sldId id="292" r:id="rId86"/>
    <p:sldId id="293" r:id="rId87"/>
    <p:sldId id="294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8"/>
    <p:restoredTop sz="96307"/>
  </p:normalViewPr>
  <p:slideViewPr>
    <p:cSldViewPr snapToGrid="0" snapToObjects="1">
      <p:cViewPr varScale="1">
        <p:scale>
          <a:sx n="149" d="100"/>
          <a:sy n="149" d="100"/>
        </p:scale>
        <p:origin x="13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FDD67-7522-9B4F-AF97-564704442FFF}" type="datetimeFigureOut">
              <a:rPr kumimoji="1" lang="ko-KR" altLang="en-US" smtClean="0"/>
              <a:t>2026. 6. 10.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694D5-1D27-9A42-B6A1-47B96E9698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2825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130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8183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B7EA-CF8B-3014-88C5-4C657394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84743A-7221-B5F8-B976-C9C3E11EB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302CFA-DAAA-F14C-24E5-3D00792F8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C085C-328A-F921-E80A-6191D47DC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28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F658-D41C-6AE1-EEB7-4E468DBD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2D153-A40C-7D9E-9608-FE04AD79E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9F6478-3FE4-DC1D-FC11-CBCBC9BE5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BA14A-9777-A105-7E0F-3D3716A76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3269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D586-92FE-EFDC-D5A9-5BA7FD3A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D83E37-A311-71CF-13FA-AA1893A34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B215D6-B231-AED0-2F0A-4D341BACC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DD679-34B7-C6A4-4774-A8847E700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796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15D0-E8DD-D0C7-7141-6A348F46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A3E83C-8B12-E3C3-E5A9-D4657CD09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B2FB36-8453-4887-B1FF-54278D62A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78CDD-5922-EEB2-7730-A00937E84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6335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99F3-9348-1195-D726-5923AB97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1E3A5A-1B47-EF52-A93A-5E94BD18D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93712C-4C52-3BEA-BB3C-65FB43D45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E9391-EA2B-DAA1-B8A7-159BEB519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9393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52D2-9D6F-1F57-9227-53B7D606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E95E0-4EEB-00B6-DC9C-47911169E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2B9FAD-2BBC-D423-F665-1A35CC6F3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69511-D819-C001-136A-05579D047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78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F622-561A-D454-65F1-601FF6D9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89F60D-A131-750F-C593-FCA0F8B7A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20737C-7027-6F8D-BF06-23A49B20D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122884-1B11-1997-0420-6418472D3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875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1238-714C-1E1D-A849-2D1049F6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780A9F-AC5D-A528-3AD1-1360EA9B1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BE1139-3D05-9DDE-6B6C-8CA5DEDF2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6AAE8-24C0-74FB-EE22-F07449603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3348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57D8-9214-D04E-CB6C-61ADF637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D28E45-1E4B-EE36-7FC7-2CED66830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D20CF1-50A1-65AE-1ACF-9B7BB60F3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CFB1-F397-EA27-4995-916234A41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659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2D22-815D-50D0-C6A1-3E818CAA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8D9D2C-CB4C-C3EF-2459-7FDEEEC56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3F8589-A108-17D3-2BB5-4FD3F4D30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2FBDF-7138-F2F1-1E39-B96BBB469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2160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CEFB-7BCD-192F-FC35-E679DD69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AF8FC9-1313-DE6C-227B-962787F38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DCEDCE-247A-427A-A298-062A65092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7D9C18-6933-DA5E-4910-643ABF2CF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490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E142-7F75-6AF5-78C2-1638BD9B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E8FAEF-F95D-E852-6719-AF774C047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EF0897-55EC-CBF3-3726-D99958A83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45282-A919-D72F-B776-FEFEB9A76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435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C714-3178-7930-E764-466C2917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551A8C-542C-0088-27F9-43606813B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D82634-01E5-A78B-C8F3-3ABF08C64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C9C25-51C9-1451-D218-F93D248D4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1886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56F2-130C-8535-FBC0-2AAC8625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ACF8A-8CC3-9D84-54A7-02585C189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40363E-9323-080F-FD8F-FD6E3FB21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D1A56-4FD0-241C-5006-65213776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4019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15BB-31BF-72D1-9EB8-90450031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5E5F9-CFF4-34C6-0509-9474D8698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CCB61B-B7A2-5861-F111-B62188045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9A0417-111C-40E0-25EE-DFF7BCF7A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7669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0CF50-35AF-9C8A-D4C6-F9DF2913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1A1DD7-C504-D130-ECCA-17E89CE08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118366-50D8-4E57-BA61-AB8EBD699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F659-F01F-E1F4-7F1B-B8B176488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1337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DE8A-F734-E3CB-DD72-BA452D78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1DDABF-59CD-A305-E6E7-FAC177D3A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D97343-C06A-2DE3-2DBF-6E646147C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0348C-136B-8C7A-54AE-A2EB0F088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4342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52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396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B5F0-25E0-BB52-9293-A0A778D4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22F72B-EA11-AD58-8880-536F7CD70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A40AC6-FCC2-6B64-5942-A2BA1ABEA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8EA5A-3BAC-B58A-5AB8-320E04528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94D5-1D27-9A42-B6A1-47B96E9698D9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39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7A2B"/>
                </a:solidFill>
                <a:latin typeface="맑은 고딕"/>
              </a:rPr>
              <a:t>CUBRID HA · 복제 성능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병렬 applylogdb
코디네이터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97680"/>
            <a:ext cx="2926080" cy="3175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7D3DE"/>
                </a:solidFill>
                <a:latin typeface="맑은 고딕"/>
              </a:rPr>
              <a:t>PoC를 넘어 — 마스터가 의존성을 계산하고, 슬레이브 코디네이터가
병렬로 적용하되 commit 순서를 보존하는 MySQL식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939E"/>
                </a:solidFill>
                <a:latin typeface="맑은 고딕"/>
              </a:rPr>
              <a:t>CUBRID Replication Team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7A2B"/>
                </a:solidFill>
                <a:latin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200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9C6D2"/>
                </a:solidFill>
                <a:latin typeface="맑은 고딕"/>
              </a:rPr>
              <a:t>현재 복제 구조에서
출발해, 왜 병렬화가
필요한지, 그리고
어떻게 정확하게
병렬화할지를
순서대로 다룹니다.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868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052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CUBRID HA 복제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78623"/>
            <a:ext cx="3200400" cy="247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dirty="0" err="1">
                <a:solidFill>
                  <a:srgbClr val="122A42"/>
                </a:solidFill>
                <a:latin typeface="맑은 고딕"/>
              </a:rPr>
              <a:t>applylogdb의</a:t>
            </a:r>
            <a:r>
              <a:rPr sz="16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lang="ko-KR" altLang="en-US" sz="1600" b="1" dirty="0">
                <a:solidFill>
                  <a:srgbClr val="122A42"/>
                </a:solidFill>
                <a:latin typeface="맑은 고딕"/>
              </a:rPr>
              <a:t>동작</a:t>
            </a:r>
            <a:endParaRPr sz="16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5973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병렬 applylogdb가 필요한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3697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PoC 구조와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77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01421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PoC 이후의 핵심 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754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7914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타 DBMS 병렬 복제 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532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56869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채택 모델: MySQL식 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868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9052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CUBRID 병렬화 전체 설계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68249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정확성 시나리오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23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45973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재시작과 Progress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7A2B"/>
                </a:solidFill>
                <a:latin typeface="맑은 고딕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23697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결론 및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CUBRID HA 복제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copylogdb·applylogdb 2단계 복제와 LSA 진도 모델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720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01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1-1. CUBRID HA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복사(copylogdb)와 반영(applylogdb)의 2단계 복제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170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154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212080" cy="2679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122A42"/>
                </a:solidFill>
                <a:latin typeface="맑은 고딕"/>
              </a:rPr>
              <a:t>● HA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노드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구성</a:t>
            </a:r>
            <a:endParaRPr sz="15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cub_master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cub_server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copylogdb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applylogdb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1F6F8B"/>
                </a:solidFill>
                <a:latin typeface="맑은 고딕"/>
              </a:rPr>
              <a:t>● ①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copylogdb</a:t>
            </a:r>
            <a:r>
              <a:rPr sz="15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로그</a:t>
            </a:r>
            <a:r>
              <a:rPr sz="15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복사</a:t>
            </a:r>
            <a:endParaRPr sz="1500" b="1" dirty="0">
              <a:solidFill>
                <a:srgbClr val="1F6F8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마스터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서버에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트랜잭션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로그를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요청해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로컬에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복사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lang="en-US" sz="1400" b="0" dirty="0">
                <a:solidFill>
                  <a:srgbClr val="444B54"/>
                </a:solidFill>
                <a:latin typeface="맑은 고딕"/>
              </a:rPr>
              <a:t>Active Log/ Archive Log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1F6F8B"/>
                </a:solidFill>
                <a:latin typeface="맑은 고딕"/>
              </a:rPr>
              <a:t>● ②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applylogdb</a:t>
            </a:r>
            <a:r>
              <a:rPr sz="15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로그</a:t>
            </a:r>
            <a:r>
              <a:rPr sz="15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6F8B"/>
                </a:solidFill>
                <a:latin typeface="맑은 고딕"/>
              </a:rPr>
              <a:t>반영</a:t>
            </a:r>
            <a:endParaRPr sz="1500" b="1" dirty="0">
              <a:solidFill>
                <a:srgbClr val="1F6F8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복사된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로그를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읽어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슬레이브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DB에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반영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진도를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카탈로그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db_ha_apply_info에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기록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509C592-04BC-B20B-F734-2DFF7C389509}"/>
              </a:ext>
            </a:extLst>
          </p:cNvPr>
          <p:cNvSpPr/>
          <p:nvPr/>
        </p:nvSpPr>
        <p:spPr>
          <a:xfrm>
            <a:off x="594360" y="13258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cubrid ha 구조도</a:t>
            </a:r>
            <a:endParaRPr lang="en-US" sz="108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63EF7BE-C108-6EB0-7AC4-8F4513237F31}"/>
              </a:ext>
            </a:extLst>
          </p:cNvPr>
          <p:cNvSpPr/>
          <p:nvPr/>
        </p:nvSpPr>
        <p:spPr>
          <a:xfrm>
            <a:off x="566928" y="1572768"/>
            <a:ext cx="5689939" cy="141732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 w="12700">
            <a:solidFill>
              <a:srgbClr val="BFD0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A6177C2-2CA6-0E67-5A91-7F8A9F0EEBBE}"/>
              </a:ext>
            </a:extLst>
          </p:cNvPr>
          <p:cNvSpPr/>
          <p:nvPr/>
        </p:nvSpPr>
        <p:spPr>
          <a:xfrm>
            <a:off x="708660" y="16642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26477"/>
                </a:solidFill>
              </a:rPr>
              <a:t>MASTER node</a:t>
            </a:r>
            <a:endParaRPr lang="en-US" sz="85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285566E-BCCE-D59F-6FCC-E4D2654BAD45}"/>
              </a:ext>
            </a:extLst>
          </p:cNvPr>
          <p:cNvSpPr/>
          <p:nvPr/>
        </p:nvSpPr>
        <p:spPr>
          <a:xfrm>
            <a:off x="566928" y="3246120"/>
            <a:ext cx="5689939" cy="2907792"/>
          </a:xfrm>
          <a:prstGeom prst="roundRect">
            <a:avLst>
              <a:gd name="adj" fmla="val 1887"/>
            </a:avLst>
          </a:prstGeom>
          <a:solidFill>
            <a:srgbClr val="EEF8F1"/>
          </a:solidFill>
          <a:ln w="12700">
            <a:solidFill>
              <a:srgbClr val="A9D5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3533A13-E085-9CD0-3C85-091C7BAF5999}"/>
              </a:ext>
            </a:extLst>
          </p:cNvPr>
          <p:cNvSpPr/>
          <p:nvPr/>
        </p:nvSpPr>
        <p:spPr>
          <a:xfrm>
            <a:off x="708660" y="3337559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77461"/>
                </a:solidFill>
              </a:rPr>
              <a:t>SLAVE node</a:t>
            </a:r>
            <a:endParaRPr lang="en-US" sz="850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2312528-882B-A049-CAF5-7C80843EDFA5}"/>
              </a:ext>
            </a:extLst>
          </p:cNvPr>
          <p:cNvGrpSpPr/>
          <p:nvPr/>
        </p:nvGrpSpPr>
        <p:grpSpPr>
          <a:xfrm>
            <a:off x="882396" y="1817344"/>
            <a:ext cx="822960" cy="329184"/>
            <a:chOff x="914400" y="2029968"/>
            <a:chExt cx="822960" cy="329184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6E0B9C2D-6F3B-3C94-B565-DE3EE110F4AF}"/>
                </a:ext>
              </a:extLst>
            </p:cNvPr>
            <p:cNvSpPr/>
            <p:nvPr/>
          </p:nvSpPr>
          <p:spPr>
            <a:xfrm>
              <a:off x="914400" y="2029968"/>
              <a:ext cx="822960" cy="329184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2700">
              <a:solidFill>
                <a:srgbClr val="A9B7C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5E73A5D5-45E4-FBD7-3642-CAE6F80450AF}"/>
                </a:ext>
              </a:extLst>
            </p:cNvPr>
            <p:cNvSpPr/>
            <p:nvPr/>
          </p:nvSpPr>
          <p:spPr>
            <a:xfrm>
              <a:off x="1014984" y="2103120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7202A"/>
                  </a:solidFill>
                </a:rPr>
                <a:t>Client 1</a:t>
              </a:r>
              <a:endParaRPr lang="en-US" sz="85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AF8A46B-498D-56DE-6FB1-51CD4947B70C}"/>
              </a:ext>
            </a:extLst>
          </p:cNvPr>
          <p:cNvGrpSpPr/>
          <p:nvPr/>
        </p:nvGrpSpPr>
        <p:grpSpPr>
          <a:xfrm>
            <a:off x="882396" y="2219680"/>
            <a:ext cx="822960" cy="329184"/>
            <a:chOff x="914400" y="2432304"/>
            <a:chExt cx="822960" cy="329184"/>
          </a:xfrm>
        </p:grpSpPr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1063076B-9128-5084-2D7D-7540F5703CF0}"/>
                </a:ext>
              </a:extLst>
            </p:cNvPr>
            <p:cNvSpPr/>
            <p:nvPr/>
          </p:nvSpPr>
          <p:spPr>
            <a:xfrm>
              <a:off x="914400" y="2432304"/>
              <a:ext cx="822960" cy="329184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2700">
              <a:solidFill>
                <a:srgbClr val="A9B7C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0C547902-2CC3-BF64-F995-20FF6AC0AD62}"/>
                </a:ext>
              </a:extLst>
            </p:cNvPr>
            <p:cNvSpPr/>
            <p:nvPr/>
          </p:nvSpPr>
          <p:spPr>
            <a:xfrm>
              <a:off x="1014984" y="2505456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7202A"/>
                  </a:solidFill>
                </a:rPr>
                <a:t>Client 2</a:t>
              </a:r>
              <a:endParaRPr lang="en-US" sz="85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A8FC59-176D-01AC-53D4-E387D9531124}"/>
              </a:ext>
            </a:extLst>
          </p:cNvPr>
          <p:cNvGrpSpPr/>
          <p:nvPr/>
        </p:nvGrpSpPr>
        <p:grpSpPr>
          <a:xfrm>
            <a:off x="882396" y="2622016"/>
            <a:ext cx="822960" cy="329184"/>
            <a:chOff x="914400" y="2834640"/>
            <a:chExt cx="822960" cy="329184"/>
          </a:xfrm>
        </p:grpSpPr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D6FC3A1A-5101-0066-C94C-3727EDFD7673}"/>
                </a:ext>
              </a:extLst>
            </p:cNvPr>
            <p:cNvSpPr/>
            <p:nvPr/>
          </p:nvSpPr>
          <p:spPr>
            <a:xfrm>
              <a:off x="914400" y="2834640"/>
              <a:ext cx="822960" cy="329184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2700">
              <a:solidFill>
                <a:srgbClr val="A9B7C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82FEF695-71A6-806F-3AD3-60842CEBCEC9}"/>
                </a:ext>
              </a:extLst>
            </p:cNvPr>
            <p:cNvSpPr/>
            <p:nvPr/>
          </p:nvSpPr>
          <p:spPr>
            <a:xfrm>
              <a:off x="1014984" y="2907792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7202A"/>
                  </a:solidFill>
                </a:rPr>
                <a:t>Client 3</a:t>
              </a:r>
              <a:endParaRPr lang="en-US" sz="850" dirty="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09DB144-6F6B-D863-89DF-E549FC12CB3C}"/>
              </a:ext>
            </a:extLst>
          </p:cNvPr>
          <p:cNvGrpSpPr/>
          <p:nvPr/>
        </p:nvGrpSpPr>
        <p:grpSpPr>
          <a:xfrm>
            <a:off x="2363724" y="2139696"/>
            <a:ext cx="1417320" cy="530352"/>
            <a:chOff x="2487168" y="2240280"/>
            <a:chExt cx="1417320" cy="530352"/>
          </a:xfrm>
        </p:grpSpPr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AAFAB542-DEEE-F25D-B9A7-8A6DAB658793}"/>
                </a:ext>
              </a:extLst>
            </p:cNvPr>
            <p:cNvSpPr/>
            <p:nvPr/>
          </p:nvSpPr>
          <p:spPr>
            <a:xfrm>
              <a:off x="2487168" y="2240280"/>
              <a:ext cx="1417320" cy="530352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2700">
              <a:solidFill>
                <a:srgbClr val="5F8FC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D1BD87B8-93C5-A256-87B7-DE3500D95C63}"/>
                </a:ext>
              </a:extLst>
            </p:cNvPr>
            <p:cNvSpPr/>
            <p:nvPr/>
          </p:nvSpPr>
          <p:spPr>
            <a:xfrm>
              <a:off x="2587752" y="2313432"/>
              <a:ext cx="12161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7202A"/>
                  </a:solidFill>
                </a:rPr>
                <a:t>cub_server</a:t>
              </a:r>
              <a:endParaRPr lang="en-US" sz="1100" dirty="0"/>
            </a:p>
          </p:txBody>
        </p:sp>
      </p:grpSp>
      <p:sp>
        <p:nvSpPr>
          <p:cNvPr id="25" name="Shape 15">
            <a:extLst>
              <a:ext uri="{FF2B5EF4-FFF2-40B4-BE49-F238E27FC236}">
                <a16:creationId xmlns:a16="http://schemas.microsoft.com/office/drawing/2014/main" id="{4E5168BA-4E8E-7BE4-9492-BB69E3E93787}"/>
              </a:ext>
            </a:extLst>
          </p:cNvPr>
          <p:cNvSpPr/>
          <p:nvPr/>
        </p:nvSpPr>
        <p:spPr>
          <a:xfrm>
            <a:off x="1705356" y="2007108"/>
            <a:ext cx="658368" cy="201168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35BB51BE-26AC-2D00-2DFA-4C31FB7EBB76}"/>
              </a:ext>
            </a:extLst>
          </p:cNvPr>
          <p:cNvSpPr/>
          <p:nvPr/>
        </p:nvSpPr>
        <p:spPr>
          <a:xfrm>
            <a:off x="1705356" y="2409444"/>
            <a:ext cx="658368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8CC4D070-F3E3-77CC-2787-038EA3E9DA88}"/>
              </a:ext>
            </a:extLst>
          </p:cNvPr>
          <p:cNvSpPr/>
          <p:nvPr/>
        </p:nvSpPr>
        <p:spPr>
          <a:xfrm flipV="1">
            <a:off x="1705356" y="2596896"/>
            <a:ext cx="621792" cy="214884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5F7F8711-0F99-9E8A-C021-FE44A56BD8C5}"/>
              </a:ext>
            </a:extLst>
          </p:cNvPr>
          <p:cNvSpPr/>
          <p:nvPr/>
        </p:nvSpPr>
        <p:spPr>
          <a:xfrm>
            <a:off x="1970532" y="16219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457A6"/>
                </a:solidFill>
              </a:rPr>
              <a:t>Request</a:t>
            </a:r>
            <a:endParaRPr lang="en-US" sz="75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89A38D37-081C-FCFB-45C3-7378146890A6}"/>
              </a:ext>
            </a:extLst>
          </p:cNvPr>
          <p:cNvGrpSpPr/>
          <p:nvPr/>
        </p:nvGrpSpPr>
        <p:grpSpPr>
          <a:xfrm>
            <a:off x="4368969" y="2139696"/>
            <a:ext cx="1298448" cy="530352"/>
            <a:chOff x="4599432" y="2240280"/>
            <a:chExt cx="1298448" cy="530352"/>
          </a:xfrm>
        </p:grpSpPr>
        <p:sp>
          <p:nvSpPr>
            <p:cNvPr id="29" name="Shape 19">
              <a:extLst>
                <a:ext uri="{FF2B5EF4-FFF2-40B4-BE49-F238E27FC236}">
                  <a16:creationId xmlns:a16="http://schemas.microsoft.com/office/drawing/2014/main" id="{67DD3990-0FA7-BC1C-F25B-61558E8454D0}"/>
                </a:ext>
              </a:extLst>
            </p:cNvPr>
            <p:cNvSpPr/>
            <p:nvPr/>
          </p:nvSpPr>
          <p:spPr>
            <a:xfrm>
              <a:off x="4599432" y="2240280"/>
              <a:ext cx="1298448" cy="530352"/>
            </a:xfrm>
            <a:prstGeom prst="roundRect">
              <a:avLst>
                <a:gd name="adj" fmla="val 8621"/>
              </a:avLst>
            </a:prstGeom>
            <a:solidFill>
              <a:srgbClr val="FFF7E8"/>
            </a:solidFill>
            <a:ln w="12700">
              <a:solidFill>
                <a:srgbClr val="E7A94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CE5F5DBD-8C19-6F68-1251-C02637ECAA24}"/>
                </a:ext>
              </a:extLst>
            </p:cNvPr>
            <p:cNvSpPr/>
            <p:nvPr/>
          </p:nvSpPr>
          <p:spPr>
            <a:xfrm>
              <a:off x="4700016" y="2313432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7202A"/>
                  </a:solidFill>
                </a:rPr>
                <a:t>Tx log</a:t>
              </a:r>
              <a:endParaRPr lang="en-US" sz="1100" dirty="0"/>
            </a:p>
          </p:txBody>
        </p:sp>
      </p:grpSp>
      <p:sp>
        <p:nvSpPr>
          <p:cNvPr id="31" name="Shape 21">
            <a:extLst>
              <a:ext uri="{FF2B5EF4-FFF2-40B4-BE49-F238E27FC236}">
                <a16:creationId xmlns:a16="http://schemas.microsoft.com/office/drawing/2014/main" id="{B3B89C62-9415-50D6-7511-1F23116E34E6}"/>
              </a:ext>
            </a:extLst>
          </p:cNvPr>
          <p:cNvSpPr/>
          <p:nvPr/>
        </p:nvSpPr>
        <p:spPr>
          <a:xfrm>
            <a:off x="3799332" y="2425700"/>
            <a:ext cx="557784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FEFF7C02-553A-4340-2368-15299F73FC1B}"/>
              </a:ext>
            </a:extLst>
          </p:cNvPr>
          <p:cNvSpPr/>
          <p:nvPr/>
        </p:nvSpPr>
        <p:spPr>
          <a:xfrm>
            <a:off x="3822869" y="2227469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write</a:t>
            </a:r>
            <a:endParaRPr lang="en-US" sz="75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CE16D242-82FC-9643-EA0E-57C99B79DBA8}"/>
              </a:ext>
            </a:extLst>
          </p:cNvPr>
          <p:cNvSpPr/>
          <p:nvPr/>
        </p:nvSpPr>
        <p:spPr>
          <a:xfrm>
            <a:off x="4558687" y="3832704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F8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EDC88D4-D802-0EE6-C8C9-4CF53C836F09}"/>
              </a:ext>
            </a:extLst>
          </p:cNvPr>
          <p:cNvSpPr/>
          <p:nvPr/>
        </p:nvSpPr>
        <p:spPr>
          <a:xfrm>
            <a:off x="4610503" y="3907103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</a:rPr>
              <a:t>copylogdb</a:t>
            </a:r>
            <a:endParaRPr lang="en-US" sz="10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5E0C1D30-3CDC-3009-4195-30F2EA9FFFDC}"/>
              </a:ext>
            </a:extLst>
          </p:cNvPr>
          <p:cNvSpPr/>
          <p:nvPr/>
        </p:nvSpPr>
        <p:spPr>
          <a:xfrm>
            <a:off x="5003310" y="2670048"/>
            <a:ext cx="9144" cy="1073351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AA262964-E642-C66A-7DB7-5CD9A5815DE6}"/>
              </a:ext>
            </a:extLst>
          </p:cNvPr>
          <p:cNvSpPr/>
          <p:nvPr/>
        </p:nvSpPr>
        <p:spPr>
          <a:xfrm>
            <a:off x="4739641" y="285968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fetch repl log over network</a:t>
            </a:r>
            <a:endParaRPr lang="en-US" sz="75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28C11FC8-C217-5034-B770-21245BC2900E}"/>
              </a:ext>
            </a:extLst>
          </p:cNvPr>
          <p:cNvSpPr/>
          <p:nvPr/>
        </p:nvSpPr>
        <p:spPr>
          <a:xfrm>
            <a:off x="4610502" y="4625542"/>
            <a:ext cx="1221289" cy="566928"/>
          </a:xfrm>
          <a:prstGeom prst="roundRect">
            <a:avLst>
              <a:gd name="adj" fmla="val 8065"/>
            </a:avLst>
          </a:prstGeom>
          <a:solidFill>
            <a:srgbClr val="FFF7E8"/>
          </a:solidFill>
          <a:ln w="12700">
            <a:solidFill>
              <a:srgbClr val="E7A9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5AA581E1-64B1-B3E5-C514-15BA328B24E4}"/>
              </a:ext>
            </a:extLst>
          </p:cNvPr>
          <p:cNvSpPr/>
          <p:nvPr/>
        </p:nvSpPr>
        <p:spPr>
          <a:xfrm>
            <a:off x="4471098" y="468848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7202A"/>
                </a:solidFill>
              </a:rPr>
              <a:t>Active Log/Archive Log</a:t>
            </a:r>
            <a:endParaRPr lang="en-US" sz="92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67E35E53-243B-1429-C0EE-45C4938B1181}"/>
              </a:ext>
            </a:extLst>
          </p:cNvPr>
          <p:cNvSpPr/>
          <p:nvPr/>
        </p:nvSpPr>
        <p:spPr>
          <a:xfrm>
            <a:off x="5201460" y="4280905"/>
            <a:ext cx="6027" cy="303598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9AFDBB0-4893-BB21-5CB7-650B1875DDA2}"/>
              </a:ext>
            </a:extLst>
          </p:cNvPr>
          <p:cNvGrpSpPr/>
          <p:nvPr/>
        </p:nvGrpSpPr>
        <p:grpSpPr>
          <a:xfrm>
            <a:off x="2485562" y="3709321"/>
            <a:ext cx="1947672" cy="2059943"/>
            <a:chOff x="2464307" y="3701008"/>
            <a:chExt cx="1947672" cy="2059943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C16DF662-1AC0-4E80-4CB3-46D241512198}"/>
                </a:ext>
              </a:extLst>
            </p:cNvPr>
            <p:cNvSpPr/>
            <p:nvPr/>
          </p:nvSpPr>
          <p:spPr>
            <a:xfrm>
              <a:off x="2478579" y="3701008"/>
              <a:ext cx="1884621" cy="2059943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5240">
              <a:solidFill>
                <a:srgbClr val="D9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2">
              <a:extLst>
                <a:ext uri="{FF2B5EF4-FFF2-40B4-BE49-F238E27FC236}">
                  <a16:creationId xmlns:a16="http://schemas.microsoft.com/office/drawing/2014/main" id="{181E1199-486D-6C8B-F98B-D42BBE13C4F1}"/>
                </a:ext>
              </a:extLst>
            </p:cNvPr>
            <p:cNvSpPr/>
            <p:nvPr/>
          </p:nvSpPr>
          <p:spPr>
            <a:xfrm>
              <a:off x="2464307" y="3798263"/>
              <a:ext cx="194767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30" b="1" dirty="0" err="1">
                  <a:solidFill>
                    <a:srgbClr val="17202A"/>
                  </a:solidFill>
                </a:rPr>
                <a:t>applylogdb</a:t>
              </a:r>
              <a:endParaRPr lang="en-US" sz="1030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B0D9344-957B-6B1F-B262-1BD8E1082939}"/>
                </a:ext>
              </a:extLst>
            </p:cNvPr>
            <p:cNvGrpSpPr/>
            <p:nvPr/>
          </p:nvGrpSpPr>
          <p:grpSpPr>
            <a:xfrm>
              <a:off x="2578607" y="4203276"/>
              <a:ext cx="1719072" cy="1408176"/>
              <a:chOff x="3761232" y="4480559"/>
              <a:chExt cx="1719072" cy="1408176"/>
            </a:xfrm>
          </p:grpSpPr>
          <p:sp>
            <p:nvSpPr>
              <p:cNvPr id="43" name="Shape 33">
                <a:extLst>
                  <a:ext uri="{FF2B5EF4-FFF2-40B4-BE49-F238E27FC236}">
                    <a16:creationId xmlns:a16="http://schemas.microsoft.com/office/drawing/2014/main" id="{95C18024-C225-1A6A-D7BC-20559423D557}"/>
                  </a:ext>
                </a:extLst>
              </p:cNvPr>
              <p:cNvSpPr/>
              <p:nvPr/>
            </p:nvSpPr>
            <p:spPr>
              <a:xfrm>
                <a:off x="3761232" y="4480559"/>
                <a:ext cx="1719072" cy="237744"/>
              </a:xfrm>
              <a:prstGeom prst="roundRect">
                <a:avLst>
                  <a:gd name="adj" fmla="val 19231"/>
                </a:avLst>
              </a:prstGeom>
              <a:solidFill>
                <a:srgbClr val="F7FAFC"/>
              </a:solidFill>
              <a:ln w="12700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 34">
                <a:extLst>
                  <a:ext uri="{FF2B5EF4-FFF2-40B4-BE49-F238E27FC236}">
                    <a16:creationId xmlns:a16="http://schemas.microsoft.com/office/drawing/2014/main" id="{47CC6C2B-887C-ADAC-B5FA-FED661179A44}"/>
                  </a:ext>
                </a:extLst>
              </p:cNvPr>
              <p:cNvSpPr/>
              <p:nvPr/>
            </p:nvSpPr>
            <p:spPr>
              <a:xfrm>
                <a:off x="3861816" y="4553711"/>
                <a:ext cx="1517904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760" dirty="0">
                    <a:solidFill>
                      <a:srgbClr val="17202A"/>
                    </a:solidFill>
                  </a:rPr>
                  <a:t>read active/archive log</a:t>
                </a:r>
                <a:endParaRPr lang="en-US" sz="760" dirty="0"/>
              </a:p>
            </p:txBody>
          </p:sp>
          <p:sp>
            <p:nvSpPr>
              <p:cNvPr id="45" name="Shape 35">
                <a:extLst>
                  <a:ext uri="{FF2B5EF4-FFF2-40B4-BE49-F238E27FC236}">
                    <a16:creationId xmlns:a16="http://schemas.microsoft.com/office/drawing/2014/main" id="{174C202C-18C6-B331-F496-9913EEC268D0}"/>
                  </a:ext>
                </a:extLst>
              </p:cNvPr>
              <p:cNvSpPr/>
              <p:nvPr/>
            </p:nvSpPr>
            <p:spPr>
              <a:xfrm>
                <a:off x="3761232" y="4773167"/>
                <a:ext cx="1719072" cy="237744"/>
              </a:xfrm>
              <a:prstGeom prst="roundRect">
                <a:avLst>
                  <a:gd name="adj" fmla="val 19231"/>
                </a:avLst>
              </a:prstGeom>
              <a:solidFill>
                <a:srgbClr val="F7FAFC"/>
              </a:solidFill>
              <a:ln w="12700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 36">
                <a:extLst>
                  <a:ext uri="{FF2B5EF4-FFF2-40B4-BE49-F238E27FC236}">
                    <a16:creationId xmlns:a16="http://schemas.microsoft.com/office/drawing/2014/main" id="{20BC6A76-067F-E157-06E5-56118297D420}"/>
                  </a:ext>
                </a:extLst>
              </p:cNvPr>
              <p:cNvSpPr/>
              <p:nvPr/>
            </p:nvSpPr>
            <p:spPr>
              <a:xfrm>
                <a:off x="3861816" y="4846319"/>
                <a:ext cx="1517904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760" dirty="0">
                    <a:solidFill>
                      <a:srgbClr val="17202A"/>
                    </a:solidFill>
                  </a:rPr>
                  <a:t>decode → LA_ITEM / LA_APPLY</a:t>
                </a:r>
                <a:endParaRPr lang="en-US" sz="760" dirty="0"/>
              </a:p>
            </p:txBody>
          </p:sp>
          <p:sp>
            <p:nvSpPr>
              <p:cNvPr id="47" name="Shape 37">
                <a:extLst>
                  <a:ext uri="{FF2B5EF4-FFF2-40B4-BE49-F238E27FC236}">
                    <a16:creationId xmlns:a16="http://schemas.microsoft.com/office/drawing/2014/main" id="{37A0409C-3C5E-3E41-A551-51E8325EC428}"/>
                  </a:ext>
                </a:extLst>
              </p:cNvPr>
              <p:cNvSpPr/>
              <p:nvPr/>
            </p:nvSpPr>
            <p:spPr>
              <a:xfrm>
                <a:off x="3761232" y="5065775"/>
                <a:ext cx="1719072" cy="237744"/>
              </a:xfrm>
              <a:prstGeom prst="roundRect">
                <a:avLst>
                  <a:gd name="adj" fmla="val 19231"/>
                </a:avLst>
              </a:prstGeom>
              <a:solidFill>
                <a:srgbClr val="F7FAFC"/>
              </a:solidFill>
              <a:ln w="12700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 38">
                <a:extLst>
                  <a:ext uri="{FF2B5EF4-FFF2-40B4-BE49-F238E27FC236}">
                    <a16:creationId xmlns:a16="http://schemas.microsoft.com/office/drawing/2014/main" id="{167F7310-6969-6DB4-81CF-FD570A8DA9BB}"/>
                  </a:ext>
                </a:extLst>
              </p:cNvPr>
              <p:cNvSpPr/>
              <p:nvPr/>
            </p:nvSpPr>
            <p:spPr>
              <a:xfrm>
                <a:off x="3861816" y="5138927"/>
                <a:ext cx="1517904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720" dirty="0">
                    <a:solidFill>
                      <a:srgbClr val="17202A"/>
                    </a:solidFill>
                  </a:rPr>
                  <a:t>la_apply_insert/update/delete</a:t>
                </a:r>
                <a:endParaRPr lang="en-US" sz="720" dirty="0"/>
              </a:p>
            </p:txBody>
          </p:sp>
          <p:sp>
            <p:nvSpPr>
              <p:cNvPr id="49" name="Shape 39">
                <a:extLst>
                  <a:ext uri="{FF2B5EF4-FFF2-40B4-BE49-F238E27FC236}">
                    <a16:creationId xmlns:a16="http://schemas.microsoft.com/office/drawing/2014/main" id="{F95CC377-0724-1CB1-6047-2F3F18CF5F37}"/>
                  </a:ext>
                </a:extLst>
              </p:cNvPr>
              <p:cNvSpPr/>
              <p:nvPr/>
            </p:nvSpPr>
            <p:spPr>
              <a:xfrm>
                <a:off x="3761232" y="5358383"/>
                <a:ext cx="1719072" cy="237744"/>
              </a:xfrm>
              <a:prstGeom prst="roundRect">
                <a:avLst>
                  <a:gd name="adj" fmla="val 19231"/>
                </a:avLst>
              </a:prstGeom>
              <a:solidFill>
                <a:srgbClr val="F7FAFC"/>
              </a:solidFill>
              <a:ln w="12700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 40">
                <a:extLst>
                  <a:ext uri="{FF2B5EF4-FFF2-40B4-BE49-F238E27FC236}">
                    <a16:creationId xmlns:a16="http://schemas.microsoft.com/office/drawing/2014/main" id="{F24EB19F-7829-7172-ABA0-E9497725FC83}"/>
                  </a:ext>
                </a:extLst>
              </p:cNvPr>
              <p:cNvSpPr/>
              <p:nvPr/>
            </p:nvSpPr>
            <p:spPr>
              <a:xfrm>
                <a:off x="3861816" y="5431535"/>
                <a:ext cx="1517904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740" dirty="0">
                    <a:solidFill>
                      <a:srgbClr val="17202A"/>
                    </a:solidFill>
                  </a:rPr>
                  <a:t>locator_repl_flush_all</a:t>
                </a:r>
                <a:endParaRPr lang="en-US" sz="740" dirty="0"/>
              </a:p>
            </p:txBody>
          </p:sp>
          <p:sp>
            <p:nvSpPr>
              <p:cNvPr id="51" name="Shape 41">
                <a:extLst>
                  <a:ext uri="{FF2B5EF4-FFF2-40B4-BE49-F238E27FC236}">
                    <a16:creationId xmlns:a16="http://schemas.microsoft.com/office/drawing/2014/main" id="{9EC05E33-A900-508A-2DF5-CED3B822D043}"/>
                  </a:ext>
                </a:extLst>
              </p:cNvPr>
              <p:cNvSpPr/>
              <p:nvPr/>
            </p:nvSpPr>
            <p:spPr>
              <a:xfrm>
                <a:off x="3761232" y="5650991"/>
                <a:ext cx="1719072" cy="237744"/>
              </a:xfrm>
              <a:prstGeom prst="roundRect">
                <a:avLst>
                  <a:gd name="adj" fmla="val 19231"/>
                </a:avLst>
              </a:prstGeom>
              <a:solidFill>
                <a:srgbClr val="F7FAFC"/>
              </a:solidFill>
              <a:ln w="12700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 42">
                <a:extLst>
                  <a:ext uri="{FF2B5EF4-FFF2-40B4-BE49-F238E27FC236}">
                    <a16:creationId xmlns:a16="http://schemas.microsoft.com/office/drawing/2014/main" id="{BC384CD2-0655-E972-9C13-78FC41ADCB5E}"/>
                  </a:ext>
                </a:extLst>
              </p:cNvPr>
              <p:cNvSpPr/>
              <p:nvPr/>
            </p:nvSpPr>
            <p:spPr>
              <a:xfrm>
                <a:off x="3861816" y="5724143"/>
                <a:ext cx="1517904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740" dirty="0">
                    <a:solidFill>
                      <a:srgbClr val="17202A"/>
                    </a:solidFill>
                  </a:rPr>
                  <a:t>commit + update apply_info</a:t>
                </a:r>
                <a:endParaRPr lang="en-US" sz="740" dirty="0"/>
              </a:p>
            </p:txBody>
          </p:sp>
        </p:grpSp>
      </p:grpSp>
      <p:sp>
        <p:nvSpPr>
          <p:cNvPr id="53" name="Shape 43">
            <a:extLst>
              <a:ext uri="{FF2B5EF4-FFF2-40B4-BE49-F238E27FC236}">
                <a16:creationId xmlns:a16="http://schemas.microsoft.com/office/drawing/2014/main" id="{82DC9A56-BDEE-04E7-E607-3DE46A7393D6}"/>
              </a:ext>
            </a:extLst>
          </p:cNvPr>
          <p:cNvSpPr/>
          <p:nvPr/>
        </p:nvSpPr>
        <p:spPr>
          <a:xfrm flipH="1">
            <a:off x="4382469" y="4937760"/>
            <a:ext cx="228033" cy="2054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4002E678-03D6-DDEC-0007-4F0684C11FCC}"/>
              </a:ext>
            </a:extLst>
          </p:cNvPr>
          <p:cNvSpPr/>
          <p:nvPr/>
        </p:nvSpPr>
        <p:spPr>
          <a:xfrm>
            <a:off x="4447991" y="520499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logical re-apply</a:t>
            </a:r>
            <a:endParaRPr lang="en-US" sz="75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7481D5A-7ED8-C2A6-5869-B621702E5E58}"/>
              </a:ext>
            </a:extLst>
          </p:cNvPr>
          <p:cNvGrpSpPr/>
          <p:nvPr/>
        </p:nvGrpSpPr>
        <p:grpSpPr>
          <a:xfrm>
            <a:off x="644791" y="3755871"/>
            <a:ext cx="1234440" cy="566928"/>
            <a:chOff x="652272" y="4608575"/>
            <a:chExt cx="1874519" cy="566928"/>
          </a:xfrm>
        </p:grpSpPr>
        <p:sp>
          <p:nvSpPr>
            <p:cNvPr id="55" name="Shape 45">
              <a:extLst>
                <a:ext uri="{FF2B5EF4-FFF2-40B4-BE49-F238E27FC236}">
                  <a16:creationId xmlns:a16="http://schemas.microsoft.com/office/drawing/2014/main" id="{EAB9684B-47D7-7475-7EC6-6962C8836159}"/>
                </a:ext>
              </a:extLst>
            </p:cNvPr>
            <p:cNvSpPr/>
            <p:nvPr/>
          </p:nvSpPr>
          <p:spPr>
            <a:xfrm>
              <a:off x="652272" y="4608575"/>
              <a:ext cx="1874519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5F8FC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46">
              <a:extLst>
                <a:ext uri="{FF2B5EF4-FFF2-40B4-BE49-F238E27FC236}">
                  <a16:creationId xmlns:a16="http://schemas.microsoft.com/office/drawing/2014/main" id="{8ADDD00A-AC50-1BCC-06E4-34D925EC0B04}"/>
                </a:ext>
              </a:extLst>
            </p:cNvPr>
            <p:cNvSpPr/>
            <p:nvPr/>
          </p:nvSpPr>
          <p:spPr>
            <a:xfrm>
              <a:off x="752856" y="4681727"/>
              <a:ext cx="167335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17202A"/>
                  </a:solidFill>
                </a:rPr>
                <a:t>Slave DB</a:t>
              </a:r>
              <a:endParaRPr lang="en-US" sz="1020" dirty="0"/>
            </a:p>
            <a:p>
              <a:pPr marL="0" indent="0" algn="ctr">
                <a:buNone/>
              </a:pPr>
              <a:r>
                <a:rPr lang="en-US" sz="1020" dirty="0">
                  <a:solidFill>
                    <a:srgbClr val="17202A"/>
                  </a:solidFill>
                </a:rPr>
                <a:t>cub_server</a:t>
              </a:r>
              <a:endParaRPr lang="en-US" sz="102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96BB391-2DEA-734A-9534-E738472D0587}"/>
              </a:ext>
            </a:extLst>
          </p:cNvPr>
          <p:cNvGrpSpPr/>
          <p:nvPr/>
        </p:nvGrpSpPr>
        <p:grpSpPr>
          <a:xfrm>
            <a:off x="644791" y="4629756"/>
            <a:ext cx="1220923" cy="825485"/>
            <a:chOff x="592245" y="5137238"/>
            <a:chExt cx="1737360" cy="438912"/>
          </a:xfrm>
        </p:grpSpPr>
        <p:sp>
          <p:nvSpPr>
            <p:cNvPr id="57" name="Shape 47">
              <a:extLst>
                <a:ext uri="{FF2B5EF4-FFF2-40B4-BE49-F238E27FC236}">
                  <a16:creationId xmlns:a16="http://schemas.microsoft.com/office/drawing/2014/main" id="{775247FC-696B-938E-F560-686CCE66147F}"/>
                </a:ext>
              </a:extLst>
            </p:cNvPr>
            <p:cNvSpPr/>
            <p:nvPr/>
          </p:nvSpPr>
          <p:spPr>
            <a:xfrm>
              <a:off x="592245" y="5137238"/>
              <a:ext cx="1737360" cy="438912"/>
            </a:xfrm>
            <a:prstGeom prst="roundRect">
              <a:avLst>
                <a:gd name="adj" fmla="val 10417"/>
              </a:avLst>
            </a:prstGeom>
            <a:solidFill>
              <a:srgbClr val="FFF7E8"/>
            </a:solidFill>
            <a:ln w="12700">
              <a:solidFill>
                <a:srgbClr val="E7A94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48">
              <a:extLst>
                <a:ext uri="{FF2B5EF4-FFF2-40B4-BE49-F238E27FC236}">
                  <a16:creationId xmlns:a16="http://schemas.microsoft.com/office/drawing/2014/main" id="{AF2CEC2A-6A25-3857-9317-8C45E33FA1FC}"/>
                </a:ext>
              </a:extLst>
            </p:cNvPr>
            <p:cNvSpPr/>
            <p:nvPr/>
          </p:nvSpPr>
          <p:spPr>
            <a:xfrm>
              <a:off x="692829" y="5210390"/>
              <a:ext cx="1536192" cy="326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dirty="0">
                  <a:solidFill>
                    <a:srgbClr val="17202A"/>
                  </a:solidFill>
                </a:rPr>
                <a:t>db_ha_apply_info</a:t>
              </a:r>
              <a:endParaRPr lang="en-US" sz="760" dirty="0"/>
            </a:p>
            <a:p>
              <a:pPr marL="171450" indent="-171450" algn="ctr">
                <a:buFontTx/>
                <a:buChar char="-"/>
              </a:pPr>
              <a:r>
                <a:rPr lang="en-US" sz="760" dirty="0">
                  <a:solidFill>
                    <a:srgbClr val="17202A"/>
                  </a:solidFill>
                </a:rPr>
                <a:t>final_</a:t>
              </a:r>
            </a:p>
            <a:p>
              <a:pPr marL="171450" indent="-171450" algn="ctr">
                <a:buFontTx/>
                <a:buChar char="-"/>
              </a:pPr>
              <a:r>
                <a:rPr lang="en-US" sz="760" dirty="0" err="1">
                  <a:solidFill>
                    <a:srgbClr val="17202A"/>
                  </a:solidFill>
                </a:rPr>
                <a:t>lsa</a:t>
              </a:r>
              <a:r>
                <a:rPr lang="en-US" sz="760" dirty="0">
                  <a:solidFill>
                    <a:srgbClr val="17202A"/>
                  </a:solidFill>
                </a:rPr>
                <a:t> </a:t>
              </a:r>
              <a:r>
                <a:rPr lang="en-US" sz="760" dirty="0" err="1">
                  <a:solidFill>
                    <a:srgbClr val="17202A"/>
                  </a:solidFill>
                </a:rPr>
                <a:t>required_lsa</a:t>
              </a:r>
              <a:r>
                <a:rPr lang="en-US" sz="760" dirty="0">
                  <a:solidFill>
                    <a:srgbClr val="17202A"/>
                  </a:solidFill>
                </a:rPr>
                <a:t> </a:t>
              </a:r>
            </a:p>
            <a:p>
              <a:pPr marL="171450" indent="-171450" algn="ctr">
                <a:buFontTx/>
                <a:buChar char="-"/>
              </a:pPr>
              <a:r>
                <a:rPr lang="en-US" sz="760" dirty="0">
                  <a:solidFill>
                    <a:srgbClr val="17202A"/>
                  </a:solidFill>
                </a:rPr>
                <a:t>- committed_lsa</a:t>
              </a:r>
              <a:endParaRPr lang="en-US" sz="760" dirty="0"/>
            </a:p>
          </p:txBody>
        </p:sp>
      </p:grpSp>
      <p:sp>
        <p:nvSpPr>
          <p:cNvPr id="59" name="Shape 49">
            <a:extLst>
              <a:ext uri="{FF2B5EF4-FFF2-40B4-BE49-F238E27FC236}">
                <a16:creationId xmlns:a16="http://schemas.microsoft.com/office/drawing/2014/main" id="{D35DDF09-BB68-24CD-F43B-D965685FF8B0}"/>
              </a:ext>
            </a:extLst>
          </p:cNvPr>
          <p:cNvSpPr/>
          <p:nvPr/>
        </p:nvSpPr>
        <p:spPr>
          <a:xfrm flipH="1">
            <a:off x="1879229" y="4047647"/>
            <a:ext cx="585078" cy="685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F767BCBD-B4A8-21F2-79C4-3886EEE998EF}"/>
              </a:ext>
            </a:extLst>
          </p:cNvPr>
          <p:cNvSpPr/>
          <p:nvPr/>
        </p:nvSpPr>
        <p:spPr>
          <a:xfrm>
            <a:off x="1991729" y="387019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apply</a:t>
            </a:r>
            <a:endParaRPr lang="en-US" sz="750" dirty="0"/>
          </a:p>
        </p:txBody>
      </p:sp>
      <p:sp>
        <p:nvSpPr>
          <p:cNvPr id="61" name="Shape 51">
            <a:extLst>
              <a:ext uri="{FF2B5EF4-FFF2-40B4-BE49-F238E27FC236}">
                <a16:creationId xmlns:a16="http://schemas.microsoft.com/office/drawing/2014/main" id="{127665E4-8E9A-2A30-FFF2-380E073F55B6}"/>
              </a:ext>
            </a:extLst>
          </p:cNvPr>
          <p:cNvSpPr/>
          <p:nvPr/>
        </p:nvSpPr>
        <p:spPr>
          <a:xfrm flipH="1" flipV="1">
            <a:off x="1896191" y="5007947"/>
            <a:ext cx="589370" cy="12105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2">
            <a:extLst>
              <a:ext uri="{FF2B5EF4-FFF2-40B4-BE49-F238E27FC236}">
                <a16:creationId xmlns:a16="http://schemas.microsoft.com/office/drawing/2014/main" id="{2CC600FB-0CED-7B31-7A1E-B58B5792D128}"/>
              </a:ext>
            </a:extLst>
          </p:cNvPr>
          <p:cNvSpPr/>
          <p:nvPr/>
        </p:nvSpPr>
        <p:spPr>
          <a:xfrm>
            <a:off x="1845564" y="48525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save progress</a:t>
            </a:r>
            <a:endParaRPr lang="en-US" sz="750" dirty="0"/>
          </a:p>
        </p:txBody>
      </p:sp>
      <p:sp>
        <p:nvSpPr>
          <p:cNvPr id="63" name="Text 53">
            <a:extLst>
              <a:ext uri="{FF2B5EF4-FFF2-40B4-BE49-F238E27FC236}">
                <a16:creationId xmlns:a16="http://schemas.microsoft.com/office/drawing/2014/main" id="{B2C13F32-7B16-5237-13E2-A1C67B18BA28}"/>
              </a:ext>
            </a:extLst>
          </p:cNvPr>
          <p:cNvSpPr/>
          <p:nvPr/>
        </p:nvSpPr>
        <p:spPr>
          <a:xfrm>
            <a:off x="503392" y="3608735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96C2C"/>
                </a:solidFill>
              </a:rPr>
              <a:t>re-execution → slave's own log (LSA ≠ master)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1-2. applylogdb의 복제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LSA 아이템 → 링크드 리스트 → commit 시 서버 반영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pic>
        <p:nvPicPr>
          <p:cNvPr id="10" name="Picture 9" descr="lsa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39" y="1463040"/>
            <a:ext cx="5740841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383280"/>
            <a:ext cx="54864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22A42"/>
                </a:solidFill>
                <a:latin typeface="맑은 고딕"/>
              </a:rPr>
              <a:t>● 복제 로그를 LSA 순서로 읽는다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LSA = 로그 페이지 id(pageid) + 페이지 내 offset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왼쪽=과거 → 오른쪽=최신 으로 늘어선 변경 기록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6F8B"/>
                </a:solidFill>
                <a:latin typeface="맑은 고딕"/>
              </a:rPr>
              <a:t>● 트랜잭션 단위로 아이템을 모은다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읽은 LA_ITEM 들을 트랜잭션별 링크드 리스트로 구성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commit 아이템을 만나면 그 트랜잭션을 확정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3035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</a:rPr>
              <a:t>● commit 시 서버에 일괄 반영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모아 둔 변경을 슬레이브 서버로 flush·commit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반영 완료 후 committed_lsa 를 그 위치로 전진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6F8B"/>
                </a:solidFill>
                <a:latin typeface="맑은 고딕"/>
              </a:rPr>
              <a:t>● 핵심 진도값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final_lsa : reader 가 읽은 위치 (읽기 커서)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committed_lsa : 순서대로 반영을 끝낸 지점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append_lsa − committed_lsa ≈ 복제 지연(lag)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1-3. 물리 복제 vs 로지컬 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왜 논리복제만 병렬 적용을 지원하는가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60934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물리 복제 (Physical)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21408"/>
            <a:ext cx="5065776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로그(WAL·페이지 변경)를 그대로 복사·재생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레코드당 비용은 싸지만 보통 단일 스레드 재생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멀티코어 마스터를 못 따라가 지연 누적 가능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클러스터 통째·동일 버전·읽기 전용으로 경직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394960" cy="210312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9496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60934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로지컬 복제 (Logical)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21408"/>
            <a:ext cx="5065776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변경을 행/문장 단위로 다시 실행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레코드당 비용(파싱·인덱스·제약)은 더 들지만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일부 테이블 선택·이기종·복제본 쓰기 등 유연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CUBRID applylogdb 가 바로 이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1612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E87A2B"/>
                </a:solidFill>
                <a:latin typeface="맑은 고딕"/>
              </a:rPr>
              <a:t>● </a:t>
            </a:r>
            <a:r>
              <a:rPr lang="en-US" sz="1500" b="1" dirty="0">
                <a:solidFill>
                  <a:srgbClr val="E87A2B"/>
                </a:solidFill>
                <a:latin typeface="맑은 고딕"/>
              </a:rPr>
              <a:t>(</a:t>
            </a:r>
            <a:r>
              <a:rPr lang="ko-KR" altLang="en-US" sz="1500" b="1" dirty="0">
                <a:solidFill>
                  <a:srgbClr val="E87A2B"/>
                </a:solidFill>
                <a:latin typeface="맑은 고딕"/>
              </a:rPr>
              <a:t>타 </a:t>
            </a:r>
            <a:r>
              <a:rPr lang="en-US" altLang="ko-KR" sz="1500" b="1" dirty="0">
                <a:solidFill>
                  <a:srgbClr val="E87A2B"/>
                </a:solidFill>
                <a:latin typeface="맑은 고딕"/>
              </a:rPr>
              <a:t>DB </a:t>
            </a:r>
            <a:r>
              <a:rPr lang="ko-KR" altLang="en-US" sz="1500" b="1" dirty="0">
                <a:solidFill>
                  <a:srgbClr val="E87A2B"/>
                </a:solidFill>
                <a:latin typeface="맑은 고딕"/>
              </a:rPr>
              <a:t>포함</a:t>
            </a:r>
            <a:r>
              <a:rPr lang="en-US" altLang="ko-KR" sz="1500" b="1" dirty="0">
                <a:solidFill>
                  <a:srgbClr val="E87A2B"/>
                </a:solidFill>
                <a:latin typeface="맑은 고딕"/>
              </a:rPr>
              <a:t>)</a:t>
            </a:r>
            <a:r>
              <a:rPr lang="ko-KR" altLang="en-US"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왜</a:t>
            </a:r>
            <a:r>
              <a:rPr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논리복제만</a:t>
            </a:r>
            <a:r>
              <a:rPr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병렬화를</a:t>
            </a:r>
            <a:r>
              <a:rPr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지원하는가</a:t>
            </a:r>
            <a:endParaRPr sz="150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물리복제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: LSN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순서의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페이지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변경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재생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—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적용자가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트랜잭션을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임의로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떼어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분산하기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어려움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논리복제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: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적용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단위가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트랜잭션·행·문장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= DB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의미를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가진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단위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· "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같은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행을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건드리나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", "commit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순서를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어디까지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보존하나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"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같은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의존성을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메타데이터로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표현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가능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결론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: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논리복제는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병렬화에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필요한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독립성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판단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단위를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노출한다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이것이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이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프로젝트의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출발점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 dirty="0">
                <a:solidFill>
                  <a:srgbClr val="E87A2B"/>
                </a:solidFill>
                <a:latin typeface="맑은 고딕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526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dirty="0" err="1">
                <a:solidFill>
                  <a:srgbClr val="FFFFFF"/>
                </a:solidFill>
                <a:latin typeface="맑은 고딕"/>
              </a:rPr>
              <a:t>applylogdb의</a:t>
            </a:r>
            <a:r>
              <a:rPr sz="34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3400" b="1" dirty="0">
                <a:solidFill>
                  <a:srgbClr val="FFFFFF"/>
                </a:solidFill>
                <a:latin typeface="맑은 고딕"/>
              </a:rPr>
              <a:t>동작</a:t>
            </a:r>
            <a:endParaRPr sz="3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로지컬(행 재실행) 복제가 가진 세 가지 설계 좌우 성질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BD07-A0AA-21BC-3866-36A46984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57834862-41C8-AB6C-911C-B151B72FD005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4FCBBE3-607F-2985-8EDF-1E2C12082C9D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C937A6F5-33F1-B90A-822E-214BBB0850E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926A92CC-1CE5-FEB6-9F3B-42CAACBFC6D4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E98BB95C-BAA9-C93D-60C8-71424A4B2DB5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1BB776DD-3066-9F51-5915-526848B9A5B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4904EE92-E2DF-977F-8F83-0C216058820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6A0BA7E6-F606-A137-5A50-4119DF2F517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FCC29BEF-6892-234D-5085-6D1DB18508C2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DDDD1B66-3273-4A24-EA54-006EDC5E7029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81A1A6C-A27F-2E70-4494-39BA7301CCA7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BCB28A00-E1F5-8D2D-4E16-BC7D42095BC0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90A0B1AA-A493-8E88-2624-45644ED95A40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1EE6D6C-91E7-39B1-56DA-8F3AF798327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36757A-1099-1690-8626-6CA803137537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85CE2AE9-60A5-E931-0AB5-363CC3701CA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805119E6-A36B-52CA-EE15-31F8D6FA16F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724D1C58-E0E9-308C-D5CA-F42139A944C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6022DDA-A286-3B7F-3AD9-FC5E6A0CC926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9908B044-FFC0-661B-78C7-4477F447ADC2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5443765B-5983-00AE-453C-7663409DB1A3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BC021024-2B75-3C91-229F-3C1F1E9ED86E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E6B9DFF1-5805-7F59-D7CB-36CDFAC2755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064D1D73-795E-6341-A339-9A0BC2BF79E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7EF9B525-83F5-3EEE-2D29-BDB7A39A7836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FD634975-C718-4EAD-3F91-F18A986FC24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D3858D29-CC6F-C1CB-B013-759CF13260D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9038BD15-0C81-69AF-D605-1B5AB7733E1B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7B959D10-8DA8-4D18-88E4-CDC1A2CD7FE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91CB868-9EF0-559C-31E7-9E38D0D2E6C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9AB232C9-CF22-0893-4E87-1C79B3CBCF9B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32EC8A10-7AEE-F724-A8EC-76FCA016EC57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FFCB3C6C-4A57-3FCA-5973-BA95F6D91E5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979B2D7F-7376-23FE-45B6-55CFE4DE940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7D654501-407A-B39F-E4A1-D254A4E08B9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AFA2764-D9FA-224C-929B-12928BBBC5D0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390869A9-D6A1-1D81-5891-FC7C7842381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3F2D285A-7D62-5CDA-9085-1AAEA74BDCA8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90F75F6E-CE27-5296-F9F2-47A26F528439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8574681D-52D6-05B5-5E60-C63FAAE37EC9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66E609EA-DE8E-F860-9F44-ED396DC72F5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700EDC4F-4393-2088-94A6-B9B97E2EBF7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DE0F38A3-64D4-A833-3202-4F397424244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4FA068D5-5EC3-3CF7-4CB1-8125244FAE28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6F6EC664-25CA-C01B-C424-FFF91DC76A27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CCC5CD5E-5E2C-212E-B3E1-39069FBFB50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4E885B1E-D11E-F42A-FBBA-170DB3206D9A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58A74EFA-6E70-8DA9-3289-EB1C626434BD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06F297B6-D944-C9A7-7DC1-CD8287941756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2B17AEE7-17A8-39E3-574B-651DCDA7D79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FD8B2E61-66B7-3EFF-7BD1-5838B448C589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8F48AB54-21F2-BE61-9FEB-F57E41830157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0A6B56D-28FD-6251-98B5-0789C044BF64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DB0A88C8-AA5A-D062-43C0-2B829B231C8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9885B8CA-8A9C-CBBE-7924-BC0EF09F32E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88701EA3-9EF7-9FC7-42EA-FCD620930B3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E3F5469D-DE1B-66F4-531F-6E5298284E0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4BBD3CC2-78FF-8224-6065-068940795522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F8DAC654-9FF4-8CC8-886C-026667FF4C0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52046946-5C52-4B14-4E2E-BF31F237C81D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68FE4134-D1B6-9372-27BD-5A50EA138D7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049E5BF2-D04F-C0A8-CC4C-BC5884B0990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5EA3DC43-A70B-B8B6-7A9F-09EED8E16576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E0CE6869-8095-84CC-FCAA-F8A79F1569C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A4802281-E377-7010-5CBD-7365BC7CAE1D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65EC89CA-B2D5-72BC-5240-58E3DEB4A90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895261EE-EAD1-2A33-114B-B682B6936595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2A39AEC8-A4C4-7B62-AB7A-F360DDA00FE8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F7EE9179-84CF-39CC-1AA6-836BFBA2A6A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1520F9E0-522E-F421-1865-37AC3F14851D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365B1807-ADA7-1EFC-258B-8091046D7915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A88CA9-D635-6D3F-FE93-4AECBFA0AC7D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E52EF5-077B-B521-AB09-C263B1A567D0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6" name="Rectangle 6">
            <a:extLst>
              <a:ext uri="{FF2B5EF4-FFF2-40B4-BE49-F238E27FC236}">
                <a16:creationId xmlns:a16="http://schemas.microsoft.com/office/drawing/2014/main" id="{DC66E953-24D0-FBDE-38AE-8E2F7B735D74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6BBB3AB-847D-78F8-648E-1DC7C207A653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815B00-F259-C5F7-E00F-CEEE5E6BBFE8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0FCEB13-4CBC-2408-DC1C-E031E9E65718}"/>
              </a:ext>
            </a:extLst>
          </p:cNvPr>
          <p:cNvSpPr txBox="1"/>
          <p:nvPr/>
        </p:nvSpPr>
        <p:spPr>
          <a:xfrm>
            <a:off x="375759" y="2058934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6D3CE6A-7D64-3497-9796-84827522BB14}"/>
              </a:ext>
            </a:extLst>
          </p:cNvPr>
          <p:cNvCxnSpPr>
            <a:cxnSpLocks/>
          </p:cNvCxnSpPr>
          <p:nvPr/>
        </p:nvCxnSpPr>
        <p:spPr>
          <a:xfrm>
            <a:off x="731520" y="2314098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D3D87266-4206-6356-A055-31719C51AB33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37BC7AA5-78AA-D952-2977-C80754AE9B53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0AA785-8FCC-DB1E-BB83-BAAAB72993EA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BC8BC5-06D5-FD58-8E11-C7B192630E3B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DAF75553-8B4E-A023-D350-5878FE1029A9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9A9DF17-9676-D7C2-2B61-00E7026F5B5A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5963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6ECE-EA6A-ADDB-5373-C0075A46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843CFC77-3196-5668-1BA6-39AC5FDFB9B8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9B60B0-151B-8384-0560-83833E50F12A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04607762-C636-EA4F-885E-A7BA8FB94A2E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89071B08-93D3-E9D1-1233-F4B1EC4ECF2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A7E527B7-CB5F-4B08-A64A-D3472355F98D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96F657B8-CE9C-30C7-C50E-A44845C27F6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5E16E6BE-98A8-B82D-4A83-BA0BDC3CFE4D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998F4ECC-0400-E731-39BA-B8BD57DE5E55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CDEE408A-235E-502B-5365-083C1E72D848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944B66BD-6DDE-EA6E-F3C6-DB8CE4959887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AFA0E255-888E-AC43-9E92-168652200415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9F17E137-A047-2F2D-898B-0C45D833A50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69CB89E7-07CC-AA85-F786-73D3E559AC54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D31EED48-7C22-BA0C-06E9-357246A6134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3C692F-06BE-389A-C2DB-BD479AC29605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B4EB2AAC-070C-3FC6-6D13-043F1740DEF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FA82A574-1C2D-ED9D-424E-9D8F7725A97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5FDA3F77-2EB7-7491-6729-94974609AEF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7D6A29F-709A-C495-4698-841F75005F0A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CBF11800-313F-DE45-516C-949AB535070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5CD2470F-E780-194C-CD35-E38D8E2B6B0D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D77847C9-E44D-BE73-B840-243E96D01391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166E1BD8-80AD-3F59-92B2-56CEE3E5820A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99832D32-6859-3DE0-286F-C2290427042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51C48EC0-24FA-4F56-5621-0B6626D1F5A0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193A5AB9-E93F-7100-3D6A-D061D1CCFC8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549E58DE-026E-2512-AEA6-95520E58D6D9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E260F9BB-D93F-1561-83D2-B8CCB2D616B2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92DA9642-0F9F-68BE-FA85-F80BB57C7524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B42E3F96-203B-D5A9-A55D-4CBE77A9567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FE856DC8-8A37-CE22-CB9C-0A2D8332E81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09EA679A-0A8C-C763-20E7-546DC46D24B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4BEC71AC-262E-C467-FB08-DF62DEBE705F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CF14059D-334B-B4A3-317D-C8F7A76D182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C1AF96E1-21E3-DE83-932C-BF5B2566D27D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5120714-3281-7E69-17B5-9D6D0F9E6888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0E1D988E-09FF-F2F9-39A4-32DDF269FD4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AECCAC0A-DB7E-E423-46F1-B818280C0702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DC876DDE-B070-D8D5-0CF8-D7EBD89617AE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0E87BF9B-A0FD-105B-8A9D-370BCD7D0DA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06BFC4CE-2D70-2103-4D0E-1B126D8CAEB0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F1E1ED62-CA38-32F8-2B73-6B9C39A0961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590103AD-2228-6889-B58F-01D515D66822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9348EAF0-944A-62CE-FD81-4BFBCBE5455B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5E37D076-D8BF-6FED-D533-D28946801CB9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0D52F5B6-41A3-447B-21D9-8D97C053C962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0297A780-2283-D405-2A43-EF00FFAA758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0246C9BC-44F0-88B2-D1F4-597B98CB3D7F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80727BC3-D2CA-3D6C-A095-AAF5596E703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5ED2CBBE-6EFA-1E8E-5A96-92C90934751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3287E7D4-648A-33CE-65F0-2EEB5BE63A1D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19780B8C-1193-0CAA-3813-72863B4C59E0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DA05F12-BF43-5BA9-15C8-77E410F55EEB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EA146E45-4392-7695-EC8C-D01A1FAABCE4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26A4AEBC-BCE3-D368-6298-76E77AE4E2F1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E1D4E6F0-75D5-6095-1795-8DF29D849AAD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ABDFA26-D354-381B-EE5E-0978860898F7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147F4049-9F74-DA5D-3F78-1EEEF7AFD0A6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D3B45ED5-C885-8D26-0773-53631FEAD8F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17062DCD-9114-4DA2-FEAE-35EFA3F26C6D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D20E4727-F8B2-90FD-E78B-59A4EF56983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991781DF-ABE7-CCED-F8F7-620F45824F17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27C6983F-6C8C-047C-2ACF-58F295991448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36FF6D45-4641-C089-8CC8-93521F305961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80BD2154-4701-8507-699E-95F90B7ECC6E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BF1BB2B3-300D-923E-44C8-872BE9497683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1DB6919E-EC78-427E-EB57-187264DA4C49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8A64055A-1D6C-F791-6E0D-4E8DFCC86EC6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36D60D4C-F910-7820-689F-5CED446DFC62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B188AC15-B5AA-E466-3E17-F7E6DD5C51D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45B79E2-72E0-F2B9-828D-C1B7367E564F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19A3AF-6F97-8B9D-723E-297738B43766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8062AF-9E8F-5848-8153-650983756DC3}"/>
              </a:ext>
            </a:extLst>
          </p:cNvPr>
          <p:cNvSpPr txBox="1"/>
          <p:nvPr/>
        </p:nvSpPr>
        <p:spPr>
          <a:xfrm>
            <a:off x="731520" y="2058934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8C42628-AE5E-7287-0652-54C4C815C4BB}"/>
              </a:ext>
            </a:extLst>
          </p:cNvPr>
          <p:cNvCxnSpPr>
            <a:cxnSpLocks/>
          </p:cNvCxnSpPr>
          <p:nvPr/>
        </p:nvCxnSpPr>
        <p:spPr>
          <a:xfrm>
            <a:off x="1087281" y="2314098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0759A125-E3B8-4215-C1BB-4CE9B872FA2F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5EB75AD9-6804-41A1-B711-D203245B8C47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AC182D0-3012-9C2C-60E0-AEE1086A583E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4EB7B4-4C92-163D-41E0-E9FFD625C4BC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9739D583-0AA1-CDD8-D8CC-EDD476BA2E95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FE083C-32FE-35A5-F66A-F3A2280DB320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246728-6438-C285-5165-55CBE4A0DC2A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59DDEAB0-7B96-7FE0-60B1-2A9854361923}"/>
              </a:ext>
            </a:extLst>
          </p:cNvPr>
          <p:cNvSpPr/>
          <p:nvPr/>
        </p:nvSpPr>
        <p:spPr>
          <a:xfrm>
            <a:off x="5038448" y="2896727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68AFACA2-351D-FDD3-6A59-45DCC8047BE8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AB9638-638D-50A8-66F3-22D6475A4C39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7E070E-E632-DD1D-0F84-EEE29DF59D6F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3" name="Rectangle 6">
            <a:extLst>
              <a:ext uri="{FF2B5EF4-FFF2-40B4-BE49-F238E27FC236}">
                <a16:creationId xmlns:a16="http://schemas.microsoft.com/office/drawing/2014/main" id="{B28AD70C-B237-83A5-4FC6-034ABAF9F84C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6435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5FD3-A722-75B0-D4BE-E54D1D05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B9D1695A-3D32-DE9B-F408-CA5350BE1BFE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C35815-FC43-564F-DB0D-EF9C56C67EFE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23203CB0-61F1-B939-F3E2-26C1C641FAC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33419C02-304B-0DC4-B343-7C7FF6F4A996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9C6A9AF6-7E55-CF84-D7CD-FD572BAB5A0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57B0DFD0-8D33-6D95-4A37-198476616A4E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55B04104-2389-7034-A5CF-B9E61405B5B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58C2FCC3-B063-7C05-25E7-FE46145D03F0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8C3031CC-8241-A2EA-E41F-9A5786A5D66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9D1BE9D1-F7DD-6F5E-60F8-F3FB84EBCFED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1931089F-99AA-C4A5-0A11-151A29EA72F8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C8CBB85C-4EBD-3109-3DCD-9794F205866A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CCA0148A-BFB1-BCFE-CC5A-B13EB6E5384C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209E3A0-2237-E882-B3A6-2B2104439EFF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C4ABEC-8917-AAF2-8549-540DFFC3A162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D28AB043-C32A-0AE5-7ACA-F05F0E57717C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D6EEDBBE-8B4C-8621-CCEF-CBA06A59A34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E7CF0CA1-0A0F-8553-0DCE-BA69720346D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E127D5B-701E-2DD9-3DF3-764061507C92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7F726285-8FF8-3781-2D56-54873990E53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08D85CA0-56AE-B099-5A49-BF2769DD307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97CC4E50-B671-9CC3-5F03-709873C84CF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61CF0359-F037-CBD2-39BA-14C12141DE68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71B136F2-D1D2-9B79-D4F2-738D37B9437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524787DD-18BA-24BD-3A7A-B39790854209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11688EE7-F674-60CE-4425-38FAB56B9A2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1CB8E887-CCA4-D8AD-891E-624C19CC021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2CD60A4-C4B5-3812-DE20-400635C7FA5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809E9E9B-3E4F-EC6B-38E4-FFACECA7E4EF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675FA1E5-E52C-7E77-4BFE-2C362146DA06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0AF168C2-A486-009D-7A7B-CF9D490CC957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34D14D13-3963-AEEA-2F20-158CEC5EBF29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D86751D9-51FA-1714-C483-51A05AD0E2CD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1B09A655-711F-64CD-96B7-B8F73DE65798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32B99B6D-049D-EDCF-C282-B145EC0E83B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AD72446-EA47-91EC-1850-E8A221255F81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0CE21ABE-1CA3-2D06-5DFF-A2B190C1466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FFFAA054-FF60-A4F9-09E1-AD2C583B93D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43AA2881-F214-B1E8-378E-8F1B26981BB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B0CD8E8F-88ED-7EC7-80EA-54FBFA0A36FB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AACB07C2-0686-D39B-947F-0648215AF3D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5509D856-19F9-BFB8-3156-3C311077514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8D8506D4-6586-77CB-AC27-40AC2845916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7B50348C-A86C-2E5E-F300-B262D92C69C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E4FAAB0D-C340-F017-A1E3-C69F96F8ED8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E638FB58-00FE-1DD8-EC08-27FA6C3C6FF9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B255A382-9C6C-DDA7-00B3-375B606ECC4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6ECBFA25-BEAF-60EB-C192-020C45CE9D2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DE73DBDB-A7F8-840A-F48D-B77E91D560B9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9CF07194-D3BA-E529-D98C-3B5EAC4EA96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621C2148-4754-3C10-FB73-317AFA23E949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357DDDEF-7A1C-FB46-42B4-F64A8734878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E244875-DFDD-30DF-FD32-E2289906B5BF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95BCE43A-1B59-0664-9286-61BF5C17C871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BF011C62-9995-8D57-2371-357F2F39B5D4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F3B76589-CA3C-F55C-0089-47D8CED17109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FF2F861C-E26E-7734-17D1-E69B305AFAA1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7476B632-E2C6-7932-7B45-A3637845ACFD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922C7283-7962-2F49-39AE-A667E14D9A16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703DC01E-5F1A-C32C-D1AA-B2748642C917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8E583EA4-7182-3546-E1C8-67D93DEF428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572D2559-6AB7-D47D-DFCA-47C190F4C3C5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70B35972-FA65-A6CE-9874-1DA16AC930A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072954A2-B1D0-0C18-1588-43F968D0B45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F649B41D-B672-978D-98FD-C11F8BB38B8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29F1D227-DADF-5550-53AF-12194E50BB8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354D1B8B-BBA3-5ACD-D679-B00CAA4CEEC5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97F216D5-BB9B-8B74-F24D-C8DD94C2DF5B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95E9EC88-808C-0596-3C49-62197D9712D6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E34717AE-3235-B646-8286-939C8CEA8791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885486E1-276E-937D-10FA-F7C9344CA48A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E91570-2A82-5F1C-3DA4-76E1911663DC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FE798F-2323-D195-283F-0A7D19EAB09B}"/>
              </a:ext>
            </a:extLst>
          </p:cNvPr>
          <p:cNvSpPr txBox="1"/>
          <p:nvPr/>
        </p:nvSpPr>
        <p:spPr>
          <a:xfrm>
            <a:off x="1083213" y="2050142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9036BD1-BC34-79BD-F32F-154360A6D664}"/>
              </a:ext>
            </a:extLst>
          </p:cNvPr>
          <p:cNvCxnSpPr>
            <a:cxnSpLocks/>
          </p:cNvCxnSpPr>
          <p:nvPr/>
        </p:nvCxnSpPr>
        <p:spPr>
          <a:xfrm>
            <a:off x="1438974" y="2305306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5E99100B-C69A-10AA-EDC1-E7D4F1613905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8A4FD622-9A44-2E44-A30B-F82F217C2157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B8F232-9F8A-FC39-3C21-4F1EB8AF84BF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BEC180-9D2E-D810-5BAB-2091045FC143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AE81D107-EEC0-1801-71B7-C2F6A6A4BC2E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1DE69F-7FCD-F570-C91F-29D91138406D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284672-B5AF-02BB-7D77-D8410C429BF8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ADF06810-A59F-87E7-119B-C1D4398156D0}"/>
              </a:ext>
            </a:extLst>
          </p:cNvPr>
          <p:cNvSpPr/>
          <p:nvPr/>
        </p:nvSpPr>
        <p:spPr>
          <a:xfrm>
            <a:off x="5038448" y="2896727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7C28AAF0-AFF6-A6B6-CF40-42AFD4E0FBF0}"/>
              </a:ext>
            </a:extLst>
          </p:cNvPr>
          <p:cNvSpPr/>
          <p:nvPr/>
        </p:nvSpPr>
        <p:spPr>
          <a:xfrm>
            <a:off x="5418857" y="2890799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D51AEC2C-5A1A-4EBA-F94F-D14B81CEFD42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221000-9AA2-B76B-5B72-14B608100634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BF2557-BE96-9B92-9EC8-90B1A7009FCB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0" name="Rectangle 6">
            <a:extLst>
              <a:ext uri="{FF2B5EF4-FFF2-40B4-BE49-F238E27FC236}">
                <a16:creationId xmlns:a16="http://schemas.microsoft.com/office/drawing/2014/main" id="{49E9DDA4-B677-B5D2-F7AD-D526E216301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7980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AD17D-9912-D83C-1725-1F86BDDC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7B033175-FF7B-C357-3BE1-579B2590CD90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B9CD5E-C275-6B27-CB24-FB8290DDE5E9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F6AEF170-2287-DEC1-0AF2-7EBAE173869A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17A50A89-F2AB-563D-F477-48C62A424CAD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804D0771-2FAC-E442-8033-73A4DCFBAFBD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FA4BD7C1-159A-CAD7-4285-A0F2D59670DF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D87270E3-3C3C-C692-68C2-934B47FA7719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F6E02E15-D3BB-8F30-8630-48AD4F171EA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669FE141-1591-0220-7A18-945EDE0D3A1B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63A23707-5967-E6B8-16E4-3D193650DDB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B144EB3A-FCE0-E677-9B25-B845D150068F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C071FB29-E001-C0D6-A589-0B7F830305D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FC8DB150-761D-2116-D71E-D61A3ECEAB54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419F4CA6-68B0-9546-F4A3-70768722666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85E68E-9774-3B9F-AFA3-B355C7849D7D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63F6F8B9-005F-A14A-4F87-D8B268798134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6452DC04-553F-0EC0-8898-900B72E5E499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B9EE5E36-1306-237C-A982-0A281A6D2F1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3389828-B987-A00A-B5E8-67224D6C2699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3DD300E1-2D33-3545-EC9D-E802C8546DE7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AC81E2B0-0664-335B-C2F5-A548319BF86D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541D7AD1-D761-F6CA-02E9-2D6FE2CAF2F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D2A1BEDA-1181-1C61-8E18-B1E9C4F9009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F7A169AD-5D69-C7CC-C8B5-6B29F2C4540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50067B44-901D-A86D-6293-ED8C368EDEF9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6E0C1F05-FE59-205B-0D53-05800978D42E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D7A68B14-AD6A-7F92-5C77-323442C560C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85FF5754-603B-CD73-EDB8-9897B8BF43C0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126BFD0E-471A-EFF3-EDDB-E87DBD10C079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60FA4F43-4C0C-13C5-6799-A02796993FD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57204987-3D76-8804-7BA1-5071FE7FE805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D495C59C-CDDC-52C5-0074-318ED1CC0C0D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FFAF30E8-3851-CD05-FBA9-E514A73FFDF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66C2E0CA-F025-5313-6F18-CD99FEB432B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8B8FFA1E-1A5A-146C-2301-4680F2CFA08E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7E7CD8D-38B6-EC31-D466-F75CEFF6FDD1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CFA4C97F-3152-037B-7500-0B46BA81A5C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9BCBBFBE-6DB5-FDEE-AAD2-C2E85738091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FFEDA360-226D-094D-5932-A516872EA0D4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A79B1E90-434A-1A1A-B14A-C465A2B8966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0EB86FFB-32DF-963C-3369-2630C706BE96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1054C1D5-0E0E-B734-FBC6-07969C93AA58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71A7A79F-379B-AE0D-193E-B46E62F1C1EC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2646C461-5AA7-C908-786B-707E575A6A32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404FC934-479A-CF9C-273F-6B5D13B69C1F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2B07CCBE-1D8A-169C-6436-0E13FE3E5EB6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F5690EBD-ED03-B5E9-18DE-39513DA75CBE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D74912F7-E30C-5AC1-4218-29DB0ECD13EE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DEB72884-751C-68D6-6E70-4F5833D180FD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24FEDE93-8AFD-DB6B-A6B2-5409B9E640B4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F90A8F37-25AE-9050-61D5-16ED237D906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19E8CF94-294A-BE11-F909-D28B741137B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F885B01-0954-1340-0843-A7B1730DC493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50094EAA-57D5-3A73-FEDF-DA3D5798CAD4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2DDBE88C-A49B-3F9E-7D8B-162BB298B793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BD1DA3BD-7434-03FE-9EE3-EBC93B19094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E8F49D4A-3367-B6AB-EB65-9914B5D506E9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11677F31-9297-8593-5A06-4E60187C0A9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F9F201E5-8E8D-7672-EE16-BD5EE74E3720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8F364391-6635-0D2A-C32A-2A6C76F4C06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D2B8BB3B-2D9C-DF70-6056-810691A3162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A8B2323E-F35E-DF61-3CE9-7EC58502F42A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66A3D8BE-7740-0B89-F14B-6698EE08AA47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B26BE2ED-4E8D-FA66-E324-1E8425684356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8CFAEBA5-6939-7F53-DA35-F5E42D27510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F701571B-9FD8-BAC4-6F3D-C73B3B66B09A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BCDBA498-B654-2094-F6B8-B79FD2BE5DBF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F7C491EA-F23F-31CF-EDEB-0C63B5D7826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5D44CB87-4C43-B3AB-5220-CC3BA050D115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" name="Rectangle 15">
            <a:extLst>
              <a:ext uri="{FF2B5EF4-FFF2-40B4-BE49-F238E27FC236}">
                <a16:creationId xmlns:a16="http://schemas.microsoft.com/office/drawing/2014/main" id="{00A7D08B-7D39-5999-1E62-1FE4365E6F72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A9EE21-1005-2CA4-AAB1-ED44649C0AF9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FB32E7F3-1DE1-9B79-B0AC-99295C3217C7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83AF2F45-8F22-9281-41EC-F4E12FEC6128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555BEF9-7696-7776-9CF4-E2D522926A5B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6DAC642-FF72-75E2-C485-A19841C26C22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4DEB2CC-C795-698E-D924-831C793DABB3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292FD8-6F0C-9B87-CD03-39C7D280B996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86CDF5-B412-ABBE-A4A3-0452C65B521A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95986C0C-546F-3716-FE80-8A21CFE5EA53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E271FCCE-25C1-D8B1-46C0-F19A28CF4B9F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FDD669-8E3A-6664-3E3F-33F503A7AF7E}"/>
              </a:ext>
            </a:extLst>
          </p:cNvPr>
          <p:cNvSpPr txBox="1"/>
          <p:nvPr/>
        </p:nvSpPr>
        <p:spPr>
          <a:xfrm>
            <a:off x="2526025" y="204369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507727F-98F0-EE70-9AF5-F84F51B22531}"/>
              </a:ext>
            </a:extLst>
          </p:cNvPr>
          <p:cNvCxnSpPr>
            <a:cxnSpLocks/>
          </p:cNvCxnSpPr>
          <p:nvPr/>
        </p:nvCxnSpPr>
        <p:spPr>
          <a:xfrm>
            <a:off x="2881786" y="2298860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7F6BD117-DEFA-3321-EFD2-B9897EFB60F6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A2B32DF6-4AE3-2711-7D6F-637F11DEEC60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382D93B4-40B5-0BC8-A961-A4D64B060C26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AE4F15BB-D0AC-C922-DB40-2DE2DE166662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A2EDDDDD-25D3-73F6-0FE7-FC8CC81DB0B6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5181E5-212D-F772-04EC-2E39F919B6B6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78FD1EB-F6FA-1005-FC34-545336FA7E6D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8" name="Rectangle 6">
            <a:extLst>
              <a:ext uri="{FF2B5EF4-FFF2-40B4-BE49-F238E27FC236}">
                <a16:creationId xmlns:a16="http://schemas.microsoft.com/office/drawing/2014/main" id="{A1C10707-C43E-739C-B2BF-A5F7FA3D3F6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4929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06D9-B37B-9DD7-DFDD-3DF191B4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404D51E0-6576-E00A-8DA7-99EE7147F500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1185748-1C4B-72FD-E0F3-9022524545EA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DD560491-06BD-4A0B-6169-3FE13239F4F5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CF1DC11D-81EF-31D7-D682-665DE9D4B71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D6CBCEC4-CE54-120B-0102-DDF683FBBD60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237E5995-88E1-9FEA-741F-E85C5807FF29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424AFAA8-744C-F926-ED2A-ECAFF4B73BA5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A6646638-CE4B-DEE1-8524-64E962E9391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C874C543-D4D1-5336-C156-A00FF110B31D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7A4F8667-00F1-981B-3977-3A4D2E2C2A7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68431FCB-8FE8-1932-A10D-527C8882773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263FDD80-B7A0-61AB-9CFD-765B08D920D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83EDE9C3-0660-1F90-D427-2FBBCA2DFEB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EA5D4A11-FA34-F029-4678-79AA073ECCA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581168D-821E-F192-4517-FE0A5597F870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F784F826-AF7C-3B7F-F8CF-542878D9CB80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2CBE681C-C884-1F3A-838F-CCAE4A953DE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5128841B-355F-CCA3-E01E-6F1CA323FF6A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88EF8E6-A94D-08B7-83A2-3CB680A93BA5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D808795B-BAD5-06BC-1413-BE1A9FE5185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FBF4CE24-4002-51E4-C16B-C18097C2716C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5EB97417-0F1B-1704-99AC-1966738BC405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45846FD-AC06-A6AC-32DA-916B7B1C0D3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6037B358-D424-6212-B6F2-3A656096A899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CBBE6483-173E-9920-D6B1-282ECD309550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21A588FB-941D-8189-9389-DBF0B6CA26C4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345184E2-AE9C-0BE0-50CA-08338F33AD6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79F4AB9-D2FE-87CB-414A-3D9FFA85AB5D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9DCBDCCB-3035-4CBF-53B3-AFF2FB2FC82F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7B7FCBF6-49D8-A9A3-457A-CB604720C45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1C12A374-75A5-44C1-C56A-01AB1FEABB3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300D2A6D-6E0F-9510-4858-40FAAB5600BF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B9A51E7A-44C2-7B1E-8A79-167DD9D9105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68D1F623-C0E9-A4D8-862F-5A44537F541D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8AC17407-9236-01AE-E415-D171C7C57ED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7C6F37D-7145-B2B3-9417-DB3291835514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73DC8F6F-1B8E-FD3A-1E6D-0416F196E4E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DDCAB12C-5CEE-D3AC-5D4E-67C8FBD0EAE3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5EE38D11-C1C8-D6ED-9FB1-16B31D7190D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42AB3BF0-F53E-0076-EC42-9B7A155C58B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54875FC7-320C-F9A3-621A-24EA1C1E2B5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3130876D-E11F-2D2D-B8EC-FA04CCB39BD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BAFB2FAC-24C4-5267-FBEC-780AD98220F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36D594F3-2948-49C4-B170-351664704962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C7828426-2AA8-3685-5981-F5CBF29A452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2614B2FC-344C-52E2-A665-F6BABD705635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8064CD01-E19E-F57C-AD9A-2FBD54CAF436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1FA75540-AFD8-E443-0367-B8ED74B5D9AF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D2087A50-0D0F-C178-F3FA-94806DD7F2C3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6B158012-AFF8-A3C6-A4F5-8269ECACDA30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0F5D81D3-1952-3DB3-928F-A0CD5475DFD4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8832EA88-1229-3C2A-01A8-3FE9DA42305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64CD865-ADC4-783E-1AB4-1E0A3A5DD431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153D1073-0D4A-4678-AD68-E299F97196A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1B007DE0-3902-938C-FB41-37D4FE77519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ACED7078-0581-C6EF-0AA9-49205939167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E29F5120-363A-6954-D6C7-B092E33BCB2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445816CE-FF58-5049-635F-45ECC0672C3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471CB725-18B3-7CC9-6298-EE0442C66E3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2318AE66-FDA7-9F72-B920-EB21CE5AC0CF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B0A323FF-D59A-9108-3D5D-EB3B63267FB1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D8CCB93F-7D3F-E8C9-F72F-1D2A3DF8DF4A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3D2AC0FC-7DC0-239F-7BA4-56F5BCD53E2E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5CA43DDA-5021-4797-13E4-415F314EB423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6C341136-D88D-F2E4-342A-7495709B8EBE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3231BF75-84E3-B713-A110-0C2AF2AFC81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4C2069BC-3478-18EB-7C0F-FFE67396BEF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A43956F8-64DD-8DCD-51EB-791DF1C76983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36DE3513-B302-0A1A-2D76-401B01B15980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0FB2B00B-C3E5-B2F1-5688-9884F8C45308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E104CF59-B060-2035-2F28-5864D81FFB40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92B2B8-8E50-31B3-21F2-6AC5311716F9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E9A7ECBA-9A4B-CCB2-593E-FFFFE33CCCA2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4A09E36C-E97B-A451-DCFE-25EC460BCB47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DBA1CF-10CE-461D-C7BC-E7BCEDD48F8A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5FC62E-DB9D-5F81-77F6-F4980A9012E8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579F559A-680C-77EC-8819-662EE0321F05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C6BE16E-111A-290B-6F4D-369D0E3DDDF0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E1435A-1EB4-97F1-0069-564CA844F9BD}"/>
              </a:ext>
            </a:extLst>
          </p:cNvPr>
          <p:cNvSpPr txBox="1"/>
          <p:nvPr/>
        </p:nvSpPr>
        <p:spPr>
          <a:xfrm>
            <a:off x="6950785" y="3213556"/>
            <a:ext cx="17896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endParaRPr lang="en-US" altLang="ko-KR" sz="1100" dirty="0"/>
          </a:p>
          <a:p>
            <a:r>
              <a:rPr lang="ko-KR" altLang="en-US" sz="1100" dirty="0"/>
              <a:t>하나의 </a:t>
            </a:r>
            <a:r>
              <a:rPr lang="en-US" altLang="ko-KR" sz="1100" dirty="0"/>
              <a:t>data buffer</a:t>
            </a:r>
            <a:r>
              <a:rPr lang="ko-KR" altLang="en-US" sz="1100" dirty="0"/>
              <a:t>로 변경</a:t>
            </a:r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19FC1068-5250-FD61-738A-B4192EA8A1B2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62DB1E2C-7748-F70C-B750-BC824DE65206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E15189-2022-1985-773C-6F3C3193989F}"/>
              </a:ext>
            </a:extLst>
          </p:cNvPr>
          <p:cNvSpPr txBox="1"/>
          <p:nvPr/>
        </p:nvSpPr>
        <p:spPr>
          <a:xfrm>
            <a:off x="2526025" y="204369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B7E6449-4142-5C88-3337-A8F0AEC86A14}"/>
              </a:ext>
            </a:extLst>
          </p:cNvPr>
          <p:cNvCxnSpPr>
            <a:cxnSpLocks/>
          </p:cNvCxnSpPr>
          <p:nvPr/>
        </p:nvCxnSpPr>
        <p:spPr>
          <a:xfrm>
            <a:off x="2881786" y="2298860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BA13F2D7-4F3A-EDDA-9FA6-A729176CDD3B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AA3217F7-A007-B863-3546-6888DBD529FA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4A46275E-BA27-989F-9DC7-9975ACC7B195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C7088095-A782-A85C-884A-1D5B85A5AA1E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1C9031-1A64-7AF6-1E20-C651CC9C05E1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6896F0FA-F94A-BA8D-357E-0CBD1C0FCC2D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6E03857-42D9-3AE8-F681-EEB8E25922A0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7258264-CCCC-2048-E117-358EFB4F762B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CCD319B-46D6-8012-F355-4F3E1E13CBD6}"/>
              </a:ext>
            </a:extLst>
          </p:cNvPr>
          <p:cNvCxnSpPr>
            <a:cxnSpLocks/>
          </p:cNvCxnSpPr>
          <p:nvPr/>
        </p:nvCxnSpPr>
        <p:spPr>
          <a:xfrm>
            <a:off x="9563644" y="3027530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A927AA0-B65D-C096-1171-DA1E3E3290F0}"/>
              </a:ext>
            </a:extLst>
          </p:cNvPr>
          <p:cNvSpPr txBox="1"/>
          <p:nvPr/>
        </p:nvSpPr>
        <p:spPr>
          <a:xfrm>
            <a:off x="9425354" y="3268777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Flush / commit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8928C5CA-6566-3CE3-65AA-45390B1DC68D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BC49674-DFD6-43F1-8B1C-827FF8AE8842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BA54B1D-38AC-2006-355B-0252BF526962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C241CA31-7E47-769F-E2C7-A0A94BF8CE24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38144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DAA2-8871-D9C0-069B-F8D46C00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13644142-3D5E-5468-91DC-9E124426D88C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BF99A9-3D3B-9A6C-0C67-DD0D848816EF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AF81EE3B-7B46-E67C-361E-0C02F62EFFEE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0DADB931-25B6-FB14-D9DD-2AFEE7F0C9F9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0779EDEE-A705-1294-0E20-3E38BBD91AC6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A08A9DB7-C07B-B034-1088-F8B5EA791C98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5A61A34E-7A9F-B4C9-A6E4-3E428C11C24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2030FF6E-6384-B1B1-4740-C7E3262CB29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5710E0A6-55F4-9118-FE15-0D84F0C43047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F8005FE4-70C1-BE58-0943-FC367F926E1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64230F31-C6D7-1FA5-4DF7-99ADC1230BC6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92CA1A08-BA45-818C-EE27-BBF57EC06CBF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392BAAD7-BF8E-FDEC-433F-A3603384B41C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C3BA2FC-561F-E07D-612D-78948CF45DE8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CD2C60-E826-0522-80B2-523AF551D46E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A5493257-6897-B32A-44E7-4F167433D4A1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A9AEF788-5369-3F17-E5B0-FCE1DC03981D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8318D7CF-FD5E-5F9C-DE4A-66857CE6485F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483D434-7EE2-5995-0133-60A34E282D99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D1B67656-0957-BE70-E34C-82D45ACA283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5CB21176-B55A-E408-741A-EBD5B1FB3FC2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B2FB5878-A772-22B6-7F9C-86D40C58613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AE1F8759-3338-2F6B-F774-630FD99BF80E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5A8E188D-BCD8-16CA-8ECB-E82BED53E22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986B6B78-F470-F36E-E0B9-DB8906029E1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41139438-0B3B-4D05-0B24-5BA92DF73B9C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603DE984-DFA0-93AA-87E4-A106A0903566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282D4F0-ECE2-A11E-646F-A08C72358BB2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E1CB4C93-53F1-29BD-C4EA-75BCAB8BA557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FC353C31-E831-4EFC-7AF5-1FFABE02F5D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A122A60F-ADDA-D2D1-E23C-2274EBF8BC5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33A1391E-5B1A-C104-0FA9-A5F7D5808FDB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F4E2B6A4-C245-17E3-A8A1-1BBD1D3A186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545FF873-9490-3FED-14E2-3542D907C72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1BFF7123-C27D-757E-AAC5-8F14D802015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9DD6A1-B529-3867-4E54-1478BBA6E89D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A344B1E0-1B34-6E0C-36B6-C8141277A58D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C119B5FB-8C4B-ED28-1129-CBEE53AF375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4E7ECC48-7D77-26D0-E608-A82D2DB99C8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663F5252-C220-7D7E-7A65-6144DF503FC1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DF4FB65E-9F77-963C-DAC9-893E6B614E1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AC851AAF-2BEA-01CB-5CAF-B4A6F704E46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92ED1CCD-FAED-B33B-D34C-CA59AEB0040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C8A17E9B-CA99-C844-71E2-14962D5C5F12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549AE6EC-9AF4-3B8C-F360-E69C3BC3C8E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A89E0092-F07A-C2CB-D8F6-A48590EE6F38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876805BA-AA37-88C8-5915-BC0274ABA1D3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CB60EE88-1253-22E6-4940-951D35335A5F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DC3F28BE-D34A-447A-05FB-ECCF3450A09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63926032-B7E6-EF51-2547-D3FD49208EA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D5DB157C-93FC-FA43-92CE-7370AB52DBA4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AAF20156-355F-8E74-60E5-E2DD48307EED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373FD08-63B2-2E57-ACDF-0D0239274AB7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41A7CF9B-A39C-02E0-A5E4-03E7B87C78D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5907DC56-2ABC-D807-CA05-FAD5D2FE5AB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2413AFF1-A542-53A6-1259-C698BD51AF2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B7F51243-7ECE-C0AD-8553-8A72A042D9A1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B97BB1C1-3327-838C-D78A-A58320E1E96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E74115E9-ADC8-C79A-101C-1B36332FF5FF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96B8BD3F-9A61-7142-AE80-C3836BFDDD2B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CCBB18EA-99A3-66EF-988B-DC89595C5DB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3A10B0F7-FF10-EFE3-9030-3F4EF687C04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BB462503-3A22-5AB6-D69C-14FFF258B64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A8A94DAE-E149-4AA2-8C33-D3D5395085B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1D67AF67-9804-1199-BA6F-3362B11A540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6781C9C8-2368-FE0C-2011-F4FD2D65946C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EA2143A2-38C6-920D-AEFA-DB13B80A357A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3776665F-78B9-36B4-EB21-18109F9FBED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CCFBFD8A-BDA9-776D-0783-9A05D74D13C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160FA6CC-2442-5BC2-900C-CBF23BEF6B85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218F332D-75B4-6577-EDAB-87E3C1865E37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199D41-668D-DFD0-CAC5-48B2DDB6319E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ADC70105-C757-2E16-1C0E-DEEA62E33449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AC33FF53-C996-DE71-0BE7-1593A50990DF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7D2A6D-6589-A8FE-A4B2-A9C6222C0843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37A1F6-492F-6672-F206-B04BAD624641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3996330F-4FC9-9513-8E06-7410B26BFA0C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C6E98-565E-812E-879D-8E5BD9987B3E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4ED5F9-DC87-D284-AA32-49AEA2B8D1E6}"/>
              </a:ext>
            </a:extLst>
          </p:cNvPr>
          <p:cNvSpPr txBox="1"/>
          <p:nvPr/>
        </p:nvSpPr>
        <p:spPr>
          <a:xfrm>
            <a:off x="6950785" y="3213556"/>
            <a:ext cx="17896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endParaRPr lang="en-US" altLang="ko-KR" sz="1100" dirty="0"/>
          </a:p>
          <a:p>
            <a:r>
              <a:rPr lang="ko-KR" altLang="en-US" sz="1100" dirty="0"/>
              <a:t>하나의 </a:t>
            </a:r>
            <a:r>
              <a:rPr lang="en-US" altLang="ko-KR" sz="1100" dirty="0"/>
              <a:t>data buffer</a:t>
            </a:r>
            <a:r>
              <a:rPr lang="ko-KR" altLang="en-US" sz="1100" dirty="0"/>
              <a:t>로 변경</a:t>
            </a:r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51FA255F-9223-36A4-E45E-62202B7E51CE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DACA36A1-AB8D-520F-66F1-FAB7581F3342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90FCB0-6503-62E9-7DF7-85DB7AEC99E2}"/>
              </a:ext>
            </a:extLst>
          </p:cNvPr>
          <p:cNvSpPr txBox="1"/>
          <p:nvPr/>
        </p:nvSpPr>
        <p:spPr>
          <a:xfrm>
            <a:off x="2464479" y="2006184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8D05B4C-E309-2240-48FA-2B52799E82C0}"/>
              </a:ext>
            </a:extLst>
          </p:cNvPr>
          <p:cNvCxnSpPr>
            <a:cxnSpLocks/>
          </p:cNvCxnSpPr>
          <p:nvPr/>
        </p:nvCxnSpPr>
        <p:spPr>
          <a:xfrm>
            <a:off x="2820240" y="2261348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3CD01992-F880-28F2-C271-6EE34C5B34A8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BA5A1552-E3E3-75D2-5948-3F7B212A7A73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394292BD-41FB-32BF-D98B-61AA98586DEB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38595F5C-EF99-4268-77F9-EFE920870DB7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5B6B38-7D49-374B-B2FE-053AB9E44CDD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07C29760-8643-9C88-23CB-091855DC995D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356420E-9FD8-4F6C-5511-9DD7E378A5DF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6621CBB-DC15-E3AD-B1C2-91C2F8D5DAA4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7B58113-A601-CFD0-A84D-4C2DD2F5D64B}"/>
              </a:ext>
            </a:extLst>
          </p:cNvPr>
          <p:cNvCxnSpPr>
            <a:cxnSpLocks/>
          </p:cNvCxnSpPr>
          <p:nvPr/>
        </p:nvCxnSpPr>
        <p:spPr>
          <a:xfrm>
            <a:off x="9563644" y="3027530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D91F902-2A4B-CC52-4EB2-4142E5D69BF9}"/>
              </a:ext>
            </a:extLst>
          </p:cNvPr>
          <p:cNvSpPr txBox="1"/>
          <p:nvPr/>
        </p:nvSpPr>
        <p:spPr>
          <a:xfrm>
            <a:off x="9425354" y="3268777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Flush / commit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E5D4405E-EECB-312B-C7E1-20BFD2E903B9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1FC7158-074D-2F03-2480-77EED924E401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B03A8F-F3EF-9DA5-6C1F-B84E837BF4A5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BF8A3641-EAFF-EE4B-5DAF-B84176604EDF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7B7D44-652E-72B6-1D3A-15E737B21F4C}"/>
              </a:ext>
            </a:extLst>
          </p:cNvPr>
          <p:cNvSpPr txBox="1"/>
          <p:nvPr/>
        </p:nvSpPr>
        <p:spPr>
          <a:xfrm>
            <a:off x="9425354" y="2257636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완료 응답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3E89E24-0944-871B-FC64-4BDC67458998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3675185" y="2359179"/>
            <a:ext cx="5750169" cy="29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609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3479-9EBD-5319-42B3-7D34995C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3B53BE7-0C64-4C7A-8477-BEF61134729C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B753492-7ACB-1AD7-16F0-1073A3E74D7A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19EE1B5E-B43E-2603-0E8F-761B6C5023D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B00FFB35-5FD9-05F1-59A3-541B32B55592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62EBC512-4D66-B5FA-AB5A-1C42F28CD10E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00002F23-00CF-493D-EE0C-96C12D94EF0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816F5097-8032-0A8D-26A8-30FC863CC6A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A325C387-AC3F-FE3E-1C44-A8539B375878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10B25F3D-8A2C-1843-5B49-8A5C9A06A28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52985FD9-9818-9809-828F-AB46301A147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66042F98-90DF-97D4-7EB6-77BF2BB7109B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60EA692F-EAEF-41FE-D394-60A4CF79585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5848742B-D60A-7568-F675-7E82A841D8F1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8EEBAB95-3D9B-EE8D-F11B-75C17EDC709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F93F80-50A6-EB2B-DA77-85B2AFE1F4A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6E075B69-5CA5-C3D2-0A30-C224405A45B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47C29DAD-BCEB-69C2-4CC7-DAA44190635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9D3A029C-9276-E6E1-4B0D-707AE3CE6904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EB4AA6-02A5-B7F4-994F-51C0A39F6A94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D76D86A5-6FF3-1738-DB29-C18433B8CCE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49024FF7-5C29-7815-C8CD-42D9347B2259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BE856027-09FA-F95F-737E-2B1D7F4C533C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76262530-543B-E45C-9069-6457C7B039AD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B0EE64E7-28A2-EC63-9386-E1F425AD88FD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803ACD16-C629-ACD6-A4D3-E2D41904F6AA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86D68DE0-219D-75B1-13AC-C1CBD01A4694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3D0DF209-DA07-3E29-BE14-D079D81E866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C8FFA71-21CC-930C-FDA6-D19CD1B45154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6B11BB2B-0BA2-91AB-F549-57EC393BFAD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AA138167-B8C0-2A98-8DAE-39F556D5B4A3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9FABB531-04B6-C4C3-082D-7F9D7737A7E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1CEECCBA-A219-91AB-FC74-7D5E6446718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280F64A9-853D-A03E-56C5-7B1EF7E8616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FBB1D003-9AA5-CB27-E971-A4362D321DA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7E59725A-C1F9-7F7B-E7AF-9164643FE5BE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64D48CE-C68D-51F3-94E2-51E02CE46B73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0F3E7229-79F3-B20C-5270-B58B7E1A1D9D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D84E1888-5974-DD92-2CD2-477DB2FC301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5DFEE044-FD49-AE98-26BA-B7E4073A150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0AB53AA7-4369-C69B-D28D-E53089DE09FF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FCED2914-5BB0-779B-19CA-69B63C4597E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A1665237-1D22-7F7F-CD43-9B4F5862BE1D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16A74417-C99D-E567-1B96-BF13DE03E22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DBAC4831-2B6D-04FA-EE80-A0C95C2810B8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35A46169-825E-271A-52FE-1BB1DADA3978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4282CDB7-FF25-492C-9046-B44AB1D92B0C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758509F7-47D4-A508-1769-43040ED6F5EB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4C497F4F-37C7-006F-A839-6A98105BA245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A0BFA3F0-ACFF-F78F-5E21-B9C5650B4BF9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3608CEEB-414C-3AE0-E91D-52197361F12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98A2EF03-48AF-E155-4029-1937977A9AD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F470F849-F407-FE7E-2269-9C7FE3DB89EB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277431E-900B-01BC-9875-69CDA36B52E3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4621D320-BDFC-273C-BCFD-14BA45E81587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3AA1B78C-BFE4-8FBA-A2BF-A2F1A18FEA2F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D2613AA9-ED90-B861-C25A-5C7745B0B5E4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70DDC6B3-AB19-5E37-3538-8F11B6808142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14A4480C-1506-3F00-E96C-88F642321C45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19D57C6B-B7B1-3B69-B774-0F01A7EB949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6241DCB8-6C44-82D9-0955-8329A239768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0D49BF49-2BAF-0A50-434F-C13BD5D5C92F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AE0434F8-E914-0501-4AC7-AE9C37B8D6E2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1BE8FC0B-8AE7-2EFB-5727-B5743700580F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FA805375-2A41-FA1A-8EBF-3C84C4328EEA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448A4B5C-209C-CA5D-C3AB-79E06C8056D5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2FF989E4-82F4-A40C-9D3B-E68B0760107D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58C01038-3EE4-87E6-6EE0-7D28E9DA2A9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8F9C8F52-7920-A506-0D94-DBDF048784F7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2FFF6F7D-67D7-060B-F2F2-34E88D319E52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9E9D01FF-7CF3-8C33-849B-265A4CE7D524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5EE8270F-DE5D-4874-AD01-289CEFE71B89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DA00C2-BE34-9CB7-74F8-411330B87291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6FD6CC89-C037-FDDE-945A-641593360002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8CEDD3A5-7AB0-5B5F-111B-86B08411655D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38CEF3-7498-C2A4-9409-219D3FB78597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CC7745-CC52-1B7C-C1E5-EFCE755828E5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A55F6F1-6A9E-BDD0-0952-202635F7E3EC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17E9392-D15A-EB62-47FD-335D98A0DCA3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19A178-276E-2E9F-F1CA-5BF612A35435}"/>
              </a:ext>
            </a:extLst>
          </p:cNvPr>
          <p:cNvSpPr txBox="1"/>
          <p:nvPr/>
        </p:nvSpPr>
        <p:spPr>
          <a:xfrm>
            <a:off x="2833756" y="2035718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263160AF-B8FE-EB66-5F26-7E19430DE221}"/>
              </a:ext>
            </a:extLst>
          </p:cNvPr>
          <p:cNvCxnSpPr>
            <a:cxnSpLocks/>
          </p:cNvCxnSpPr>
          <p:nvPr/>
        </p:nvCxnSpPr>
        <p:spPr>
          <a:xfrm>
            <a:off x="3189517" y="2290882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3">
            <a:extLst>
              <a:ext uri="{FF2B5EF4-FFF2-40B4-BE49-F238E27FC236}">
                <a16:creationId xmlns:a16="http://schemas.microsoft.com/office/drawing/2014/main" id="{7A70B88C-BF92-C4A6-0D7E-8419E1B7F495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0651DCE-E587-02E1-5E7B-C8E538DF4EC6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84EA940-F668-B9D1-E49C-4219FA9C9E3E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A6A676C1-FF7A-992E-9CA8-CF1E676C37A3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3553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3D51E-5E96-7F36-99FF-BD74DF24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66BA22B8-5064-F12F-ACA4-89ABB5CA8C6C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5F17520-51D7-AFE7-211C-52FD9B83393E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35374FA2-F1FC-8A47-5BBB-05D433D7967F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7B68B31D-63D2-7B2C-7EF9-EB288E4694AE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0103D280-5070-7488-952E-BB191CA5B5B4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B407D0A4-1827-8FEE-DBCE-CD618DE59FF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7A1BA88C-7A21-9478-9AC8-BE39FD3AA23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9800D574-8AB2-0EA8-7D10-0DD8AA886C6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C06E9D65-2A40-3938-52B7-FD51AB22B13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9B7DC7E0-04EF-336C-CFD3-762D90D84846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ED6B509-C8DF-B5CA-57E4-47896013D31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884D9DF2-2A7D-F734-9B78-1392DA5DC299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9DE7816C-8AC1-215E-0753-2685BADD766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0D2D44C-3CD3-BB2D-A53F-BBF7650FF3E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022D1C-5448-8B25-F32E-0CF1F003D66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A6CE3C61-A5C5-BBB0-A96C-A5326148E6A0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4F5325B1-9B1D-3261-9E5C-69F35E0F23CC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2D99FBF0-23ED-E9DD-5BC9-AC37DE6C7E72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BC95E51-3A75-C39B-7EA3-6FD04F65078E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FC26D3CD-EB42-06A7-0FF4-FC505165337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D902CBD3-3659-375B-484D-50823C47259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88883A3C-C928-AFE9-908F-00CD4B716059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9615C16E-A02B-B59B-3AE3-6EF944C879B3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E22F6464-CBCE-18B1-2CF2-800722D1FCC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E7D92FBC-B12F-6B87-DF7B-C600AC79B9C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E674B16F-A2C8-065F-17C2-8E457F1F127E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21DCEC44-08DB-9AE0-579A-466039A78973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7234063-B23D-5DAD-17E2-02272F681D6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6122B373-4F52-8FDF-0090-A5366B10FA79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84DA19C6-26C4-4B40-03FA-EBCA017F892A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A0A969D7-1E1A-AF55-6033-7F5F6B44F60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591A7587-246D-C220-34C6-CCF9219BA6D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5BCB3E6E-0BD6-E8F4-F7D6-D20DC669F169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94AA89EA-FF56-516E-32CB-9BA4CCA144BC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3D0F71AE-0489-4F5B-D5FD-3BD6F170C14A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E167EEC-37FD-23E5-ECDC-6F99B174DE0B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824F3755-EA78-8D6C-8EB2-123466191CB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FC7654C5-58E1-0996-E308-7A91329B82C8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B7CB426A-C8FA-CEAA-F2D7-FC6D245CD5C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677F9377-DB1E-8BA1-24BF-5F4760B111E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A643F38B-6E67-B47F-D306-4D42F89FFFB8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09D7A7A6-64F3-8972-9F77-30CA80A2505D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58A502F5-ADAD-EF96-F72F-F80122316F9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B2BA0FA0-3F37-A2CD-B63C-039A245DA0B3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8F2D01CE-DB4A-6313-912A-736AC6040C30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323E52E2-568C-566C-CC63-7F9A3A488D7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2D443BF3-9563-9355-17D2-B0E9BD2A3EF7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76D1694A-800A-5F6A-0A3A-3BF7F5A48C0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BD7542EF-9FB1-5128-3679-2C2D8C50AFBA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2C431306-BA3E-72D4-4E02-B6E314D3F75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437365F4-3A97-C3EC-0E80-4F498605873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BBB78ECC-C6D4-8F98-8688-F87EADFB4736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DB4AB7-7E1F-DD30-43F0-33AD5DF38723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F641C7AD-3D4F-954F-F097-1930DEBE3754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FE70A0F9-368D-B929-E871-E848C148504A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B7CD6F1E-891A-868E-EAC9-5314C9C13A4C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7C5B8771-C0AB-3AD7-AA50-DAA23D1A06FB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CD71F492-55CC-6384-934E-4BB19544245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7FC5A348-8984-88BB-3F34-AB77E5E5D27A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7F63429E-772B-602A-8772-65028D20875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73932830-CFD5-AF04-6D5B-FD94B3205B5D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FEE595AF-7C6C-84DF-9E90-EF1DA14BB672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2268C51E-34BD-4278-57D7-F8AA79ED81F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33C41795-852F-B633-7304-018DA03DD107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C3636BC1-89FF-4109-F1B9-2D12311AE58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7DA8B0B2-EB47-692C-0402-34592AC2EDBE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A86D8CD0-6BD6-B25C-A7A6-9F0A85FEA61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F732B3AE-ACBE-7305-A1FF-BF4C6B36F276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D2393B8D-3AAC-DF6B-4807-54BD7A1AB9F2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" name="Rectangle 15">
            <a:extLst>
              <a:ext uri="{FF2B5EF4-FFF2-40B4-BE49-F238E27FC236}">
                <a16:creationId xmlns:a16="http://schemas.microsoft.com/office/drawing/2014/main" id="{A956A35C-AD27-BC86-6184-F5AF0A34F755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C0097F-5586-3342-E163-EBF3CA9EE775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E008CDE3-DBE0-13A1-B9C8-0DDB10E89287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AD4044CE-1090-41B5-C09C-7E4B5EC09581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22E527-A2B1-B1AB-84F0-16937AAE98B2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42D80A-D90C-ED71-3A79-686B023A6040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C6ADC7B6-052D-AF10-532C-06B9BAE74D29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D66B93-A560-7360-1F67-3A378CB393BA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2EC9E5-0CCE-EE61-B7A8-00259F14A8C3}"/>
              </a:ext>
            </a:extLst>
          </p:cNvPr>
          <p:cNvSpPr txBox="1"/>
          <p:nvPr/>
        </p:nvSpPr>
        <p:spPr>
          <a:xfrm>
            <a:off x="375759" y="2128571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F7F479C-F80B-DE34-0A2F-78FE9969EA0C}"/>
              </a:ext>
            </a:extLst>
          </p:cNvPr>
          <p:cNvCxnSpPr>
            <a:cxnSpLocks/>
          </p:cNvCxnSpPr>
          <p:nvPr/>
        </p:nvCxnSpPr>
        <p:spPr>
          <a:xfrm>
            <a:off x="731520" y="2383735"/>
            <a:ext cx="0" cy="948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15">
            <a:extLst>
              <a:ext uri="{FF2B5EF4-FFF2-40B4-BE49-F238E27FC236}">
                <a16:creationId xmlns:a16="http://schemas.microsoft.com/office/drawing/2014/main" id="{79D6C646-288C-29D5-1898-235A988CC969}"/>
              </a:ext>
            </a:extLst>
          </p:cNvPr>
          <p:cNvSpPr/>
          <p:nvPr/>
        </p:nvSpPr>
        <p:spPr>
          <a:xfrm>
            <a:off x="5038448" y="3433427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F6EF1AB-D7BA-71C8-78AE-C9FB11A4B459}"/>
              </a:ext>
            </a:extLst>
          </p:cNvPr>
          <p:cNvSpPr txBox="1"/>
          <p:nvPr/>
        </p:nvSpPr>
        <p:spPr>
          <a:xfrm>
            <a:off x="4159672" y="3445282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 item list</a:t>
            </a:r>
            <a:endParaRPr lang="ko-KR" altLang="en-US" sz="1100" dirty="0"/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CE368435-E2C7-F3FC-0F33-557DEF97B5E4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0CF77C-192A-F699-3289-0291D2625CD3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A80DBA1-DD54-E089-7864-3EC13A3F9114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9" name="Rectangle 6">
            <a:extLst>
              <a:ext uri="{FF2B5EF4-FFF2-40B4-BE49-F238E27FC236}">
                <a16:creationId xmlns:a16="http://schemas.microsoft.com/office/drawing/2014/main" id="{A4E736DE-163E-6120-8BD5-2624E9137ABC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29504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F817-E243-3264-E04F-7BCA7A47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B5BF1897-2052-83AD-8E42-A7C53FFA5F87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629875A-D325-20FF-161B-7B9B90111C81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05E000BA-8773-F861-94A4-5175D8EC03C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64D708AB-A72E-0922-0E82-18B813D159C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67F69A2E-CE8F-5426-70A1-581D81501550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408A54F7-1B01-AB36-0FE8-FB2EC1423D68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6CBBE861-04CF-9F12-1D33-DCDAA91638EC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43E9D47A-8DC9-B83D-165D-49BD06395C4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CD3368A9-2F02-D41E-A45B-0B9FDF608DA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A910094F-6A3A-06B4-CB16-1F64FDD99CE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9F8CC8CF-A6DC-AD52-DE0E-276C67A0EDC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F49C75F5-DB5B-5E79-8084-F8FB4113147E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C210EC5B-DEDA-6ABF-8743-8168577338A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9A688C0-1BB9-359C-7AEE-147BB80AC06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0B6DD6-16FF-D58C-6951-186841775AD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4168A903-236C-F44B-79FB-609906F69C1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FB918E5C-BBFD-0EDB-006F-712D5B9D5B5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021F423C-9A96-CD81-E58B-8DF41F5DF10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A4B4CDB-D8B0-969A-1945-5D27FF40298A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E4A41D13-7488-A383-628C-459113E50243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24821F9D-A96B-3614-017A-F7B3A9A15EE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2BE4AC7A-5C86-A985-CC04-FC64DF1D01AA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E4E8AC83-BF1E-CE34-215C-C3EDBEE03383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97682A8D-6C5C-6857-B08E-2E7140D2F79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D56977DE-2040-D8F3-B332-8902E51C129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83F49FE6-E66F-F371-5CA6-E8AABF783E8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EE54B69A-897D-3A17-26CA-FDAF0E118DA6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EABED75C-5BBB-1616-1FA1-45AB2C2B2998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3AA42059-8FBE-80FA-2D82-9C36111B748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A0A4B8D3-3AF7-8D28-2DC0-92E6A76509B4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375B2783-E41B-1807-7819-7407D398FF9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BCEF6545-98F2-277A-3F30-EBFCA2BF115E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D1B9A923-42A9-82C1-CDB8-24C42F8DF820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03673CA0-8FC8-532E-2A12-00665E9338C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B4F7F9CC-0814-6BE4-134A-6AE18A514266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A579967-D0A8-D93D-62C0-ABD4CA7C45BD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32B1C0E5-DAA0-760E-9E5B-1211412B1BD5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7127C637-D802-09E7-2BDF-123C6319BF58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FC23FB06-FF6F-CA74-4E3C-60403F35513B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EB9A6BA2-105D-A875-9066-8B3A062AD039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74C05E41-7735-8EE5-B093-A53A567E84E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C38A139D-98EF-156E-EBD6-E26EF0A99C9D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854DD164-9776-4DF0-808B-FD66971C522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1958CDEC-C6D3-A696-76BD-F3E8D38AB10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0BD0AB42-EE6F-2AC8-1BDC-8A20070D969B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43EF913E-DACD-D927-2CA0-95FB260724E8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CCE2EEA3-7506-FECF-ABA6-4DFD8BA102C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8AB5AFEC-2CE1-A1D0-CEFC-0EBDED157442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A1B1208D-56A8-8FEE-C9E5-E26FE6430D3F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EA043442-195A-8B49-C523-7A839BC9DFA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AE4FF1C8-A79C-3D2A-54A8-0D1A40178335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2C8E8998-A526-6955-BEF5-9286C4781797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AA2DC33-7814-F2A6-82F1-2FE6AB738363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085C2A24-E7A5-3539-FBB9-2E5B96271BEF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D3D89E5B-0A50-96E6-6EF3-A462616E7C26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DCB64AE0-0A5C-4692-B72B-55B1E4C2293C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62007092-5CFE-1F8A-D404-764EDC55704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EEB1912E-132C-AA85-ECCC-CABDE93C607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DA8F41CD-8803-7392-0D94-A275EFBF1565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C37855A9-C9F0-CFC4-A10A-5E8D0BEF0C6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DFD24CF9-075A-7D22-E95D-76BF047B577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F833C6D7-BB1E-3EA0-6E46-9D44F0AF53C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ACFFEE7A-4CA7-8613-5D6E-B884C2A08D56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DBA49486-CB73-0BC6-DE33-B3C7612DB13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C4A42EDB-7508-D0C3-5C2B-345252491E2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47FD7944-D83E-DE41-2F79-E913388A4AD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B9D0C493-C4B5-86B7-71D2-B2E8A60C5A87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DD831964-0E5D-25BA-9F0E-9739EC539C63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0868456D-E157-8796-707E-D33A3F9910C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23C30FBE-38F8-FCEB-D02D-579086158DF1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85A6F9B-1223-40A3-D896-8454596F618D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21B998-DB24-38B4-8AD7-0E50FBD712B8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AE59D0EA-56C8-C400-2725-113611A7B8F7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FBA4A4D0-80A6-CB52-3D13-B39A4C763934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40A82A-084D-8D52-4D18-F2675373E54E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CE839E-E612-4532-4488-443B197C84EA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FF9D89C0-1DBF-A5EE-9BFF-76916FE470F2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41CC6CE-82C8-C607-5CB7-48624EA78C9D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68889B-2B8A-241E-FDC5-C58CD6D0AA54}"/>
              </a:ext>
            </a:extLst>
          </p:cNvPr>
          <p:cNvSpPr txBox="1"/>
          <p:nvPr/>
        </p:nvSpPr>
        <p:spPr>
          <a:xfrm>
            <a:off x="1472704" y="2128571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2B5012C6-0B45-BC0D-802D-6D0BCB72FD94}"/>
              </a:ext>
            </a:extLst>
          </p:cNvPr>
          <p:cNvCxnSpPr>
            <a:cxnSpLocks/>
          </p:cNvCxnSpPr>
          <p:nvPr/>
        </p:nvCxnSpPr>
        <p:spPr>
          <a:xfrm>
            <a:off x="1828465" y="2383735"/>
            <a:ext cx="0" cy="948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15">
            <a:extLst>
              <a:ext uri="{FF2B5EF4-FFF2-40B4-BE49-F238E27FC236}">
                <a16:creationId xmlns:a16="http://schemas.microsoft.com/office/drawing/2014/main" id="{0CADB818-5ABD-F1CD-5C53-0990125EA4A9}"/>
              </a:ext>
            </a:extLst>
          </p:cNvPr>
          <p:cNvSpPr/>
          <p:nvPr/>
        </p:nvSpPr>
        <p:spPr>
          <a:xfrm>
            <a:off x="5038448" y="3433427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123E5C-F2BE-F879-47C5-9EE49958D204}"/>
              </a:ext>
            </a:extLst>
          </p:cNvPr>
          <p:cNvSpPr txBox="1"/>
          <p:nvPr/>
        </p:nvSpPr>
        <p:spPr>
          <a:xfrm>
            <a:off x="4159672" y="3445282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 item list</a:t>
            </a:r>
            <a:endParaRPr lang="ko-KR" altLang="en-US" sz="1100" dirty="0"/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5D777A42-A292-701A-28DD-2A5613FA1690}"/>
              </a:ext>
            </a:extLst>
          </p:cNvPr>
          <p:cNvSpPr/>
          <p:nvPr/>
        </p:nvSpPr>
        <p:spPr>
          <a:xfrm>
            <a:off x="5389840" y="3433427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15">
            <a:extLst>
              <a:ext uri="{FF2B5EF4-FFF2-40B4-BE49-F238E27FC236}">
                <a16:creationId xmlns:a16="http://schemas.microsoft.com/office/drawing/2014/main" id="{CFA328F6-0CDD-9D61-8163-584E7E316844}"/>
              </a:ext>
            </a:extLst>
          </p:cNvPr>
          <p:cNvSpPr/>
          <p:nvPr/>
        </p:nvSpPr>
        <p:spPr>
          <a:xfrm>
            <a:off x="5038448" y="3881604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727F43-F8CE-DA19-CB35-40A4C22DAD92}"/>
              </a:ext>
            </a:extLst>
          </p:cNvPr>
          <p:cNvSpPr txBox="1"/>
          <p:nvPr/>
        </p:nvSpPr>
        <p:spPr>
          <a:xfrm>
            <a:off x="4176801" y="3887531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 item list</a:t>
            </a:r>
            <a:endParaRPr lang="ko-KR" altLang="en-US" sz="1100" dirty="0"/>
          </a:p>
        </p:txBody>
      </p:sp>
      <p:sp>
        <p:nvSpPr>
          <p:cNvPr id="83" name="Rectangle 15">
            <a:extLst>
              <a:ext uri="{FF2B5EF4-FFF2-40B4-BE49-F238E27FC236}">
                <a16:creationId xmlns:a16="http://schemas.microsoft.com/office/drawing/2014/main" id="{D5EE1D6B-A89B-5534-92DD-F06A0DE3FFEC}"/>
              </a:ext>
            </a:extLst>
          </p:cNvPr>
          <p:cNvSpPr/>
          <p:nvPr/>
        </p:nvSpPr>
        <p:spPr>
          <a:xfrm>
            <a:off x="5741232" y="3433427"/>
            <a:ext cx="276884" cy="273465"/>
          </a:xfrm>
          <a:prstGeom prst="rect">
            <a:avLst/>
          </a:prstGeom>
          <a:solidFill>
            <a:srgbClr val="FFC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C5544EB-0CA6-93F0-631C-93462EF0A7CF}"/>
              </a:ext>
            </a:extLst>
          </p:cNvPr>
          <p:cNvSpPr txBox="1"/>
          <p:nvPr/>
        </p:nvSpPr>
        <p:spPr>
          <a:xfrm>
            <a:off x="6394937" y="3429000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74787041-A1BC-FB7B-E13C-0650CF8A9124}"/>
              </a:ext>
            </a:extLst>
          </p:cNvPr>
          <p:cNvSpPr/>
          <p:nvPr/>
        </p:nvSpPr>
        <p:spPr>
          <a:xfrm>
            <a:off x="7209692" y="3429000"/>
            <a:ext cx="1090246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2F8E354C-B34C-CA0B-6BC2-A4DE7570D631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6122921" y="3559805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DA99E8DD-3DD6-A811-6936-A06ACB02B833}"/>
              </a:ext>
            </a:extLst>
          </p:cNvPr>
          <p:cNvCxnSpPr>
            <a:cxnSpLocks/>
          </p:cNvCxnSpPr>
          <p:nvPr/>
        </p:nvCxnSpPr>
        <p:spPr>
          <a:xfrm>
            <a:off x="8438228" y="3571658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97440BDC-2D53-8E74-2076-500AA35A95F8}"/>
              </a:ext>
            </a:extLst>
          </p:cNvPr>
          <p:cNvSpPr txBox="1"/>
          <p:nvPr/>
        </p:nvSpPr>
        <p:spPr>
          <a:xfrm>
            <a:off x="8299938" y="3756726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Flush / commit</a:t>
            </a:r>
            <a:endParaRPr lang="ko-KR" altLang="en-US" sz="1100" dirty="0"/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16C86778-9CB2-9FB3-43C1-C45C08E46292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D134578-8030-49F1-51B9-DABA11F11E2B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98942E7-7F97-DB99-C893-77D7018A3A4F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3" name="Rectangle 6">
            <a:extLst>
              <a:ext uri="{FF2B5EF4-FFF2-40B4-BE49-F238E27FC236}">
                <a16:creationId xmlns:a16="http://schemas.microsoft.com/office/drawing/2014/main" id="{EB80EF2D-B6FE-AA47-1BB3-47DC3FDAD43C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72070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C6BE-A908-25FE-327C-FC2C9F7E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1E6AC08D-1552-323F-C86E-3D8291F6D87F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7BFB73E-D45A-FAA1-4058-E8A6BE4D7705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07EA1BBB-C706-C5D7-085A-04F9DB98944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1B33E0C9-674E-3F41-6C69-5DBB45A47D8C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30CDA5E1-4CCF-CD7E-9F83-443588740A3B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473F2612-60E9-A8AD-84E6-F723CCFDD7AB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6F2DE2CE-089B-4D59-9305-D113B4BB1AB5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7B747BE5-E7B3-1715-4D1A-88E9A71C9D1B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F5498938-B8D1-1BC0-4B94-BE367B800DA2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84D28EEA-51A7-07C4-85A3-50AB470992D7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B93C3054-544A-F015-BFA6-65AF7E0D6F8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CCB94271-FE3B-4A6B-1306-46FA9D3DEF96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EE9366FE-7D4C-29B1-0CC3-C42A6EF90301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CCDA8AC-CB97-B678-2624-946CA444AC10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E0B17E-A102-4A77-CED6-6E7DD3AE48DB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89DF3756-E73B-D6A1-E4D8-8905C4CFA22D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EFF38A01-530E-6435-1A38-7485491A2D60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B0C605BF-9E00-7210-7A4D-2151C833D91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DAC5B16-A1AB-1C4A-E881-02C9E835DFCB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D0981041-3FAD-68F1-ED55-9E93296AD593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3F4350F7-FCB5-713E-12E9-989B2AFEE10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5A92C11E-8D4C-75FB-0B28-5DF49065AEF6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58065AD-5B6E-02F7-86FB-7F379C58F25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68FB120F-9E06-D6AF-0E78-66BFB39CD7C8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EDAE4AE3-EA6D-A9F9-D54A-BB1893024F0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017C7DAF-EA7A-3CAA-F5BF-2AC4ED90718C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46A7C0F7-6AB3-238E-D20A-D2E905FED833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23920FA4-79E2-C059-6F13-C85C0752BA0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3F807477-EB85-43B5-803F-A414CA556CFA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535C1BF0-1E52-2D75-729F-06B38A0A0D57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722DFE0D-C56A-7726-E1ED-3458E07FC262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A5D10A97-1299-6661-CFD9-CEB625D5698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029029F-149B-22A9-9A88-4CCE2A34F3C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3A8A114E-C8FC-45BB-2F4D-BF65AE1F144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34B0B5F5-87AD-5A57-58D4-0BD938CA487E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183F70E-9424-F3EC-5AB2-65D65BE58638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E26358CC-7700-FB8C-71C4-E507B4F445E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9272A3BD-838E-CD1D-D9E1-DF00AE1D48D6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35273679-B9AB-9409-B006-D8FBC931300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FFF3EE68-2DDD-D63C-DF9B-8FC383D3E71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0880DE29-6813-2CC1-BDCA-32C266F133D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F0A8E76C-F269-09A9-98A5-276F90120FBF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EA6844B0-0D77-4A38-C18F-EC27ED26EC4A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8CC58AC7-B549-F3B1-6473-A6E3AD3E8792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7AD6E211-FE3C-1627-2F9D-C5EEB20F2D7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FEAB4778-227B-0FE0-EEB6-D1E0997B886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BF90523C-690E-EFB0-6D87-44D75A1EFFA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6DA20DF6-72E4-B962-F1B1-77AE97A3077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107D4790-7A42-9A63-7685-91CECE3FCF59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27C95492-957C-8865-AD32-30821306C03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F9DA6C9E-D642-E3FA-CEE0-7CFA09A8062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C5E7A538-03B1-07EB-2460-2BD513D0AF65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7FA8E0D-1CD4-C1C8-D9E9-42B27A1A5451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F9B0AED7-B2DC-97F9-07C1-8BB104E2FE84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2BE70248-D4CA-E375-12C9-12DD37D9C5D4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38FA5C70-BB2E-6AEE-EB58-C79BE6E10567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EA5ECCA9-5A0D-BF10-818C-96EE85D8D00D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16DCE0BC-39B4-7485-82DE-FAA1E84A3086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DDBC6855-8485-917D-4F68-20B282EBA3D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B6FF9250-EE78-6250-DB61-18224E89126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41144C9D-BD67-C828-AAE5-81D0DA3DA299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053E4FCC-2D94-412D-B25B-23AC8F9DD879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0658736A-4942-D3A8-8B30-553B1BD8230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3BD29A81-8C0B-BF96-B9A5-DF2848AF2B3B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734E3BE1-9D52-22F0-CCDE-70B2EF431581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2E64B49D-9D99-4F03-A9C4-F3331A2B16CB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283198ED-8B6B-28DB-093A-68A205A9490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C45C7A64-4D80-FDCD-00A4-77977C2A9826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9C7A784B-A5AB-586D-2FD2-25545062088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574ACB7D-FCAC-6A36-CC9A-E5B9223A23E0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7BEEED83-86F6-A387-8A73-C2D41F7253D1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A3ECB2-5B5C-FA39-E1A5-BCED278145EA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F9CB6DBD-6716-713B-FEB8-5E5A45ED0C58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F6240CB6-A39F-4003-B352-716E53D0DC3D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BD96CA-B786-A2BB-C5A9-55AE9E4CC717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9668FB-6BC0-9C50-0A18-2D523C762B83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079E4026-E977-349A-2356-A68585EFE725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9D52E3C-7EDA-D88E-476E-62081F6DB46F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95B69D-1BF0-1774-8D4D-3D655439D69D}"/>
              </a:ext>
            </a:extLst>
          </p:cNvPr>
          <p:cNvSpPr txBox="1"/>
          <p:nvPr/>
        </p:nvSpPr>
        <p:spPr>
          <a:xfrm>
            <a:off x="2822786" y="2115830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0B53943-23C3-B3CB-736D-CA196B02FE3B}"/>
              </a:ext>
            </a:extLst>
          </p:cNvPr>
          <p:cNvCxnSpPr>
            <a:cxnSpLocks/>
          </p:cNvCxnSpPr>
          <p:nvPr/>
        </p:nvCxnSpPr>
        <p:spPr>
          <a:xfrm>
            <a:off x="3178547" y="2370994"/>
            <a:ext cx="0" cy="948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15">
            <a:extLst>
              <a:ext uri="{FF2B5EF4-FFF2-40B4-BE49-F238E27FC236}">
                <a16:creationId xmlns:a16="http://schemas.microsoft.com/office/drawing/2014/main" id="{E75B9274-FD65-3A3A-3397-B14F1D5EA8BA}"/>
              </a:ext>
            </a:extLst>
          </p:cNvPr>
          <p:cNvSpPr/>
          <p:nvPr/>
        </p:nvSpPr>
        <p:spPr>
          <a:xfrm>
            <a:off x="5038448" y="3881604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0B65ECC-D4F2-AAC5-CAD0-D0645456EDAB}"/>
              </a:ext>
            </a:extLst>
          </p:cNvPr>
          <p:cNvSpPr txBox="1"/>
          <p:nvPr/>
        </p:nvSpPr>
        <p:spPr>
          <a:xfrm>
            <a:off x="4176801" y="3887531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A72E1505-44EE-1C97-36A5-9C2AAC76F404}"/>
              </a:ext>
            </a:extLst>
          </p:cNvPr>
          <p:cNvSpPr/>
          <p:nvPr/>
        </p:nvSpPr>
        <p:spPr>
          <a:xfrm>
            <a:off x="5389840" y="3875676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15">
            <a:extLst>
              <a:ext uri="{FF2B5EF4-FFF2-40B4-BE49-F238E27FC236}">
                <a16:creationId xmlns:a16="http://schemas.microsoft.com/office/drawing/2014/main" id="{AF0BCDDE-223D-4FD4-3911-74AE09C630B3}"/>
              </a:ext>
            </a:extLst>
          </p:cNvPr>
          <p:cNvSpPr/>
          <p:nvPr/>
        </p:nvSpPr>
        <p:spPr>
          <a:xfrm>
            <a:off x="5739121" y="3875676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DC7E2A6E-2D51-5C17-DF9E-D8032FB390BD}"/>
              </a:ext>
            </a:extLst>
          </p:cNvPr>
          <p:cNvSpPr/>
          <p:nvPr/>
        </p:nvSpPr>
        <p:spPr>
          <a:xfrm>
            <a:off x="6088402" y="3875676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15">
            <a:extLst>
              <a:ext uri="{FF2B5EF4-FFF2-40B4-BE49-F238E27FC236}">
                <a16:creationId xmlns:a16="http://schemas.microsoft.com/office/drawing/2014/main" id="{60325E44-0A8B-A591-4181-3EB20AD87072}"/>
              </a:ext>
            </a:extLst>
          </p:cNvPr>
          <p:cNvSpPr/>
          <p:nvPr/>
        </p:nvSpPr>
        <p:spPr>
          <a:xfrm>
            <a:off x="6437683" y="3875675"/>
            <a:ext cx="276884" cy="273465"/>
          </a:xfrm>
          <a:prstGeom prst="rect">
            <a:avLst/>
          </a:prstGeom>
          <a:solidFill>
            <a:srgbClr val="00B05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19C87E1-2BCF-33C5-2818-AD72B2C4B828}"/>
              </a:ext>
            </a:extLst>
          </p:cNvPr>
          <p:cNvSpPr txBox="1"/>
          <p:nvPr/>
        </p:nvSpPr>
        <p:spPr>
          <a:xfrm>
            <a:off x="7039582" y="3896323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102" name="Rectangle 15">
            <a:extLst>
              <a:ext uri="{FF2B5EF4-FFF2-40B4-BE49-F238E27FC236}">
                <a16:creationId xmlns:a16="http://schemas.microsoft.com/office/drawing/2014/main" id="{1B50BFAD-8B6A-3FF4-8E46-1F1B7AC3D893}"/>
              </a:ext>
            </a:extLst>
          </p:cNvPr>
          <p:cNvSpPr/>
          <p:nvPr/>
        </p:nvSpPr>
        <p:spPr>
          <a:xfrm>
            <a:off x="7854337" y="3896323"/>
            <a:ext cx="1090246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ADB45307-E186-E1E6-54A6-124CC4678EE5}"/>
              </a:ext>
            </a:extLst>
          </p:cNvPr>
          <p:cNvCxnSpPr>
            <a:cxnSpLocks/>
            <a:endCxn id="100" idx="1"/>
          </p:cNvCxnSpPr>
          <p:nvPr/>
        </p:nvCxnSpPr>
        <p:spPr>
          <a:xfrm>
            <a:off x="6767566" y="4027128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C35F89B-3385-1D52-783E-81EDB7AAF5CF}"/>
              </a:ext>
            </a:extLst>
          </p:cNvPr>
          <p:cNvCxnSpPr>
            <a:cxnSpLocks/>
          </p:cNvCxnSpPr>
          <p:nvPr/>
        </p:nvCxnSpPr>
        <p:spPr>
          <a:xfrm>
            <a:off x="9082873" y="4038981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D16AA36-FBBC-A015-6DC8-66B664DBEC96}"/>
              </a:ext>
            </a:extLst>
          </p:cNvPr>
          <p:cNvSpPr txBox="1"/>
          <p:nvPr/>
        </p:nvSpPr>
        <p:spPr>
          <a:xfrm>
            <a:off x="8944583" y="4224049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Flush / commit</a:t>
            </a:r>
            <a:endParaRPr lang="ko-KR" altLang="en-US" sz="1100" dirty="0"/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8F222984-1251-60E7-B170-DE71BF39773E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E3813E-79EA-361D-DB76-4409A5ADC803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AF0569C-DEE6-6096-0957-DEBC446F5C9B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9" name="Rectangle 6">
            <a:extLst>
              <a:ext uri="{FF2B5EF4-FFF2-40B4-BE49-F238E27FC236}">
                <a16:creationId xmlns:a16="http://schemas.microsoft.com/office/drawing/2014/main" id="{E32DD548-90FE-ACD2-1111-859461B62A48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5681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복제에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쓰이는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LSA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(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소스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확인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)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lang="ko-KR" altLang="en-US" sz="1650" b="1" dirty="0">
                <a:solidFill>
                  <a:srgbClr val="122A42"/>
                </a:solidFill>
                <a:latin typeface="맑은 고딕"/>
              </a:rPr>
              <a:t>사실</a:t>
            </a:r>
            <a:r>
              <a:rPr lang="en-US" altLang="ko-KR" sz="1650" b="1" dirty="0">
                <a:solidFill>
                  <a:srgbClr val="122A42"/>
                </a:solidFill>
                <a:latin typeface="맑은 고딕"/>
              </a:rPr>
              <a:t>...</a:t>
            </a:r>
            <a:r>
              <a:rPr lang="ko-KR" altLang="en-US" sz="1650" b="1" dirty="0">
                <a:solidFill>
                  <a:srgbClr val="122A42"/>
                </a:solidFill>
                <a:latin typeface="맑은 고딕"/>
              </a:rPr>
              <a:t> 많은데요</a:t>
            </a:r>
            <a:r>
              <a:rPr lang="en-US" altLang="ko-KR" sz="1650" b="1" dirty="0">
                <a:solidFill>
                  <a:srgbClr val="122A42"/>
                </a:solidFill>
                <a:latin typeface="맑은 고딕"/>
              </a:rPr>
              <a:t>…(</a:t>
            </a:r>
            <a:r>
              <a:rPr lang="ko-KR" altLang="en-US" sz="1650" b="1" dirty="0">
                <a:solidFill>
                  <a:srgbClr val="122A42"/>
                </a:solidFill>
                <a:latin typeface="맑은 고딕"/>
              </a:rPr>
              <a:t>오늘은 컨셉 설명이라 간단히 봐도 될 </a:t>
            </a:r>
            <a:r>
              <a:rPr lang="ko-KR" altLang="en-US" sz="1650" b="1" dirty="0" err="1">
                <a:solidFill>
                  <a:srgbClr val="122A42"/>
                </a:solidFill>
                <a:latin typeface="맑은 고딕"/>
              </a:rPr>
              <a:t>것같아요</a:t>
            </a:r>
            <a:r>
              <a:rPr lang="en-US" altLang="ko-KR" sz="1650" b="1" dirty="0">
                <a:solidFill>
                  <a:srgbClr val="122A42"/>
                </a:solidFill>
                <a:latin typeface="맑은 고딕"/>
              </a:rPr>
              <a:t>…)</a:t>
            </a:r>
            <a:endParaRPr sz="165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9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4</a:t>
            </a:r>
          </a:p>
        </p:txBody>
      </p:sp>
      <p:sp>
        <p:nvSpPr>
          <p:cNvPr id="10" name="t"/>
          <p:cNvSpPr txBox="1"/>
          <p:nvPr/>
        </p:nvSpPr>
        <p:spPr>
          <a:xfrm>
            <a:off x="600000" y="1580000"/>
            <a:ext cx="5500000" cy="3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F6F8B"/>
                </a:solidFill>
                <a:latin typeface="맑은 고딕"/>
              </a:rPr>
              <a:t>■ 진도 LSA (apply_info)</a:t>
            </a:r>
          </a:p>
        </p:txBody>
      </p:sp>
      <p:sp>
        <p:nvSpPr>
          <p:cNvPr id="11" name="r"/>
          <p:cNvSpPr/>
          <p:nvPr/>
        </p:nvSpPr>
        <p:spPr>
          <a:xfrm>
            <a:off x="600000" y="1980000"/>
            <a:ext cx="55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690000" y="19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122A42"/>
                </a:solidFill>
                <a:latin typeface="Consolas"/>
              </a:rPr>
              <a:t>final_lsa</a:t>
            </a:r>
          </a:p>
        </p:txBody>
      </p:sp>
      <p:sp>
        <p:nvSpPr>
          <p:cNvPr id="13" name="t"/>
          <p:cNvSpPr txBox="1"/>
          <p:nvPr/>
        </p:nvSpPr>
        <p:spPr>
          <a:xfrm>
            <a:off x="3070000" y="19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읽기 head (마지막 처리 위치)</a:t>
            </a:r>
          </a:p>
        </p:txBody>
      </p:sp>
      <p:sp>
        <p:nvSpPr>
          <p:cNvPr id="14" name="r"/>
          <p:cNvSpPr/>
          <p:nvPr/>
        </p:nvSpPr>
        <p:spPr>
          <a:xfrm>
            <a:off x="600000" y="2580000"/>
            <a:ext cx="550000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690000" y="25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E87A2B"/>
                </a:solidFill>
                <a:latin typeface="Consolas"/>
              </a:rPr>
              <a:t>committed_lsa</a:t>
            </a:r>
          </a:p>
        </p:txBody>
      </p:sp>
      <p:sp>
        <p:nvSpPr>
          <p:cNvPr id="16" name="t"/>
          <p:cNvSpPr txBox="1"/>
          <p:nvPr/>
        </p:nvSpPr>
        <p:spPr>
          <a:xfrm>
            <a:off x="3070000" y="25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마지막 적용 LOG_COMMIT — commit 순서 좌표·재시작 앵커</a:t>
            </a:r>
          </a:p>
        </p:txBody>
      </p:sp>
      <p:sp>
        <p:nvSpPr>
          <p:cNvPr id="17" name="r"/>
          <p:cNvSpPr/>
          <p:nvPr/>
        </p:nvSpPr>
        <p:spPr>
          <a:xfrm>
            <a:off x="600000" y="3180000"/>
            <a:ext cx="55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690000" y="31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122A42"/>
                </a:solidFill>
                <a:latin typeface="Consolas"/>
              </a:rPr>
              <a:t>committed_rep_lsa</a:t>
            </a:r>
          </a:p>
        </p:txBody>
      </p:sp>
      <p:sp>
        <p:nvSpPr>
          <p:cNvPr id="19" name="t"/>
          <p:cNvSpPr txBox="1"/>
          <p:nvPr/>
        </p:nvSpPr>
        <p:spPr>
          <a:xfrm>
            <a:off x="3070000" y="31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마지막 적용 데이터(repl) 레코드</a:t>
            </a:r>
          </a:p>
        </p:txBody>
      </p:sp>
      <p:sp>
        <p:nvSpPr>
          <p:cNvPr id="20" name="r"/>
          <p:cNvSpPr/>
          <p:nvPr/>
        </p:nvSpPr>
        <p:spPr>
          <a:xfrm>
            <a:off x="600000" y="3780000"/>
            <a:ext cx="550000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690000" y="37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122A42"/>
                </a:solidFill>
                <a:latin typeface="Consolas"/>
              </a:rPr>
              <a:t>last_committed_*lsa</a:t>
            </a:r>
          </a:p>
        </p:txBody>
      </p:sp>
      <p:sp>
        <p:nvSpPr>
          <p:cNvPr id="22" name="t"/>
          <p:cNvSpPr txBox="1"/>
          <p:nvPr/>
        </p:nvSpPr>
        <p:spPr>
          <a:xfrm>
            <a:off x="3070000" y="37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기동 시점 baseline (재시작 skip)</a:t>
            </a:r>
          </a:p>
        </p:txBody>
      </p:sp>
      <p:sp>
        <p:nvSpPr>
          <p:cNvPr id="23" name="r"/>
          <p:cNvSpPr/>
          <p:nvPr/>
        </p:nvSpPr>
        <p:spPr>
          <a:xfrm>
            <a:off x="600000" y="4380000"/>
            <a:ext cx="55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"/>
          <p:cNvSpPr txBox="1"/>
          <p:nvPr/>
        </p:nvSpPr>
        <p:spPr>
          <a:xfrm>
            <a:off x="690000" y="43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E87A2B"/>
                </a:solidFill>
                <a:latin typeface="Consolas"/>
              </a:rPr>
              <a:t>required_lsa</a:t>
            </a:r>
          </a:p>
        </p:txBody>
      </p:sp>
      <p:sp>
        <p:nvSpPr>
          <p:cNvPr id="25" name="t"/>
          <p:cNvSpPr txBox="1"/>
          <p:nvPr/>
        </p:nvSpPr>
        <p:spPr>
          <a:xfrm>
            <a:off x="3070000" y="43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LWM — 가장 오래된 미완 tx 의 start</a:t>
            </a:r>
          </a:p>
        </p:txBody>
      </p:sp>
      <p:sp>
        <p:nvSpPr>
          <p:cNvPr id="26" name="r"/>
          <p:cNvSpPr/>
          <p:nvPr/>
        </p:nvSpPr>
        <p:spPr>
          <a:xfrm>
            <a:off x="600000" y="4980000"/>
            <a:ext cx="550000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/>
          <p:cNvSpPr txBox="1"/>
          <p:nvPr/>
        </p:nvSpPr>
        <p:spPr>
          <a:xfrm>
            <a:off x="690000" y="4980000"/>
            <a:ext cx="23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8A939E"/>
                </a:solidFill>
                <a:latin typeface="Consolas"/>
              </a:rPr>
              <a:t>append_lsa / eof_lsa</a:t>
            </a:r>
          </a:p>
        </p:txBody>
      </p:sp>
      <p:sp>
        <p:nvSpPr>
          <p:cNvPr id="28" name="t"/>
          <p:cNvSpPr txBox="1"/>
          <p:nvPr/>
        </p:nvSpPr>
        <p:spPr>
          <a:xfrm>
            <a:off x="3070000" y="4980000"/>
            <a:ext cx="29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>
                <a:solidFill>
                  <a:srgbClr val="444B54"/>
                </a:solidFill>
                <a:latin typeface="맑은 고딕"/>
              </a:rPr>
              <a:t>master 로그 끝 (lag 계산 참고)</a:t>
            </a:r>
          </a:p>
        </p:txBody>
      </p:sp>
      <p:sp>
        <p:nvSpPr>
          <p:cNvPr id="29" name="t"/>
          <p:cNvSpPr txBox="1"/>
          <p:nvPr/>
        </p:nvSpPr>
        <p:spPr>
          <a:xfrm>
            <a:off x="6320000" y="1580000"/>
            <a:ext cx="5300000" cy="3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F6F8B"/>
                </a:solidFill>
                <a:latin typeface="맑은 고딕"/>
              </a:rPr>
              <a:t>■ tx · item 단위 LSA</a:t>
            </a:r>
          </a:p>
        </p:txBody>
      </p:sp>
      <p:sp>
        <p:nvSpPr>
          <p:cNvPr id="30" name="r"/>
          <p:cNvSpPr/>
          <p:nvPr/>
        </p:nvSpPr>
        <p:spPr>
          <a:xfrm>
            <a:off x="6320000" y="1980000"/>
            <a:ext cx="53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"/>
          <p:cNvSpPr txBox="1"/>
          <p:nvPr/>
        </p:nvSpPr>
        <p:spPr>
          <a:xfrm>
            <a:off x="6410000" y="1980000"/>
            <a:ext cx="24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start_lsa / last_lsa</a:t>
            </a:r>
          </a:p>
        </p:txBody>
      </p:sp>
      <p:sp>
        <p:nvSpPr>
          <p:cNvPr id="32" name="t"/>
          <p:cNvSpPr txBox="1"/>
          <p:nvPr/>
        </p:nvSpPr>
        <p:spPr>
          <a:xfrm>
            <a:off x="8890000" y="1980000"/>
            <a:ext cx="26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트랜잭션 첫·마지막 repl 위치</a:t>
            </a:r>
          </a:p>
        </p:txBody>
      </p:sp>
      <p:sp>
        <p:nvSpPr>
          <p:cNvPr id="33" name="r"/>
          <p:cNvSpPr/>
          <p:nvPr/>
        </p:nvSpPr>
        <p:spPr>
          <a:xfrm>
            <a:off x="6320000" y="2580000"/>
            <a:ext cx="530000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/>
          <p:cNvSpPr txBox="1"/>
          <p:nvPr/>
        </p:nvSpPr>
        <p:spPr>
          <a:xfrm>
            <a:off x="6410000" y="2580000"/>
            <a:ext cx="24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target_lsa / log_lsa</a:t>
            </a:r>
          </a:p>
        </p:txBody>
      </p:sp>
      <p:sp>
        <p:nvSpPr>
          <p:cNvPr id="35" name="t"/>
          <p:cNvSpPr txBox="1"/>
          <p:nvPr/>
        </p:nvSpPr>
        <p:spPr>
          <a:xfrm>
            <a:off x="8890000" y="2580000"/>
            <a:ext cx="26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item · LOG_COMMIT 레코드 위치</a:t>
            </a:r>
          </a:p>
        </p:txBody>
      </p:sp>
      <p:sp>
        <p:nvSpPr>
          <p:cNvPr id="36" name="r"/>
          <p:cNvSpPr/>
          <p:nvPr/>
        </p:nvSpPr>
        <p:spPr>
          <a:xfrm>
            <a:off x="6320000" y="3180000"/>
            <a:ext cx="53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"/>
          <p:cNvSpPr txBox="1"/>
          <p:nvPr/>
        </p:nvSpPr>
        <p:spPr>
          <a:xfrm>
            <a:off x="6410000" y="3180000"/>
            <a:ext cx="24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80" b="1">
                <a:solidFill>
                  <a:srgbClr val="E87A2B"/>
                </a:solidFill>
                <a:latin typeface="Consolas"/>
              </a:rPr>
              <a:t>LOG_REPL_RECORD.lsa</a:t>
            </a:r>
          </a:p>
        </p:txBody>
      </p:sp>
      <p:sp>
        <p:nvSpPr>
          <p:cNvPr id="38" name="t"/>
          <p:cNvSpPr txBox="1"/>
          <p:nvPr/>
        </p:nvSpPr>
        <p:spPr>
          <a:xfrm>
            <a:off x="8890000" y="3180000"/>
            <a:ext cx="26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원본 DML log LSA — commit 아님! (함정)</a:t>
            </a:r>
          </a:p>
        </p:txBody>
      </p:sp>
      <p:sp>
        <p:nvSpPr>
          <p:cNvPr id="39" name="r"/>
          <p:cNvSpPr/>
          <p:nvPr/>
        </p:nvSpPr>
        <p:spPr>
          <a:xfrm>
            <a:off x="6320000" y="3780000"/>
            <a:ext cx="5300000" cy="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"/>
          <p:cNvSpPr txBox="1"/>
          <p:nvPr/>
        </p:nvSpPr>
        <p:spPr>
          <a:xfrm>
            <a:off x="6410000" y="3780000"/>
            <a:ext cx="24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80" b="1">
                <a:solidFill>
                  <a:srgbClr val="8A939E"/>
                </a:solidFill>
                <a:latin typeface="Consolas"/>
              </a:rPr>
              <a:t>LOG_REC_REPLICATION.lsa</a:t>
            </a:r>
          </a:p>
        </p:txBody>
      </p:sp>
      <p:sp>
        <p:nvSpPr>
          <p:cNvPr id="41" name="t"/>
          <p:cNvSpPr txBox="1"/>
          <p:nvPr/>
        </p:nvSpPr>
        <p:spPr>
          <a:xfrm>
            <a:off x="8890000" y="3780000"/>
            <a:ext cx="26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디스크 헤더 target lsa</a:t>
            </a:r>
          </a:p>
        </p:txBody>
      </p:sp>
      <p:sp>
        <p:nvSpPr>
          <p:cNvPr id="42" name="r"/>
          <p:cNvSpPr/>
          <p:nvPr/>
        </p:nvSpPr>
        <p:spPr>
          <a:xfrm>
            <a:off x="6320000" y="4380000"/>
            <a:ext cx="5300000" cy="56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"/>
          <p:cNvSpPr txBox="1"/>
          <p:nvPr/>
        </p:nvSpPr>
        <p:spPr>
          <a:xfrm>
            <a:off x="6410000" y="4380000"/>
            <a:ext cx="24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80" b="1">
                <a:solidFill>
                  <a:srgbClr val="8A939E"/>
                </a:solidFill>
                <a:latin typeface="Consolas"/>
              </a:rPr>
              <a:t>repl_insert/update_lsa</a:t>
            </a:r>
          </a:p>
        </p:txBody>
      </p:sp>
      <p:sp>
        <p:nvSpPr>
          <p:cNvPr id="44" name="t"/>
          <p:cNvSpPr txBox="1"/>
          <p:nvPr/>
        </p:nvSpPr>
        <p:spPr>
          <a:xfrm>
            <a:off x="8890000" y="4380000"/>
            <a:ext cx="265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tdes 의 DML target lsa</a:t>
            </a:r>
          </a:p>
        </p:txBody>
      </p:sp>
      <p:sp>
        <p:nvSpPr>
          <p:cNvPr id="45" name="t"/>
          <p:cNvSpPr txBox="1"/>
          <p:nvPr/>
        </p:nvSpPr>
        <p:spPr>
          <a:xfrm>
            <a:off x="6320000" y="5010000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→ 이번 설계가 쓰는 핵심은 </a:t>
            </a:r>
            <a:r>
              <a:rPr sz="1100" b="1">
                <a:solidFill>
                  <a:srgbClr val="E87A2B"/>
                </a:solidFill>
                <a:latin typeface="맑은 고딕"/>
              </a:rPr>
              <a:t>committed_lsa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(commit 좌표·재시작 앵커)와 </a:t>
            </a:r>
            <a:r>
              <a:rPr sz="1100" b="1">
                <a:solidFill>
                  <a:srgbClr val="E87A2B"/>
                </a:solidFill>
                <a:latin typeface="맑은 고딕"/>
              </a:rPr>
              <a:t>required_lsa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(LWM) 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PoC 구조와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LogReader + 워커 풀 구조와 병렬화 가능성 검증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4-1. PoC의 모듈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dirty="0" err="1">
                <a:solidFill>
                  <a:srgbClr val="122A42"/>
                </a:solidFill>
                <a:latin typeface="맑은 고딕"/>
              </a:rPr>
              <a:t>단일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700" b="1" dirty="0" err="1">
                <a:solidFill>
                  <a:srgbClr val="122A42"/>
                </a:solidFill>
                <a:latin typeface="맑은 고딕"/>
              </a:rPr>
              <a:t>처리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(AS-IS) → </a:t>
            </a:r>
            <a:r>
              <a:rPr sz="2700" b="1" dirty="0" err="1">
                <a:solidFill>
                  <a:srgbClr val="122A42"/>
                </a:solidFill>
                <a:latin typeface="맑은 고딕"/>
              </a:rPr>
              <a:t>LogReader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 + </a:t>
            </a:r>
            <a:r>
              <a:rPr sz="2700" b="1" dirty="0" err="1">
                <a:solidFill>
                  <a:srgbClr val="122A42"/>
                </a:solidFill>
                <a:latin typeface="맑은 고딕"/>
              </a:rPr>
              <a:t>워커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700" b="1" dirty="0" err="1">
                <a:solidFill>
                  <a:srgbClr val="122A42"/>
                </a:solidFill>
                <a:latin typeface="맑은 고딕"/>
              </a:rPr>
              <a:t>풀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(TO-BE)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A939E"/>
                </a:solidFill>
                <a:latin typeface="맑은 고딕"/>
              </a:rPr>
              <a:t>develop (AS-IS)</a:t>
            </a:r>
          </a:p>
        </p:txBody>
      </p:sp>
      <p:pic>
        <p:nvPicPr>
          <p:cNvPr id="11" name="Picture 10" descr="poc_asis_deve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66344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단일 프로세스가 읽기·적용·
commit·진도 갱신을 직렬 수행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F6F8B"/>
                </a:solidFill>
                <a:latin typeface="맑은 고딕"/>
              </a:rPr>
              <a:t>PoC (TO-BE)</a:t>
            </a:r>
          </a:p>
        </p:txBody>
      </p:sp>
      <p:pic>
        <p:nvPicPr>
          <p:cNvPr id="14" name="Picture 13" descr="poc_tobe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828800"/>
            <a:ext cx="5136204" cy="3017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39" y="4846320"/>
            <a:ext cx="7955279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● LogReader = 읽기·분배·순서 정리 / ApplyWorker = 병렬 적용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LogReader: 로그를 읽어 LA_ITEM·LA_APPLY 구성, commit 만나면 워커 큐에 enqueue, 결과를 commit LSA 순서로 정리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우리가 말하는 "코디네이터·순서 정리"는 새 모듈이 아니라 LogReader 가 이미 가진 책임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BAA9-6B42-9454-454D-49F0537C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FD7E9F45-D957-93E1-2878-8035AA1B7768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11C43D2-9F70-74B1-9AD5-71291DBC9FD4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26900CBC-1126-19DC-2409-12331FE963DD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9A68D3BD-C8C5-2CEB-0A1E-F7C92E30EC6A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DB253B20-3FE6-4DC4-2495-C3AC4977E73A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9FB8EB1A-89AE-1925-CD75-0F7C000DF9DF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C69EC705-BE08-3A73-DFCF-CE1CA7E14DA6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AEE85E2C-3A02-19F6-18DE-2885E8932206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AAD10BF1-1BFE-762D-3B8C-8A16FCE57D4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6C287B7F-F753-39AF-455C-83F030D6F357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D719CF34-9602-3081-2535-348229C3060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036AD177-544C-11BD-E4D6-3C0DC013E394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575BC9C7-9F6D-CE06-4AE8-03F0CCF907A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081A214B-F6B3-AD0F-CA85-EC42E0E9527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047A58-3033-E177-14E9-7F89AE38D40A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CC78F54F-D3F1-D336-DF29-B50E206A13E4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C5033CF4-3E2F-39CC-A0E1-F3BE5F04534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27283615-06AE-E266-A9AB-47122C4B00FD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FC6D3BD-B7C9-8800-E1AD-4D776F39CC3A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962F5E17-8D5F-CB93-0A3D-1F272692C012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C2E3F048-77DE-42C9-6FAD-BA00EAD2C901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CACFDB83-D7AC-A29E-7342-54E8EDADAC59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2D30593-77DE-7F70-82DE-BF14BD8C8957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421D84C0-0A1F-3431-1136-E2C04F52634C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00AD4A66-3A0A-95E2-5BC1-1CC92FD01C76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55C8BCCC-5077-FCC5-F6E0-DF9AE44557FE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D0C8F6CA-8B4B-8FD3-9946-FC4AE4B091BB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C162B5F8-8A2F-2FC6-E373-1B928ABFDB9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1D9BB08A-F3C2-C45D-0AB4-CF7A40CE15D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26FCCDC-373B-AC36-6A52-4AD24A988A9D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FEA617C9-E3B6-7D34-6393-3A6F148B6B0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DE43AEAD-BC8A-A3CF-41F3-DC1CFB4A555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945407A0-F723-E5F4-E277-5319D4B67DB5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FCD01E19-5CA5-953D-E07B-80AFB61B21E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95A8736B-8607-42DB-7D05-C226C9794337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3460BF0-BD91-1BF7-7991-E8AB6A82A184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1915D9B4-0598-F35C-25BC-5E454867F723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96059E77-D760-BD98-847D-B17B507E736F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6199F264-A706-4EF2-35DA-8BB4FFC04A30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4C6155FF-470F-FC34-97D8-D1B02B7E4BC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8324FD2B-1E24-D634-B626-47393783CA6F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9CB829BA-4D54-5DB2-08E9-A9EDA20270A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163CCE79-4A35-0EA5-F078-9F3E996E5A9E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A45A4723-E316-0531-9679-43C92ACF5347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D66A4F36-123A-0F9B-66F7-7816FA67CE7B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068BD312-33CC-5B13-2DE5-FF9B5E1E4D0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CE3BF00E-2C13-6834-F229-4DA26857A277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57812EC1-9E58-3558-3647-6D305AF61B8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EBED5DAA-2963-B723-903F-492FE75CF82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07808EF4-39B9-05D5-A5D2-2ED39C1CF22C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A7015169-83ED-19BC-134D-0E1203670057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DF4461E9-FAB8-A22E-28C0-6A4F3006D25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3F43B42-5EA7-5FA5-BA58-11CCCB3E6A5A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601854EC-4E13-DBC7-410C-2060E332AA2B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15F75815-C8EF-0654-1F69-A75A73D4CC91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ECDD2261-C343-8D6B-1F72-0EDF6408B72B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2B33A0E7-CECE-159C-3395-524F87570DC8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50918586-1C65-CCBB-DE60-C7E1F3A3377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1BD0D00D-A996-F994-52F9-4F1320F522FA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13948D40-A384-02F1-E1A2-FC8F6029406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90130E7B-80A8-6894-ABE4-46532F4D5E38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81E4384F-D48C-0398-EA5A-4976ADC5949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05DE8083-74A4-2E4C-A467-FC0946D136F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7DE5E38C-D0C5-3403-B93D-2FF0DD66CEF4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7C0521B4-7AE9-A82C-5509-BD3D0DE29606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A5B31262-F007-843E-007B-EFAC6DBF3EEE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EAFF06B1-9300-CF24-6BAA-FF57EDA402E9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EE6E3C17-AB88-301C-2B1D-5167ED998CF8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A4E0233D-2958-A960-B905-A32351AEA426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6B473100-AA68-0CC9-58B8-EFA3B68FCDBF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7912344B-25F5-41DC-5AEF-C69A719E5293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29E375-F237-B9E9-39B6-BA0108008AC0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A06D6E-3C60-B782-8688-7C02C4C8D214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6" name="Rectangle 6">
            <a:extLst>
              <a:ext uri="{FF2B5EF4-FFF2-40B4-BE49-F238E27FC236}">
                <a16:creationId xmlns:a16="http://schemas.microsoft.com/office/drawing/2014/main" id="{FC036CCC-790B-4693-0F38-72FEC942C102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3946CF3C-5EC8-AF8F-D2F4-A1541A527DE6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1992A6-D070-6F15-2CE8-EE0FC47A6CC2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410468-00FD-BD1D-38AC-457698C4ED45}"/>
              </a:ext>
            </a:extLst>
          </p:cNvPr>
          <p:cNvSpPr txBox="1"/>
          <p:nvPr/>
        </p:nvSpPr>
        <p:spPr>
          <a:xfrm>
            <a:off x="375759" y="2058934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F3A1823-B881-D3C3-5A0E-90A13E4731E4}"/>
              </a:ext>
            </a:extLst>
          </p:cNvPr>
          <p:cNvCxnSpPr>
            <a:cxnSpLocks/>
          </p:cNvCxnSpPr>
          <p:nvPr/>
        </p:nvCxnSpPr>
        <p:spPr>
          <a:xfrm>
            <a:off x="731520" y="2314098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88F62108-CC7B-A613-75F2-76B0C8F6916A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24D0AC71-E796-F46E-7BCA-0DAC1D4C8954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E128A4-6D37-8206-13EC-93CF12CB0357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212F98-C3CF-18CF-2C4B-57A1C43945C1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758D97A9-CDDA-D981-328C-B8D22198B96E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88B049-59C5-0191-55BA-845F49428D2A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737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2A60-57C4-7FCF-CA46-700521B4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43A4264-4996-B82C-EAAA-BA6F3BD3C8C8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2FED4A5-5D53-6D16-E5D7-54E6A43D6755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6590E26F-3C1F-254A-F808-A9F8EE7EE75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3A8603C8-2ADC-A67B-67DE-0FCE35D7D3B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8BAD4664-12A1-114A-00BA-78503E6C7905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0C4D1597-3C80-9C73-4C7A-7007A5459A5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68F07EC7-E735-DDDC-41A4-6D023198349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18976E9B-56BF-1BDC-DC56-A02F5CD94DE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F61A6199-CEC7-2D55-6C7F-DB38F230273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470E19FE-C5E1-C671-D244-C2DFFED2386A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12D1329B-A353-959D-B39A-94B74788445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68052A79-F671-4773-CF89-35D8CCA069FA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D4E79104-FE66-B588-B74B-2F8D347A4AA6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C2B33C83-92B4-08A5-4BC4-B87635BDAEF9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273478-731B-B895-96BA-E3DB20A4392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D598A4CB-A3D4-98FE-87C9-2158D9A6B21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DCBA7748-52D1-87D8-B3B8-CE41891D9767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0FAFEA3A-2D19-7ED1-2D5B-60E29377B652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619E57E-2E8F-FEA9-FF1B-40F76DA7489A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299F3239-9394-A73F-D652-2C105BD5088F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FB8E2C52-A2CF-2B7F-A237-CF581130AC36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F21BBEDC-C6DC-80A6-3BF0-E4FA6B85A08E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245F0CE2-780F-45B6-048E-23C34AD975C3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E55B023B-5D84-29B6-102E-25B4AA375022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692525AD-0533-8777-7B8A-A5ABB00A7D98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AD4C7593-C4B0-F216-A1B8-9CCF731C0473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8C785030-FB8A-01EF-887E-6973DA8EEA9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DDB326DC-4717-DA63-95D7-2524B13AC848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85478DD0-9355-55EF-B264-D82FED1FDE98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10A514A5-3A61-B2D2-1121-08CB188F930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40EBADAD-3437-6255-8F50-16141E37225D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D94568B2-49A3-1316-237B-891B8C2360C0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3CBAD44-0CBF-F443-2219-CFB859FED070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75614315-37F9-1CCA-CF62-291AAF62C273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C2065A6E-9C20-7667-C2ED-2D7BE7809E1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41B5CC5-F236-2478-C280-E5CE5EA503E1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716FF3D9-1553-4D6C-F57E-C12AF4F2189D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FEA30E81-5995-DDA7-D574-227A9DDDCA5B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C92E5BD9-539C-2D21-4CF9-49DA0C849AD5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E790EB61-B2F0-75B8-116B-0831BAC30682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1D78CD88-CCFC-A711-CBD2-F85A9239F3E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00E9F8C6-CAD3-F705-6141-46B64895BB1E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FC28AC3D-8150-860E-5892-484161D1CB59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B2B0BFCB-732A-C9A9-F332-1393060DEE83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307079DE-BEB0-82DA-C731-F4E81E173B77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028DF4FD-6F60-B3E7-10E1-24A01B6A5AA0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CC88E098-9320-3899-4671-079AAFBB247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8BB37D05-7515-B278-C1DD-0C9DC0CA9368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9131C8BB-4281-15D5-0B10-0C1C6335C26A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39986F35-D3B1-E1E2-DAD7-F1421B79601F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D116BDD6-D389-D1CE-2476-BAA100C70417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6E577714-5A30-D40F-52BE-493BBA7424DE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D9038AF-6869-919D-85D3-0A9DB391C6EE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BDA570F7-9772-D791-3A91-E788A13AE997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52B9EA50-7642-A1D2-A31C-88E2CFDA97E2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7B41EFED-93EB-29F8-5488-10414A855E0A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6438C28-459A-6FE9-7BA4-B587B489CC9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12AAB6EA-D3CD-21B5-1FB5-E43BBBFEF51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BB74F7CE-E253-0385-E7D4-08B57A497E5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ABDEAB7C-05AC-06E8-D4D3-FFEDDD9D2CD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C7568228-907A-9F1E-41CA-ECEC803614C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8A227406-13A3-9DD7-073A-1BDEEBF3B9A5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83CC502F-CCAA-2531-8EA4-C13B227F14EA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254FD4C5-5DF8-34F3-4E74-D5AC8E653FB1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60E56B74-B882-13DD-06CC-4EC08157497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B695C82F-0A5E-8D08-7CD4-471E31BFA43F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29AA93FB-8557-B298-8839-86386F7C7A05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67FDA03D-9A9D-FBB1-CEE2-1AC2BB3F7413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76391ECF-5E9C-D3C8-F17D-B21B11A4CD95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A9894A69-C0CD-ADC7-9F6A-76D0BF59C83C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4BC60DC7-D05B-8F00-F6D1-402E73D35BD6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D845AF-8A73-818F-0417-9A6332A644EF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D762E1-882C-A182-3EE8-9465773CBE8E}"/>
              </a:ext>
            </a:extLst>
          </p:cNvPr>
          <p:cNvSpPr txBox="1"/>
          <p:nvPr/>
        </p:nvSpPr>
        <p:spPr>
          <a:xfrm>
            <a:off x="731520" y="2058934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2AF1E16-3F8E-801C-AC40-25929DF93584}"/>
              </a:ext>
            </a:extLst>
          </p:cNvPr>
          <p:cNvCxnSpPr>
            <a:cxnSpLocks/>
          </p:cNvCxnSpPr>
          <p:nvPr/>
        </p:nvCxnSpPr>
        <p:spPr>
          <a:xfrm>
            <a:off x="1087281" y="2314098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B4514CAE-2D4A-A177-A728-8259FC8C6A81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D0519E4C-239C-C34A-577B-1A112E0D13B2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797613-C1EB-BD75-3339-88A7903B917C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D82463-A9C4-CD5A-0296-0DBC324BDF9A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58D65E86-020F-87DE-4C29-5E9396F3E7D5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C971ED4-FB62-0E2D-0D90-F7F173BC24F9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645B33-456D-9903-E37E-2AA03BFE3B53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417C5BBD-1D4B-0636-E1B0-A1632E14A0BF}"/>
              </a:ext>
            </a:extLst>
          </p:cNvPr>
          <p:cNvSpPr/>
          <p:nvPr/>
        </p:nvSpPr>
        <p:spPr>
          <a:xfrm>
            <a:off x="5038448" y="2896727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F5BB822B-E214-1695-A7A2-6909ED5B6590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EBA4F6F-3814-FF5E-1084-B2B861D30510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ABFB7BC-567A-4D07-174E-9428EF23FE4E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3" name="Rectangle 6">
            <a:extLst>
              <a:ext uri="{FF2B5EF4-FFF2-40B4-BE49-F238E27FC236}">
                <a16:creationId xmlns:a16="http://schemas.microsoft.com/office/drawing/2014/main" id="{E7FB5A24-EE30-67B2-DF56-2F1AFC56159A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29108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44A5-BD20-806F-45C6-56252E5A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0B89948-52A6-C4F1-866E-1ABC35CADD4E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DBAFAEF-5875-54F8-FE9E-73D7D4E97C19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FC5F5EFB-5FF5-9B55-2D0A-27F9EC69B69A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4901A917-7AE7-A176-7068-0CD0B9CA1ADE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41C53D1E-9712-C853-6010-8AE51B155B7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CB5463F1-53C9-A1DE-A494-D2880A23D71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5379FDEB-6A96-2D90-A11D-C2270BEB6E5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BA277AE4-DC86-7DCA-A53B-E77435002A6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F9033BD8-7F30-E7DD-F271-C154FF3D7DDF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2C674D34-4C08-0439-988A-53E2D665260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70C0394C-ABA5-8FB4-B9E2-4B1550429522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04759A00-50E3-E2EB-9BA4-F1656E19FC20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BBFE7A17-3C88-BEA8-0880-CCE864901AE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10D8957-C656-7B49-5705-53F6D656FC69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602C1C-1409-2687-47E7-607901702327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B3F15D7B-2021-7885-7175-B861209DE11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AB4BECB6-5C98-4806-2A45-4F7FA8315327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6F45C498-7778-41A1-AE1E-BFA1F8606157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3B2E4C-1DA2-934A-31E5-928DA57E1514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12E3662C-8F36-2CA7-0063-582989A73C07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D5E813D1-A972-0A2F-20D5-685849D0D64E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F16D2201-37A3-39D6-93E1-123371497CB0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44F97F5-1E11-394C-E533-D4816E11B0C3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5590C036-1CC2-FCDD-DDA4-ECB0FCB8085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EFCD72FB-DE1B-B2FF-D40B-DCA79184750C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6B1C856A-A3FA-122E-F089-8A2975D0EC2E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C6D4349A-9739-EFB7-E080-61F0BC48B69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D66626E7-C8F3-1942-A040-A5892848184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DF110D64-EBB5-3800-21F0-C3A8196B70C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B27943FF-9BEB-D2B4-C5F0-78D4B2E32964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AE7E558C-124F-0B83-6EAD-DCD3EB8D776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8CEEC4B3-C52D-8F47-600F-45CD3315847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38BC308C-E8FC-298D-8DF7-BEA0F3B5760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3A5F2C4B-C3AF-3308-3C9A-D919706682FB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9387A514-56FF-1C7F-C442-B1D2D6C55E8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19D6FA6-3E92-BCB8-80C3-F2860F2CC897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7990380C-F21C-E839-BFB1-FBC807B8B4C7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C086E57D-7275-DE65-BFD2-A87161F3F06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0793C666-B5F2-A406-A5F4-B7213A29E5FE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DBBD962A-3135-B749-9370-32C73ADB41ED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13D44295-6293-FCC1-555D-8A53B3603980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9E06CF0C-4D50-6F0D-125E-89751E7C6039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91F0E360-5364-2C2A-E3CE-36257621C3D0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6C26DB00-814D-4C5B-F142-45A57CFA1BAE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CC992EC5-40EC-F3EC-F67A-093EC1ADF249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13657410-C840-AD96-3E86-DB6913D7C5A0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A99ACCFC-6CEC-EF94-6609-4D38118A58DB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2A26F84E-B80B-4FBD-72AD-596CA6C813AB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E1B777F3-DC44-5948-4508-28CCEA606579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1203F16E-8212-C9F5-B8A0-6B6E1D833A3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AE34497A-D4A8-9952-A7F0-5A8D2D856CB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03F34598-7A6B-9AD0-1380-5FD3C66196A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F741101-5DE0-8BEB-B3B7-D09760C8F5FE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FA9978DB-64E5-A633-4990-FDEB6951247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378BBBCD-8452-1FD9-A184-3D6C7F863230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60C064B9-BA32-D0A0-AFB6-6AB3B3465E2C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6482BCCA-C256-94D0-2BA3-CA23099BBA4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7EF404EB-3E30-C60E-5732-457242596FB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FA5CA9B1-409C-3698-C603-0F3BC81737E5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4856E370-14FD-CD1D-7BC1-A164B454C8BD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CF2D6273-03F0-6214-501B-BED22F2CF16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54A1DC1E-31D8-2962-62EA-98090D244EB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C58B3BD3-2E57-4ED5-C8BF-CA28ECEFBD7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584375BB-258F-CBAD-9B22-A943CD00589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1E1738BC-787F-8F0A-1721-BB210792FDA2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03928ED8-E819-5CA9-E5E7-E1A037C83103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0FDFD501-A526-14A0-5A5A-E9A432CD953D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F0FA84ED-DC06-3DA0-C974-0D372C0AD060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129CC8CB-125B-52C7-633D-7CA45DEA832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7ABF8000-37AA-6D17-F594-D80BB3833A02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8AB20BD8-016C-D006-E3AE-9DBEE087909B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76AEA4-6909-EA74-37A3-F10AAF04E798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92399C-9F17-C30D-FE54-09A1042BDB61}"/>
              </a:ext>
            </a:extLst>
          </p:cNvPr>
          <p:cNvSpPr txBox="1"/>
          <p:nvPr/>
        </p:nvSpPr>
        <p:spPr>
          <a:xfrm>
            <a:off x="1083213" y="2050142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A1B2854-BB24-E470-CBA7-48BA89E4C3AE}"/>
              </a:ext>
            </a:extLst>
          </p:cNvPr>
          <p:cNvCxnSpPr>
            <a:cxnSpLocks/>
          </p:cNvCxnSpPr>
          <p:nvPr/>
        </p:nvCxnSpPr>
        <p:spPr>
          <a:xfrm>
            <a:off x="1438974" y="2305306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15">
            <a:extLst>
              <a:ext uri="{FF2B5EF4-FFF2-40B4-BE49-F238E27FC236}">
                <a16:creationId xmlns:a16="http://schemas.microsoft.com/office/drawing/2014/main" id="{AFC2555C-87F8-9811-AD79-2FDC9075D3C4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A27B6C0A-15C0-9247-F080-811AE892CE31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495DD0-F578-0871-6660-7534689A4360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5E7F2E3-51B0-3F91-50A3-E1E79B47A264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B48EF753-AF4F-5A52-8448-7DAA69EE03C2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C5EC2BF-5D3B-59BA-CB62-E7695C4CB2A5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3869BA-0A5E-80D3-FC79-67F066898914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16BDA763-590D-8095-6389-B808B618008A}"/>
              </a:ext>
            </a:extLst>
          </p:cNvPr>
          <p:cNvSpPr/>
          <p:nvPr/>
        </p:nvSpPr>
        <p:spPr>
          <a:xfrm>
            <a:off x="5038448" y="2896727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2311797F-9EF1-EA48-6067-113DB83D3ACF}"/>
              </a:ext>
            </a:extLst>
          </p:cNvPr>
          <p:cNvSpPr/>
          <p:nvPr/>
        </p:nvSpPr>
        <p:spPr>
          <a:xfrm>
            <a:off x="5418857" y="2890799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97EF9F3E-6907-1A6F-3C43-43331A91CAD3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1517A30-5518-B530-3D82-24BC38FB9753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24B4EB-EA1C-CCB6-BB03-BBB6B83F7A4B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0" name="Rectangle 6">
            <a:extLst>
              <a:ext uri="{FF2B5EF4-FFF2-40B4-BE49-F238E27FC236}">
                <a16:creationId xmlns:a16="http://schemas.microsoft.com/office/drawing/2014/main" id="{7E46346F-DC78-021A-85AF-668231C5473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45527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0DA3-F280-4B94-9053-D39472E0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24B6A5A-AAC3-0D50-DAA1-E35CD6BA2356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D71381-5B31-221E-0AEF-48E948ADBEDB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E4270686-39BD-7A2F-57E5-E83F44EC08CF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ACA6A94C-34E7-CE48-9BEA-A5F8D65C1A5F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C4390BB4-58E0-C6E0-8463-7C6324E70421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9D46C943-FCF5-8F79-C057-3F55295DBD8F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49FF5685-C1AF-9126-ED3E-BD3DAAEA4476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45240A4F-2625-2A71-606F-F9934693856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127EACB6-710B-AB72-BFEB-68969F007588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5C425EA7-801D-37EF-5C57-2049B1C8B3F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80ADEC89-9C74-97DC-6719-62C94056CA97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EBA53E9C-E02C-2119-3C14-A260CCE1940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5672060C-F904-0664-479C-9D8FAA6DD1B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8CD450CC-1197-59B1-B853-A20CA1D3D8E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556FDD-D153-81A8-ABD0-0D4ACB5C2C37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6A2C88C8-F29D-C21D-7541-12A40EFB3DE4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776A46D9-7BC1-D76E-892C-C74680126793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45CA8EC1-DECE-A28E-9FAF-2A6CA16E6CD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6539A76-E2E6-1080-49F7-E10E546FEC2D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05349800-0916-F6B8-F488-7180AA7D909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3E7031EC-9C7A-26B5-1FC3-C958E52EA7CF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4EE54C62-7120-A809-0C54-BE2F7F5F6B0A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0927DEC4-2392-B34B-E8B9-3DA6F8BF965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5E4C542F-BAF1-54AB-19FF-A8FD746E9BC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4E20DA8D-CE31-3B9B-9AD7-04AF5072EB16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173079AB-5BD2-20BD-187F-07B332A8D85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B934C71C-6074-BF1D-AC51-74C977D0BE3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69C7509D-872A-5EEE-8896-BB083C41F4C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1D261971-F668-BDCE-9612-F1A3DFD7693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24A15C5D-1678-7382-3541-62BC28F9082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924AA51F-7346-0981-56EA-6B1B1176D76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1AFC9059-125E-51FB-AF1A-EAE95D0AEFF0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F90A2A1-0B39-FA30-58A1-7E8053E2AA9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89CDB61B-9496-1FC8-E012-72D19818DF6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730802EB-B1CC-218A-339B-9ABB7CD10DF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E27E35-0349-74DB-C05D-7C420F0D75E1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53288BCA-D279-387E-29A0-8406927F0165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5F1F7F7D-2DB3-F5C8-21F0-2C626C3CB7DC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C2EEBAC3-9A4C-A8EC-A0B8-26544BA4E514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F86DCB73-3291-D8FC-77D3-85170AED9CA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DE7C3981-3C1F-939D-24CC-4F364B0E1DAD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A473E727-23E2-5FF3-A08B-4D610C726205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5B30F222-18FD-F805-3016-EA55D8297B48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591854BC-2AD6-8F25-8A1F-B25D0002985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2BAB8E69-0F85-81C2-6620-1B2C8CD9324E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D5390495-B3CB-4214-A45A-7F68CBCDA5E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8EDE5805-094E-C2E7-D728-818895A3765E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E5676DBA-361F-8E6E-FAA1-E2B25D444E99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C30A5BD0-62E4-B871-10CA-0559C1547333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C3A1BDAE-CAD4-A2A0-11CD-BCD24C794C82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F4257D5B-770C-5A81-8C43-45F52C006380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2EA882D8-2812-3C6D-D318-C129D5FF185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715B0916-7BE0-ECE9-D52A-6E9D29AF2A65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4C61B52A-43B5-8853-9029-8824B2F4029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17459EDA-314B-63A8-1137-BFDF18931B68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382448ED-9DC7-1438-83EB-C064A33BC50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0806B526-D387-1471-0883-9934C8CB836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EB534C35-291C-5B1C-BA24-04C17F6B0308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8B2E1126-F7C2-BCAE-CC19-4241D909796F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E49145C4-4428-C032-E6C8-CC91B3C4017B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809F14D3-43C1-02CB-A786-11BD3231A291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FB3D6890-5838-AE48-E36D-18DC734FAA41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BB66AC90-2D0D-3317-A150-510472DC48A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56022A09-62D2-BF63-EC94-032CD1ABBDFC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48021713-C91D-762E-4FF5-9A4A4EC38D0D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C27C69A0-7B00-7CD3-9988-CC6F22D4E483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AA34C45D-CEC5-F650-4EF8-4D1C1225325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07094603-7FCB-50CC-63BC-C81D1C01B73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5D8C18C7-2FC9-B0A2-25DC-C8CC74090918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" name="Rectangle 15">
            <a:extLst>
              <a:ext uri="{FF2B5EF4-FFF2-40B4-BE49-F238E27FC236}">
                <a16:creationId xmlns:a16="http://schemas.microsoft.com/office/drawing/2014/main" id="{6032075B-FE55-159A-A24E-33F2149D44F6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CB2962-1439-9B28-C9ED-3F7E5F4C3ECE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3E71808D-5136-BAF1-167A-4E446400B991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4B6EFE60-855C-DAAE-B53A-C914336F3157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23AF38-A116-BFE7-C7AD-FECFB41DF42D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CD099A-1E2A-1EC4-70BD-55715550BD1C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182F08FB-8CA9-312F-2244-E537BE1338AD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714CAD-C2EA-921F-45E7-E04F25E7214F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AA6C56-E627-DA51-0FF8-F8DB18DB2BEE}"/>
              </a:ext>
            </a:extLst>
          </p:cNvPr>
          <p:cNvSpPr txBox="1"/>
          <p:nvPr/>
        </p:nvSpPr>
        <p:spPr>
          <a:xfrm>
            <a:off x="4141176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55E57CE6-F923-AA3E-244C-95F80974E699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3C0CEF73-DF16-9AAE-4456-832A9919E523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5BC361-662A-8B9F-3801-C1261132772A}"/>
              </a:ext>
            </a:extLst>
          </p:cNvPr>
          <p:cNvSpPr txBox="1"/>
          <p:nvPr/>
        </p:nvSpPr>
        <p:spPr>
          <a:xfrm>
            <a:off x="2526025" y="204369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6C1C33B-A7FC-C581-D040-29B045DC0F64}"/>
              </a:ext>
            </a:extLst>
          </p:cNvPr>
          <p:cNvCxnSpPr>
            <a:cxnSpLocks/>
          </p:cNvCxnSpPr>
          <p:nvPr/>
        </p:nvCxnSpPr>
        <p:spPr>
          <a:xfrm>
            <a:off x="2881786" y="2298860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F311C142-5F6E-B965-4B56-4752988F019F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AD54F657-66D0-EE80-FDAB-3887C6E4893A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6204B713-EA6B-0983-1EE5-ED0C9E25ABBC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31A6D7C5-5066-B17A-EDEB-5A0BA41C6A4A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DADFF238-0E76-73AA-6A67-C153171081F5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0104C3A-8EBF-E951-8DF3-FFEE953EDA5C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C01FC32-3A80-9931-5DB3-CE579B52D988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98" name="Rectangle 6">
            <a:extLst>
              <a:ext uri="{FF2B5EF4-FFF2-40B4-BE49-F238E27FC236}">
                <a16:creationId xmlns:a16="http://schemas.microsoft.com/office/drawing/2014/main" id="{386C9B34-14A6-33F4-C99B-5AF797860117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91E535E-0792-90A0-A62E-015A73E7DA96}"/>
              </a:ext>
            </a:extLst>
          </p:cNvPr>
          <p:cNvSpPr/>
          <p:nvPr/>
        </p:nvSpPr>
        <p:spPr>
          <a:xfrm>
            <a:off x="4967654" y="2804746"/>
            <a:ext cx="2224454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D6295A-FADD-8BC9-C4A3-2A2879122047}"/>
              </a:ext>
            </a:extLst>
          </p:cNvPr>
          <p:cNvSpPr txBox="1"/>
          <p:nvPr/>
        </p:nvSpPr>
        <p:spPr>
          <a:xfrm>
            <a:off x="4922460" y="2543136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Worker1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18300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88D7-6D86-CDFF-3F1A-D557484D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4F42539F-7DED-9164-8C54-39919A8D1D69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A4BB100-C8B2-3530-7CB8-376150314799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EE78B1AD-2CFC-F32A-C6BD-738693313E73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11BC0726-0CCE-89D8-C383-AD582927330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339D53E9-8A0B-89C1-1C7F-F1F2743345C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31A186D5-75BB-60B8-5C99-AC767A80DD7B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891D72E3-F1D6-473A-9C2F-63F79132483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3AC20176-CA53-A86D-995A-DA7794E48BB2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6040E0F8-963B-9BE9-CC19-E12A81067B27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4871FA6E-C7EB-92F9-4F91-989DE361718E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ACFDE8B4-C095-B5EB-89CA-702A7AE71BC4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76EA5DCB-90BD-449E-7B16-98E92154B0C2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7023B1C4-B835-06AD-5780-1E7CFCB58DF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9D1BBDB-1CD3-E8E0-D913-9189BAE5E351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B4FDAF-7EAD-D63D-4D7D-59E34CAE23A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760C003E-3C6B-61E6-8E61-B8AF8400AE9D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3D8F8398-3635-51E3-6585-C75C61C418D5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22C1E45C-663B-4EC4-6A36-B61BA0F9051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5BC1AE6-DA7B-49C5-2D62-DF15E0E6EFD1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A367A214-C579-ED2D-88D9-B537AD02A3EF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DF04297F-CF0D-AD37-A832-55CB604417AE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6DB924FD-9918-D2CB-50A3-9E56B361FB81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AF97065-B018-85CD-5F22-0571F4057ED6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9FC33EDC-2FB4-61B2-1807-498C3911488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E0C7C24C-9EEA-38AD-50E0-26B6319B68F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3A3B6906-A1E5-7C09-04AE-D6B38DEB875B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9F80ED8F-207E-E87E-71CA-EC3AD780A02F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07AF3F73-0BC8-6938-2E2B-CEB54717E29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C0489E90-272D-2423-543A-1F0D74BBBB7C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859DEC34-DA51-B8F9-0C87-91DBFB8902D0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2696607D-3220-7A78-109A-3F355C55265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C3A8AC03-8E91-1317-C512-ACFBA8309185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D1195F06-7264-9CAF-F642-0E109E0E5F4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CF187DEF-08E6-F0A8-AE4F-A4C884DCB3F5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4B5D4E7E-4EB1-5F31-3B77-F8FF3BDB9B34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5C3E7CA-0821-3325-44FA-D0D458F75600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1C362E40-E363-4FBA-B3B2-A709E0C30CC2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05E9A69A-5E05-5C2D-0B2A-81EFDC74E424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C811D40C-4D66-D804-0FAC-D916E6B87CC0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14800791-EDBF-5FD5-C581-887601FA8010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07D9C664-7EC7-0BC4-A604-DC68A3C27798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2FE0D8A7-EAFB-877D-E96B-B7CFCBDE69F3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C5E9BB54-AF2E-9FAF-B3AB-E5221F6B726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64BD7A14-1281-4741-01E5-E0259869EEE3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2F0FB191-0DB0-85B3-E9CC-3E5529785069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7831AD6E-D151-ED35-27B5-5CE1616218EF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7CCF6A7C-FFF3-6B8D-98E7-AF60BB278D60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F9D59525-3463-33B1-E83E-1F8761F27AC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52C414A6-5FA2-875B-32AA-B23705CF9C76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F5135973-45C4-54A7-6345-E5756156221C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3A1D301F-2E0B-BB02-45E5-D7419EE8B240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26F09666-13E8-95C1-320B-16290EE42D4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FEF3154-0753-D563-5101-7CE8BCC87C32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B2D13CB0-EE83-AA87-88B0-AA9A55BC5C7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A6B44F6F-8829-CB23-FCF2-695D594C5133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396D44FA-C956-A11B-CD42-E9BD3A21C6F4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7A36708-87BF-6BAD-658D-6305906E351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9ABA0722-BE22-02C9-DE42-EB666D1CBA05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1351CC67-52AA-F91D-149C-1210A3A7B69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E4A7A7C0-B000-4398-5321-05A0081EC243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F3A45488-FD86-316F-7CD9-D09A4A8F619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0F805BAF-65D3-B3DD-0132-6164D7E5759C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4F6AAFBC-5DA0-F08C-C2B0-728109D5EB3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1B528FB7-3BAE-AC92-7736-8E38F068E0F9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1A14334F-658E-3D1A-A403-E30C1007A398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84BD40CD-9AA7-3F68-1DEA-956D2323EC76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9F372FE5-5238-66F1-BC7F-C5AF78AD6A8A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3345E54C-4955-CE5F-E8D9-3CD897E5FED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AE991BDA-2E77-75BE-9CAC-FF04D64D041A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3976977E-9B28-7075-EEAA-7144E2045E47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2E25C746-A009-C647-04FA-AED159CEDB47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C389CB2-AE0F-09C5-A14A-198266FD7999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90BE2BD6-AFE2-4B39-EFB8-057BDC679473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B0C251A9-86D7-52E2-240D-8802A932DF59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AA4249-BE0E-F76F-A26A-BE706754881D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FCF633-DA87-2234-CC3F-7278A7F3D1F4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DC09EDAB-34BC-CF7B-6689-96C8F5BFE58A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3604CF5-B319-E662-4C36-D2190E4F09FF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32DD41-0C95-D74E-F688-6802A6764766}"/>
              </a:ext>
            </a:extLst>
          </p:cNvPr>
          <p:cNvSpPr txBox="1"/>
          <p:nvPr/>
        </p:nvSpPr>
        <p:spPr>
          <a:xfrm>
            <a:off x="6950785" y="3213556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</a:t>
            </a:r>
            <a:r>
              <a:rPr lang="en-US" altLang="ko-KR" sz="1100" dirty="0"/>
              <a:t>…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2EC978D4-2A30-6BEE-20F8-B4CD3733A794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94090EA5-25D2-D5D1-17B2-E859E9983A7A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169034-BC8C-A55A-E2BD-806D0A74A950}"/>
              </a:ext>
            </a:extLst>
          </p:cNvPr>
          <p:cNvSpPr txBox="1"/>
          <p:nvPr/>
        </p:nvSpPr>
        <p:spPr>
          <a:xfrm>
            <a:off x="2833756" y="2039973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8AFCA0D-7B2F-ADD5-5306-7CAC831D24A2}"/>
              </a:ext>
            </a:extLst>
          </p:cNvPr>
          <p:cNvCxnSpPr>
            <a:cxnSpLocks/>
          </p:cNvCxnSpPr>
          <p:nvPr/>
        </p:nvCxnSpPr>
        <p:spPr>
          <a:xfrm>
            <a:off x="3189517" y="2295137"/>
            <a:ext cx="0" cy="30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62A19207-CA7C-E271-0DFE-D54C27F4B0D6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F69209E3-F703-35B9-92C4-E8DC915B5EC0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9C9C83A8-C5A5-C1BC-E9FB-7D0436EEBAE3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62D062DA-7D89-A290-B0A5-85E975C3F479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2120E6-1291-DD7C-202B-5D1A686101FA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35801474-4FA5-7C04-C143-25139D0BBF9B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4787576-EB3E-E549-DD58-9DDF32A397FD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D70F045-71A6-21FA-98E5-81C7E7BD7431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5CB6B23F-194B-4183-50F4-A5604AB9713E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5F813C-B3CC-2373-9F28-DFD18F6A5656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0DFBF43-DED3-A280-BD80-3B51645DD2F7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12340451-8A7F-F638-2CC7-2AF4201BA5AF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882D377E-E53C-D538-FCB4-3A9CC9837800}"/>
              </a:ext>
            </a:extLst>
          </p:cNvPr>
          <p:cNvSpPr/>
          <p:nvPr/>
        </p:nvSpPr>
        <p:spPr>
          <a:xfrm>
            <a:off x="8335108" y="2886173"/>
            <a:ext cx="1090246" cy="273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id="{2C847402-F28D-7E38-BCEB-74B54935E026}"/>
              </a:ext>
            </a:extLst>
          </p:cNvPr>
          <p:cNvSpPr/>
          <p:nvPr/>
        </p:nvSpPr>
        <p:spPr>
          <a:xfrm>
            <a:off x="8335108" y="2884872"/>
            <a:ext cx="249582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13174DF-E6FC-2132-9D32-4C878759D7C1}"/>
              </a:ext>
            </a:extLst>
          </p:cNvPr>
          <p:cNvSpPr/>
          <p:nvPr/>
        </p:nvSpPr>
        <p:spPr>
          <a:xfrm>
            <a:off x="4967654" y="2804746"/>
            <a:ext cx="4686300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48E96E-CFA2-E248-FEFE-6962110BBF49}"/>
              </a:ext>
            </a:extLst>
          </p:cNvPr>
          <p:cNvSpPr txBox="1"/>
          <p:nvPr/>
        </p:nvSpPr>
        <p:spPr>
          <a:xfrm>
            <a:off x="4922460" y="2543136"/>
            <a:ext cx="37702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Worker1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25442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7EFED-75BB-8341-CA81-0BF71B46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36483022-D6D5-4FD6-B167-172F67A76CB5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3EF5078-284C-D1C3-0F90-A94915E274D9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8BCCAE5C-AFD7-6C62-5019-F3D544018581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1685EA22-9D29-83AC-C9B4-4A1A678A6D2F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08E9ED78-32DD-E5BD-06B3-B4232B03018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12F6E62E-2A6C-E27E-D71C-F4DAA243040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0C2AA001-50D3-4BCC-F9BF-4687C245F70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B3BBA6E9-66A7-57DB-3078-EE7CAE27DF95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CA18C101-E2EE-BA8B-F6F6-D6E0B9255C6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5639B619-F66A-E811-E4C7-DFF03905B071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ACB2933B-7D30-475B-C18D-3D85FA4F918F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0B133D38-CCDF-5DD6-383E-5B7DB937A7AC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C5DFCBB0-37C8-15E8-F407-0B1082DB51B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28A3AA04-4870-3954-0B48-D69537EEDFC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7064C8-FA64-8836-FFFB-A9433520F6EB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B8413256-66C7-41DD-7D02-23159C50EEA8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AD53FC2C-CCB3-2E3F-9596-D0F39729E0D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45638348-FCB3-FE68-05D4-DDCF029BB61C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ABCE4E-7684-4D32-D464-C7866F925E26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F4BCA880-BB17-E14F-8380-71550E4B866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FD97BDF5-C6CC-237C-D601-143617782F13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6A7F015A-D44C-0992-9CA6-99A93743351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53C54A1B-72D4-28E2-FB82-AAF56416437D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7F29ABA2-73BD-EDBF-60D7-1AC912D0247E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BA73FB2E-D90F-89FD-89DD-01144B87FDF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A12C4B7C-163C-2FA8-8619-CD28FF3F075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24DF22FE-0F3A-0FEF-16B7-FDE813800F64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8BD727C5-510A-99D2-05D3-2E6FCFB6C545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42CC294D-54D2-0617-A4DE-4CF37223AA0B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C2E7E206-2EAC-3CAD-4669-F0A7CE7F7F12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E4E01034-C31A-6B5D-76CC-B85748549FB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F92280E1-5AA5-08D3-F6E8-C63D2CF541E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FAE8600A-C899-BA8B-0B0E-8B9CED50CF39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67A1AE43-35CA-FFB7-D403-D3881B430732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1582E2D2-F265-6A14-809E-995D9C5D2B2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8FB8A0B-ABD6-F14E-53B9-B246B84EA9E8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824D23C3-5722-8CBE-3EE6-32A56BB1A118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C62BE5FB-ABA8-183A-0730-722BE97A520D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E0500466-23A9-B994-327F-6B6D42568326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475644FF-E5B4-5D88-B2EE-49ABAE269E79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C2D495E8-24EA-7B3A-097E-1D82D8AAB3F3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75629A52-4A27-8698-DCF1-DFB0C8053878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B67E3719-E13E-BC24-87B9-0A7374F9A472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145C74DF-6267-C037-7D7E-775F2EE7A74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3A2163B1-D777-0B41-8FE9-8DBDDDB9E67F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36BA23AD-5D26-CBE2-FDF1-621D5FB45DF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C476D14D-B0ED-2D85-5BF5-9901E89E1D7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843B9CE5-9978-6F93-D472-0C9D575F5D6D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DF6A2781-97B6-9421-8C9F-45821A2CF92B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1FB748A1-4AFA-6084-A4CF-31EA1E89AA5E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72DABCBE-3CC8-4EAF-4A06-FAAB83F579C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22C93C3E-B280-0620-B0D6-4E7569A5DB84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A30030F-1528-1586-D9E2-C064CB787017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5D56EE7D-B38D-427B-0E05-9978983A5866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6C525034-5163-375D-1641-BD76DE36BABC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EC1A6ED0-C96D-6D02-A54C-CA47D413ED3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312CD39D-9C22-9EB7-E43F-C456D2216F1C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033E2BD2-DA65-87B4-214B-B277DF400B9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E2EF0877-CAEC-44C7-7820-D957F01B5737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58513886-7457-BD01-A7B0-7C2CBA85D834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81970793-89C6-2D98-BEC9-D0B3C241CD1F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8DA77231-121B-8F97-189B-382F48C8D4E8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954DC474-A90A-4D07-A4E9-F8E4D7BB06C5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65B7B4E4-1001-9998-0033-57EB642F49C5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F44B103D-1597-1E2D-E9D9-AC94EE9A19F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237658A9-4470-C117-0EE8-B6791F144FA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A7BD754A-0564-7682-C799-ADE9C26F700F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604F55EF-6B4F-875A-7C49-36E95E44602C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396B32CD-DDC3-92D7-AEDA-03F6A210E1C4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9A5D08AD-1857-9AB3-BCF7-6CB9DAFD338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A9277348-328E-1163-B9D3-6FCF2A2F64A6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1634C1-6C92-C570-956E-6087812B3AE7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5C74B681-DFAB-B11F-87A6-F11B6E2C2E41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7F53D724-2EDF-A126-FA5D-E690443A29A1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7006446-C9AA-BFA5-89AE-55E951A00128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185DB8-776D-7DAB-269F-93C2C2EF0882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E12922E8-C611-678B-73C2-646BFEDF5775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C5150C-251F-AB6C-BF34-67495A7D33AB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49D8E9-4DA9-B938-6A15-84B96BEB4073}"/>
              </a:ext>
            </a:extLst>
          </p:cNvPr>
          <p:cNvSpPr txBox="1"/>
          <p:nvPr/>
        </p:nvSpPr>
        <p:spPr>
          <a:xfrm>
            <a:off x="6950785" y="3213556"/>
            <a:ext cx="17896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endParaRPr lang="en-US" altLang="ko-KR" sz="1100" dirty="0"/>
          </a:p>
          <a:p>
            <a:r>
              <a:rPr lang="ko-KR" altLang="en-US" sz="1100" dirty="0"/>
              <a:t>하나의 </a:t>
            </a:r>
            <a:r>
              <a:rPr lang="en-US" altLang="ko-KR" sz="1100" dirty="0" err="1"/>
              <a:t>dat</a:t>
            </a:r>
            <a:r>
              <a:rPr lang="en-US" altLang="ko-KR" sz="1100" dirty="0"/>
              <a:t>….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1D469EAC-4E09-8C22-5C95-FF751B1905AF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2A3A9B6D-0900-6FA5-F920-FBBDBB3DBD7E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A6A9BB-7EC4-AD67-C44E-B0DCB702913C}"/>
              </a:ext>
            </a:extLst>
          </p:cNvPr>
          <p:cNvSpPr txBox="1"/>
          <p:nvPr/>
        </p:nvSpPr>
        <p:spPr>
          <a:xfrm>
            <a:off x="375759" y="206011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CA6DC8E-88C0-AF24-4F4A-88DEDA0C4C0A}"/>
              </a:ext>
            </a:extLst>
          </p:cNvPr>
          <p:cNvCxnSpPr>
            <a:cxnSpLocks/>
          </p:cNvCxnSpPr>
          <p:nvPr/>
        </p:nvCxnSpPr>
        <p:spPr>
          <a:xfrm>
            <a:off x="731520" y="2315280"/>
            <a:ext cx="0" cy="700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0A80DB50-1760-528D-A885-67EDF8898ECD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7F49ED22-2A85-7378-EA1C-29C1CE59EFFF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A4B8DF81-08FD-BB2A-F1D4-049416E1D79D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3D2A59E4-B07E-2A6F-A1EC-AA1BC8B56E8F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9F236C-E132-1139-470B-64218D2A6779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5164B81D-4A8A-D79B-1B7E-46FC1DE176F6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4082AB03-717E-B183-FA1F-E67B556901FC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04AAA29-CCCE-3F50-CE59-C06BD9E26160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284C9097-444A-4846-8CFA-00C4F4C52413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23EC9F2-1308-C8D2-37B2-01F9C356DD62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F502782-DF67-4943-C754-633BA5085E3D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E7AFE96A-6E4F-3F84-0AF2-A4A0733FCFE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08623EDA-B73A-3413-FB6B-3B1E081054CB}"/>
              </a:ext>
            </a:extLst>
          </p:cNvPr>
          <p:cNvSpPr/>
          <p:nvPr/>
        </p:nvSpPr>
        <p:spPr>
          <a:xfrm>
            <a:off x="8335108" y="2886173"/>
            <a:ext cx="1090246" cy="273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id="{34DC22B4-C969-6150-F372-F523F4330085}"/>
              </a:ext>
            </a:extLst>
          </p:cNvPr>
          <p:cNvSpPr/>
          <p:nvPr/>
        </p:nvSpPr>
        <p:spPr>
          <a:xfrm>
            <a:off x="8335107" y="2884872"/>
            <a:ext cx="478031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F5C32FF-EF6F-A344-BEF0-416F720F43DE}"/>
              </a:ext>
            </a:extLst>
          </p:cNvPr>
          <p:cNvSpPr/>
          <p:nvPr/>
        </p:nvSpPr>
        <p:spPr>
          <a:xfrm>
            <a:off x="4967654" y="2804746"/>
            <a:ext cx="4677508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7343A99-EF20-1638-3447-BA29C6AE7C61}"/>
              </a:ext>
            </a:extLst>
          </p:cNvPr>
          <p:cNvSpPr txBox="1"/>
          <p:nvPr/>
        </p:nvSpPr>
        <p:spPr>
          <a:xfrm>
            <a:off x="4922460" y="2543136"/>
            <a:ext cx="37631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Worker1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3950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3419-B67F-2B33-A5A0-FD23D7F3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DA86AF7D-A17E-A4D9-1171-B31529511968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229C430-DD31-A57E-B74E-64CA73DD7583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9B1EFE05-2C4A-E447-A5BE-6F486419CFD0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D684781B-E3EF-8ADB-792C-4B725E516A54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27650E15-258E-1862-9AB0-BD8A60DF5E3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79D458B4-5F1A-1130-BA20-94D080FB9DB4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96B945F9-4C95-9259-8696-61B277CCE614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A2F2FAB9-438C-9970-43C4-1670868A7E4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84167A7F-0A3C-C049-06D4-3401FF0BE7B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15BCE168-9DB6-27E3-F1F8-D2A9A94EF3B5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DC5B1421-A4EE-8CD1-F74B-8049D3361C0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FBFC5AE9-5367-CA78-7ADD-4C25B1687FA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1B30B290-F66D-234C-EC0F-27563D5BD1BE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5BE08F5-2937-FFBA-78A2-0D88F9F1B78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93F76D-CE63-5557-4F4F-4CFF2E49AA4C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150A81FB-A86E-1F48-DDB8-1A2B2B5ACEFA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9E79558B-0FD4-CA6D-9815-61679917D919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7D241B3D-93C1-5D18-D39F-85FD14B874AE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D968201-C6D1-0CA1-2830-D2A6A2F564AC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5C12A4C0-FE24-4413-66B5-B033AD08C113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5E60D32D-FB25-1418-806C-08DDE5400396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8D842A89-AAA3-D354-112D-DA3FE13A3A8F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31B3294F-F747-12AE-3BAF-7B320E0C7E82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CFB95BDF-A3B3-F86B-E170-FC7940FA84BD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FD3353C6-C43B-04C7-A7BA-2C47862DC964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9421AD79-EB28-EFB6-A1EE-DD8EFF18BA9F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F8EEDB29-DB44-6190-CBC0-3FB65CF3837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58232987-4199-7E89-55D5-06D2A0920D50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AE3120A6-A9E7-11F1-92F2-E60A0B9A23AD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092FFF62-9D60-2F74-5B7D-45566DC95198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57888D6D-A7EC-A47B-1835-7FF5644492C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FE5EF0D6-F1CA-1487-6642-6B977B45C321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A3C74C7D-AC18-6819-7495-150889ABB8B3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1D8C906A-7BE3-98C5-AB96-E32E461AB138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0F123F41-AB7F-DEC9-2C5B-825A041EEBC1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502CA65-13A4-1D37-76CD-7C0B0C19E317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E39BB125-247B-7D7C-7186-2760A7B13A51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8CB5375E-D9AD-E8D3-95AC-5550DA322161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0E79A833-13A5-D4E0-FA31-0EA7B4D93F4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2476F0A5-6296-B770-84AF-D63D7387E615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356BE698-2A0B-DA10-935E-5C8C0BCDFDA2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8C649FAA-11D3-EF4B-F461-73667E9B638F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F2C19B0F-D20C-73C1-F457-AD4CFA2050B1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E83457AE-A5F5-A2CF-162B-FAC50BE249D1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9DBB7543-EBBA-CDDC-ED7B-C0012D177FDD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2CE62064-BF21-ED8F-73DF-79B6296A5A4E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E3AAD9E7-C122-7EA6-C96C-5043AF8E39FF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2AD5CB5B-7B8E-6BAB-2AD4-E39AC54C07CF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8024C071-09A1-4B19-0EFD-052247EF2D56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75D43491-70B2-4095-B89C-4D56721A8E5B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DC15CC73-F41E-0778-E9CB-FC6662318008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F8568A66-4EF0-F955-9C60-870813D24A2F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B781021-624D-8B40-5A8C-73BCF16542F4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3A9C4384-6F32-61EA-E47E-00E3268CCB14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4B6A8EB3-CEAC-561F-2F5F-D6698B3B8E5E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DEB53037-3202-E962-DB30-FC48F21484CD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2302FAF6-05F6-4081-4EE3-906C93AB0161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3336CFD0-27EB-F12C-26CF-3737EA66861A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5C89F953-CB4D-9881-5BFD-D4886A230100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B631295B-0937-459B-1DC2-3699A95CC5E7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D4FAF5A1-F414-48A3-F30E-5064E380F997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37BF1B06-3E30-13D2-4256-4C26B919B123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43158BD2-0725-AB6E-614A-E03A1535B7C3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92D92206-6F14-1BE7-26DE-816CB9B35EBB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1E99EAFB-E291-DC4B-4D91-5EAC63BE3FBA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CDD1BA0A-F07D-2235-4544-CAE3851078C4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894C06B3-FBBE-D860-C143-197754966C26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05AC6F37-962A-FACC-D11A-411257F37E31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C66F67F9-11A4-A7B1-075F-113695E6934F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B8241725-2F1D-F155-7737-941508C43E2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E7DE1E49-229C-F917-B2E3-8802C79546CE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E5E7A0-FEBE-6936-2259-41075FC3AD6A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EBBC6A49-3DAF-88B8-77E1-7F53F23F10CF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53DF759C-A41D-57DA-C8E6-F2F0E2BD8243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BAB1A3-109D-9920-1BD9-5C62517EC454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E9A9EA-5859-7BBA-6F2A-75393EF88232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F390648E-631A-9F28-F018-013249480074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992DD86-2CF6-E2E7-56D0-B0BF902DA409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28BCD939-96EB-6CB8-7B87-B087D956F546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D2364D3D-829D-768C-1A36-87640015C06A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2EAF7C-8961-A9CC-0C98-1BF43DD0D202}"/>
              </a:ext>
            </a:extLst>
          </p:cNvPr>
          <p:cNvSpPr txBox="1"/>
          <p:nvPr/>
        </p:nvSpPr>
        <p:spPr>
          <a:xfrm>
            <a:off x="375759" y="206011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56FED30-6BCB-2225-3B11-F9C80F7CB3A9}"/>
              </a:ext>
            </a:extLst>
          </p:cNvPr>
          <p:cNvCxnSpPr>
            <a:cxnSpLocks/>
          </p:cNvCxnSpPr>
          <p:nvPr/>
        </p:nvCxnSpPr>
        <p:spPr>
          <a:xfrm>
            <a:off x="731520" y="2315280"/>
            <a:ext cx="0" cy="999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B3403359-4158-2248-308F-59F997AE71D0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AD4C8C34-C1E2-C982-ED61-8F54E5809671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D47F3960-93D7-9A46-38ED-CD66EAD2D140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2C037AFD-F069-B2D9-ACD8-B16AC2B2DF2C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54D50A-D87B-DBA5-1FB0-6228502EB1FB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2E83E94C-7529-8CB6-F716-55773B46079F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80890ED0-262A-56D8-9B6D-785D64B91CBF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0C0CD44-4664-28B8-A474-94A44A9C23D9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72B12BAB-FE40-90A8-54EA-D92821AAF80A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0C2E5A-2BAF-C67D-052A-D962224FB80D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FA81F82-64A3-A7E4-FBB7-8E8AAD394E49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3F63ADBA-762C-4C7C-16CD-8D35B6EEECC3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A18E2670-24E9-E64F-A076-4086694C7335}"/>
              </a:ext>
            </a:extLst>
          </p:cNvPr>
          <p:cNvSpPr/>
          <p:nvPr/>
        </p:nvSpPr>
        <p:spPr>
          <a:xfrm>
            <a:off x="8335108" y="2886173"/>
            <a:ext cx="1090246" cy="273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id="{25747761-8907-0610-F202-76E517A1E572}"/>
              </a:ext>
            </a:extLst>
          </p:cNvPr>
          <p:cNvSpPr/>
          <p:nvPr/>
        </p:nvSpPr>
        <p:spPr>
          <a:xfrm>
            <a:off x="8335107" y="2884872"/>
            <a:ext cx="1090246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7E9324-529E-078C-7AF6-4382FF6BA896}"/>
              </a:ext>
            </a:extLst>
          </p:cNvPr>
          <p:cNvSpPr txBox="1"/>
          <p:nvPr/>
        </p:nvSpPr>
        <p:spPr>
          <a:xfrm>
            <a:off x="6950785" y="3213556"/>
            <a:ext cx="17896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endParaRPr lang="en-US" altLang="ko-KR" sz="1100" dirty="0"/>
          </a:p>
          <a:p>
            <a:r>
              <a:rPr lang="ko-KR" altLang="en-US" sz="1100" dirty="0"/>
              <a:t>하나의 </a:t>
            </a:r>
            <a:r>
              <a:rPr lang="en-US" altLang="ko-KR" sz="1100" dirty="0"/>
              <a:t>data buffer</a:t>
            </a:r>
            <a:r>
              <a:rPr lang="ko-KR" altLang="en-US" sz="1100" dirty="0"/>
              <a:t>로 변경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B6B14119-84E4-B435-D7E9-C8F846D38A9C}"/>
              </a:ext>
            </a:extLst>
          </p:cNvPr>
          <p:cNvSpPr/>
          <p:nvPr/>
        </p:nvSpPr>
        <p:spPr>
          <a:xfrm>
            <a:off x="5038448" y="3433427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B297E3D-2B90-1043-902D-6112D5B74701}"/>
              </a:ext>
            </a:extLst>
          </p:cNvPr>
          <p:cNvSpPr txBox="1"/>
          <p:nvPr/>
        </p:nvSpPr>
        <p:spPr>
          <a:xfrm>
            <a:off x="4159672" y="3445282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 item list</a:t>
            </a:r>
            <a:endParaRPr lang="ko-KR" altLang="en-US" sz="1100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9B974A-1042-072A-5499-AE849F5A55CE}"/>
              </a:ext>
            </a:extLst>
          </p:cNvPr>
          <p:cNvSpPr/>
          <p:nvPr/>
        </p:nvSpPr>
        <p:spPr>
          <a:xfrm>
            <a:off x="4967654" y="2804746"/>
            <a:ext cx="4528038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DB298C-4249-F947-D6C3-36C4E75FFAE8}"/>
              </a:ext>
            </a:extLst>
          </p:cNvPr>
          <p:cNvSpPr txBox="1"/>
          <p:nvPr/>
        </p:nvSpPr>
        <p:spPr>
          <a:xfrm>
            <a:off x="4922460" y="2543136"/>
            <a:ext cx="3642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Worker1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4584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3D66-6418-B47E-E8B7-49779A46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DA8A200A-9D73-DF35-1633-B263DA4E4763}"/>
              </a:ext>
            </a:extLst>
          </p:cNvPr>
          <p:cNvSpPr/>
          <p:nvPr/>
        </p:nvSpPr>
        <p:spPr>
          <a:xfrm>
            <a:off x="612648" y="2512568"/>
            <a:ext cx="3000429" cy="3011539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6A607B-0175-57DE-647E-CE949F01FA70}"/>
              </a:ext>
            </a:extLst>
          </p:cNvPr>
          <p:cNvGrpSpPr/>
          <p:nvPr/>
        </p:nvGrpSpPr>
        <p:grpSpPr>
          <a:xfrm>
            <a:off x="738272" y="2601444"/>
            <a:ext cx="1319753" cy="1359644"/>
            <a:chOff x="6217920" y="2743198"/>
            <a:chExt cx="1319753" cy="1359644"/>
          </a:xfrm>
        </p:grpSpPr>
        <p:sp>
          <p:nvSpPr>
            <p:cNvPr id="3" name="Rectangle 15">
              <a:extLst>
                <a:ext uri="{FF2B5EF4-FFF2-40B4-BE49-F238E27FC236}">
                  <a16:creationId xmlns:a16="http://schemas.microsoft.com/office/drawing/2014/main" id="{0AC4FCB2-615B-78E9-BB0B-DFAB6429ED9D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BCD9E3D4-8DF7-40B3-5513-19F7B69E9A69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A97EF950-9726-8174-9AAF-184777915868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02BD1FD7-EAF6-B857-48C3-1EC4BE636E30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F61239CA-B17C-EF45-5B35-C75C968CAD67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80357B7B-6D8D-F2C4-7167-CD049CCC762C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970454F7-DF0D-41C4-D45E-1DE8552F7C48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2A9F4C26-3D91-53E9-3ACC-982CF7F292C2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CF59D44C-5E40-27FE-120C-29F115BC05AA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2732EE4D-1746-26ED-7A13-F6BE3282E149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DF6FFA62-0D5E-6299-2A8E-24F7C4A8F8DB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AB357A3-2C60-8570-314A-44D0EC31AE1C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653C85-4581-22B8-3991-63EE4E701C7C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4C503368-FCA4-C53B-807C-C5BEFAF1DFE9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262C03D7-BA86-A6D5-FF42-7FB40359E82E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72AD0EBB-825A-FD44-BC2C-E24862F9F6D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7DEB4F4-28E7-1930-05E1-5A9D36F1A4F5}"/>
              </a:ext>
            </a:extLst>
          </p:cNvPr>
          <p:cNvGrpSpPr/>
          <p:nvPr/>
        </p:nvGrpSpPr>
        <p:grpSpPr>
          <a:xfrm>
            <a:off x="2142485" y="2601443"/>
            <a:ext cx="1319753" cy="1359644"/>
            <a:chOff x="6217920" y="2743198"/>
            <a:chExt cx="1319753" cy="13596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1F16F31C-B16F-F879-9689-0E3A73429129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B34AFF0D-0EF3-276F-2DDF-412F0FF294A7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DC4FD255-0670-76F4-7616-699711CBF5B2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4A2F3673-99FF-0112-0EDF-759D52B1CBFA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42BE6791-D320-CAD3-1FF6-4B8774AA2C25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5D6EAB66-F8FB-E25D-B5E0-C15086A60B6D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98693A98-7CF1-2A58-5576-5D330AC07A86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FF2BC472-2AFF-804D-38A5-E242B1D25F0D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D2E55F2D-E0D6-7477-86C3-6D9FC473DFC9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A7B2A9B0-66F3-8327-D304-528F920E41F1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2B7F3BAF-92C0-88DA-F2E2-E0112D4123FE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D630EB91-567B-0FD3-1640-F575015DC0B3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A6A1EC77-A428-57C0-51D8-D6B5AA8BB10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81E8C108-44E6-AF39-4632-9058C73321D6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DB405A7C-8101-8F1A-CE1C-FA8090F7562A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E81FE521-3AF2-9ACC-102E-7086F6B5D2D9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8847BEE-80C1-22B4-B2BF-738D7858AAF6}"/>
              </a:ext>
            </a:extLst>
          </p:cNvPr>
          <p:cNvGrpSpPr/>
          <p:nvPr/>
        </p:nvGrpSpPr>
        <p:grpSpPr>
          <a:xfrm>
            <a:off x="738272" y="4057653"/>
            <a:ext cx="1319753" cy="1359644"/>
            <a:chOff x="6217920" y="2743198"/>
            <a:chExt cx="1319753" cy="1359644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D052FA04-B03D-3719-22E8-0D3DC8E01EC1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8C2AF652-5DDE-FFFC-912C-BF113B0A1AFC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2E31300C-2011-01C3-CE23-9034C151101C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454D5074-F024-E866-6474-41E901815D51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F0ADA486-4A20-220F-65F9-454D8C17153F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DE621FB2-0978-BBFB-DF2E-043A48114B11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A435AA7C-150C-3874-ABFE-990D917D8C85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317A9850-8535-F626-C7C7-67F85F5927AC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CB248CBA-7A33-44C5-A240-A2720E01956F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15">
              <a:extLst>
                <a:ext uri="{FF2B5EF4-FFF2-40B4-BE49-F238E27FC236}">
                  <a16:creationId xmlns:a16="http://schemas.microsoft.com/office/drawing/2014/main" id="{C7A72F1D-FA91-FA32-5D28-0500BD514EFE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9A663BBC-1641-70E2-8995-DCBC98292B1A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7F50515A-6F2E-762D-C5F0-8D1439E51949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5">
              <a:extLst>
                <a:ext uri="{FF2B5EF4-FFF2-40B4-BE49-F238E27FC236}">
                  <a16:creationId xmlns:a16="http://schemas.microsoft.com/office/drawing/2014/main" id="{BF842B7C-CF91-95D7-D4E5-D7C65230AFC8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85A50CCB-507B-1D33-3FA3-CB5154D11A85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5A2F45D4-7BF1-BC78-AD84-CF26A7332F6F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EA18A753-33E5-1D01-A7AC-AE3E6F6E26D5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388C7A5-6052-196C-902B-EB470AEA7F70}"/>
              </a:ext>
            </a:extLst>
          </p:cNvPr>
          <p:cNvGrpSpPr/>
          <p:nvPr/>
        </p:nvGrpSpPr>
        <p:grpSpPr>
          <a:xfrm>
            <a:off x="2155015" y="4057652"/>
            <a:ext cx="1319753" cy="1359644"/>
            <a:chOff x="6217920" y="2743198"/>
            <a:chExt cx="1319753" cy="1359644"/>
          </a:xfrm>
        </p:grpSpPr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3A3D6662-F992-1879-581E-4E15472005A2}"/>
                </a:ext>
              </a:extLst>
            </p:cNvPr>
            <p:cNvSpPr/>
            <p:nvPr/>
          </p:nvSpPr>
          <p:spPr>
            <a:xfrm>
              <a:off x="6217920" y="2743200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15">
              <a:extLst>
                <a:ext uri="{FF2B5EF4-FFF2-40B4-BE49-F238E27FC236}">
                  <a16:creationId xmlns:a16="http://schemas.microsoft.com/office/drawing/2014/main" id="{102C0C98-1EB8-6075-5D85-50A1A7A8B5C1}"/>
                </a:ext>
              </a:extLst>
            </p:cNvPr>
            <p:cNvSpPr/>
            <p:nvPr/>
          </p:nvSpPr>
          <p:spPr>
            <a:xfrm>
              <a:off x="6558327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0A9D8347-8661-4A49-9B44-32861D00BC73}"/>
                </a:ext>
              </a:extLst>
            </p:cNvPr>
            <p:cNvSpPr/>
            <p:nvPr/>
          </p:nvSpPr>
          <p:spPr>
            <a:xfrm>
              <a:off x="6898734" y="2743199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347FC6DE-4014-633D-CFF6-4BFB86EEDF63}"/>
                </a:ext>
              </a:extLst>
            </p:cNvPr>
            <p:cNvSpPr/>
            <p:nvPr/>
          </p:nvSpPr>
          <p:spPr>
            <a:xfrm>
              <a:off x="7249965" y="2743198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15">
              <a:extLst>
                <a:ext uri="{FF2B5EF4-FFF2-40B4-BE49-F238E27FC236}">
                  <a16:creationId xmlns:a16="http://schemas.microsoft.com/office/drawing/2014/main" id="{B0ABA124-7170-FABF-9063-D0E98308D28B}"/>
                </a:ext>
              </a:extLst>
            </p:cNvPr>
            <p:cNvSpPr/>
            <p:nvPr/>
          </p:nvSpPr>
          <p:spPr>
            <a:xfrm>
              <a:off x="6217920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9BBF89CD-61FD-874F-DC99-F29F198AF69C}"/>
                </a:ext>
              </a:extLst>
            </p:cNvPr>
            <p:cNvSpPr/>
            <p:nvPr/>
          </p:nvSpPr>
          <p:spPr>
            <a:xfrm>
              <a:off x="6558327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0D3FB4B0-9DCC-C46C-CE21-62B4EC1AA2C7}"/>
                </a:ext>
              </a:extLst>
            </p:cNvPr>
            <p:cNvSpPr/>
            <p:nvPr/>
          </p:nvSpPr>
          <p:spPr>
            <a:xfrm>
              <a:off x="6898734" y="3113232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A314EB64-6D0A-8B85-CE31-843E8D920E70}"/>
                </a:ext>
              </a:extLst>
            </p:cNvPr>
            <p:cNvSpPr/>
            <p:nvPr/>
          </p:nvSpPr>
          <p:spPr>
            <a:xfrm>
              <a:off x="7249965" y="3113231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25FB2703-696A-BE37-1918-EB31F7EA7814}"/>
                </a:ext>
              </a:extLst>
            </p:cNvPr>
            <p:cNvSpPr/>
            <p:nvPr/>
          </p:nvSpPr>
          <p:spPr>
            <a:xfrm>
              <a:off x="6217920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49782A44-6C10-1126-89AC-026C734AAA56}"/>
                </a:ext>
              </a:extLst>
            </p:cNvPr>
            <p:cNvSpPr/>
            <p:nvPr/>
          </p:nvSpPr>
          <p:spPr>
            <a:xfrm>
              <a:off x="6558327" y="3471304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FD009AD1-E098-2524-1758-05A89333E37E}"/>
                </a:ext>
              </a:extLst>
            </p:cNvPr>
            <p:cNvSpPr/>
            <p:nvPr/>
          </p:nvSpPr>
          <p:spPr>
            <a:xfrm>
              <a:off x="6909558" y="347130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7405B516-B9B8-152D-FEAE-9E8A08AB6FD4}"/>
                </a:ext>
              </a:extLst>
            </p:cNvPr>
            <p:cNvSpPr/>
            <p:nvPr/>
          </p:nvSpPr>
          <p:spPr>
            <a:xfrm>
              <a:off x="6217920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C34F71C6-2ACF-0291-2023-45AF71E402FE}"/>
                </a:ext>
              </a:extLst>
            </p:cNvPr>
            <p:cNvSpPr/>
            <p:nvPr/>
          </p:nvSpPr>
          <p:spPr>
            <a:xfrm>
              <a:off x="6558327" y="3829377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15">
              <a:extLst>
                <a:ext uri="{FF2B5EF4-FFF2-40B4-BE49-F238E27FC236}">
                  <a16:creationId xmlns:a16="http://schemas.microsoft.com/office/drawing/2014/main" id="{EE9C8330-EE43-429D-EBF0-3F431BC8B541}"/>
                </a:ext>
              </a:extLst>
            </p:cNvPr>
            <p:cNvSpPr/>
            <p:nvPr/>
          </p:nvSpPr>
          <p:spPr>
            <a:xfrm>
              <a:off x="6909558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15">
              <a:extLst>
                <a:ext uri="{FF2B5EF4-FFF2-40B4-BE49-F238E27FC236}">
                  <a16:creationId xmlns:a16="http://schemas.microsoft.com/office/drawing/2014/main" id="{16A221E7-F09F-1897-142C-E2DE0A23D3FD}"/>
                </a:ext>
              </a:extLst>
            </p:cNvPr>
            <p:cNvSpPr/>
            <p:nvPr/>
          </p:nvSpPr>
          <p:spPr>
            <a:xfrm>
              <a:off x="7260789" y="3459343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0ECCDBCE-CE9C-09E4-F8AB-44C76A8D5693}"/>
                </a:ext>
              </a:extLst>
            </p:cNvPr>
            <p:cNvSpPr/>
            <p:nvPr/>
          </p:nvSpPr>
          <p:spPr>
            <a:xfrm>
              <a:off x="7260789" y="3829376"/>
              <a:ext cx="276884" cy="273465"/>
            </a:xfrm>
            <a:prstGeom prst="rect">
              <a:avLst/>
            </a:prstGeom>
            <a:solidFill>
              <a:srgbClr val="1F6F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F75AA728-C317-3DFF-DCDF-9DECF26F02F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E2F94512-F340-99D3-D408-35FA9B1CDF20}"/>
              </a:ext>
            </a:extLst>
          </p:cNvPr>
          <p:cNvSpPr/>
          <p:nvPr/>
        </p:nvSpPr>
        <p:spPr>
          <a:xfrm>
            <a:off x="630224" y="5768881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359291-FB53-3312-014D-2EEB0603971D}"/>
              </a:ext>
            </a:extLst>
          </p:cNvPr>
          <p:cNvSpPr txBox="1"/>
          <p:nvPr/>
        </p:nvSpPr>
        <p:spPr>
          <a:xfrm>
            <a:off x="911466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</a:t>
            </a:r>
            <a:endParaRPr lang="ko-KR" altLang="en-US" sz="1100" dirty="0"/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93378BFE-42EC-ACA0-B275-5E11C5D73435}"/>
              </a:ext>
            </a:extLst>
          </p:cNvPr>
          <p:cNvSpPr/>
          <p:nvPr/>
        </p:nvSpPr>
        <p:spPr>
          <a:xfrm>
            <a:off x="1407225" y="5768881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5">
            <a:extLst>
              <a:ext uri="{FF2B5EF4-FFF2-40B4-BE49-F238E27FC236}">
                <a16:creationId xmlns:a16="http://schemas.microsoft.com/office/drawing/2014/main" id="{1A69EE8A-176A-45F3-33D1-B1AAFFBEF7C3}"/>
              </a:ext>
            </a:extLst>
          </p:cNvPr>
          <p:cNvSpPr/>
          <p:nvPr/>
        </p:nvSpPr>
        <p:spPr>
          <a:xfrm>
            <a:off x="2250105" y="5768881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BDC625F-17F9-F0BF-E4FE-57880C9A844F}"/>
              </a:ext>
            </a:extLst>
          </p:cNvPr>
          <p:cNvSpPr txBox="1"/>
          <p:nvPr/>
        </p:nvSpPr>
        <p:spPr>
          <a:xfrm>
            <a:off x="174998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</a:t>
            </a:r>
            <a:endParaRPr lang="ko-KR" altLang="en-US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CFE671-66F7-058E-F3C4-4F4A3711A522}"/>
              </a:ext>
            </a:extLst>
          </p:cNvPr>
          <p:cNvSpPr txBox="1"/>
          <p:nvPr/>
        </p:nvSpPr>
        <p:spPr>
          <a:xfrm>
            <a:off x="2592868" y="5768881"/>
            <a:ext cx="434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</a:t>
            </a:r>
            <a:endParaRPr lang="ko-KR" altLang="en-US" sz="1100" dirty="0"/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97D2B2A4-A6A6-93DF-D39D-360F990E8C6D}"/>
              </a:ext>
            </a:extLst>
          </p:cNvPr>
          <p:cNvSpPr/>
          <p:nvPr/>
        </p:nvSpPr>
        <p:spPr>
          <a:xfrm>
            <a:off x="3092985" y="5762953"/>
            <a:ext cx="276884" cy="273465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006E7C3-0311-C528-D127-A4560104527B}"/>
              </a:ext>
            </a:extLst>
          </p:cNvPr>
          <p:cNvSpPr txBox="1"/>
          <p:nvPr/>
        </p:nvSpPr>
        <p:spPr>
          <a:xfrm>
            <a:off x="3431389" y="5762953"/>
            <a:ext cx="709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COMMIT</a:t>
            </a:r>
            <a:endParaRPr lang="ko-KR" altLang="en-US" sz="1100" dirty="0"/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7FBBFDDC-98D9-4CEA-BC19-8B10081937DB}"/>
              </a:ext>
            </a:extLst>
          </p:cNvPr>
          <p:cNvSpPr/>
          <p:nvPr/>
        </p:nvSpPr>
        <p:spPr>
          <a:xfrm>
            <a:off x="5038448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58A5B876-65D0-D9D1-EB97-2AD2DF362BAC}"/>
              </a:ext>
            </a:extLst>
          </p:cNvPr>
          <p:cNvSpPr/>
          <p:nvPr/>
        </p:nvSpPr>
        <p:spPr>
          <a:xfrm>
            <a:off x="5393227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A40E15-64A7-3D4A-D627-04A0DB3597DE}"/>
              </a:ext>
            </a:extLst>
          </p:cNvPr>
          <p:cNvSpPr txBox="1"/>
          <p:nvPr/>
        </p:nvSpPr>
        <p:spPr>
          <a:xfrm>
            <a:off x="1430243" y="2060116"/>
            <a:ext cx="711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Final_lsa</a:t>
            </a:r>
            <a:endParaRPr lang="ko-KR" altLang="en-US" sz="11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ED05326-6A6F-8E36-14A4-DC682EE73E02}"/>
              </a:ext>
            </a:extLst>
          </p:cNvPr>
          <p:cNvCxnSpPr>
            <a:cxnSpLocks/>
          </p:cNvCxnSpPr>
          <p:nvPr/>
        </p:nvCxnSpPr>
        <p:spPr>
          <a:xfrm>
            <a:off x="1786004" y="2315280"/>
            <a:ext cx="0" cy="999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">
            <a:extLst>
              <a:ext uri="{FF2B5EF4-FFF2-40B4-BE49-F238E27FC236}">
                <a16:creationId xmlns:a16="http://schemas.microsoft.com/office/drawing/2014/main" id="{8D96F1C9-C36D-F6FE-57BC-40A83207B822}"/>
              </a:ext>
            </a:extLst>
          </p:cNvPr>
          <p:cNvSpPr/>
          <p:nvPr/>
        </p:nvSpPr>
        <p:spPr>
          <a:xfrm>
            <a:off x="6102785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15">
            <a:extLst>
              <a:ext uri="{FF2B5EF4-FFF2-40B4-BE49-F238E27FC236}">
                <a16:creationId xmlns:a16="http://schemas.microsoft.com/office/drawing/2014/main" id="{4935C415-264E-A4FE-B204-BD6AB2D1C571}"/>
              </a:ext>
            </a:extLst>
          </p:cNvPr>
          <p:cNvSpPr/>
          <p:nvPr/>
        </p:nvSpPr>
        <p:spPr>
          <a:xfrm>
            <a:off x="6457564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F92B6880-4D55-FD4A-A293-C4413610AB54}"/>
              </a:ext>
            </a:extLst>
          </p:cNvPr>
          <p:cNvSpPr/>
          <p:nvPr/>
        </p:nvSpPr>
        <p:spPr>
          <a:xfrm>
            <a:off x="6812343" y="2890798"/>
            <a:ext cx="276884" cy="273465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82DA5ED6-D682-405C-B7F5-E6DF1CEC603D}"/>
              </a:ext>
            </a:extLst>
          </p:cNvPr>
          <p:cNvSpPr/>
          <p:nvPr/>
        </p:nvSpPr>
        <p:spPr>
          <a:xfrm>
            <a:off x="5748006" y="2890798"/>
            <a:ext cx="276884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06A69D1-52CC-F562-6FC4-CD8A688C7218}"/>
              </a:ext>
            </a:extLst>
          </p:cNvPr>
          <p:cNvSpPr txBox="1"/>
          <p:nvPr/>
        </p:nvSpPr>
        <p:spPr>
          <a:xfrm>
            <a:off x="7520353" y="2884872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8B14B8BE-DAF4-50A4-9449-F6E7204A6E33}"/>
              </a:ext>
            </a:extLst>
          </p:cNvPr>
          <p:cNvSpPr/>
          <p:nvPr/>
        </p:nvSpPr>
        <p:spPr>
          <a:xfrm>
            <a:off x="8335108" y="2884872"/>
            <a:ext cx="1090246" cy="2734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8CD632BD-759E-0A3C-F65A-F7722D15F601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248337" y="3015677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0C31F0F2-1868-8C8E-DB81-CA3E63DAF9E0}"/>
              </a:ext>
            </a:extLst>
          </p:cNvPr>
          <p:cNvSpPr txBox="1"/>
          <p:nvPr/>
        </p:nvSpPr>
        <p:spPr>
          <a:xfrm>
            <a:off x="4198859" y="2896727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Tx1 item list</a:t>
            </a:r>
            <a:endParaRPr lang="ko-KR" altLang="en-US" sz="1100" dirty="0"/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E9EF572E-6278-1339-5280-6525A54586D9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D4C4AAF-FEDF-7864-8B0D-FD394F272EA1}"/>
              </a:ext>
            </a:extLst>
          </p:cNvPr>
          <p:cNvSpPr txBox="1"/>
          <p:nvPr/>
        </p:nvSpPr>
        <p:spPr>
          <a:xfrm>
            <a:off x="731520" y="310896"/>
            <a:ext cx="10058400" cy="198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2-1. 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복제에 쓰이는 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LSA</a:t>
            </a:r>
            <a:r>
              <a:rPr lang="ko-KR" altLang="en-US" sz="1300" b="1" dirty="0">
                <a:solidFill>
                  <a:srgbClr val="1F6F8B"/>
                </a:solidFill>
                <a:latin typeface="맑은 고딕"/>
              </a:rPr>
              <a:t> 동작</a:t>
            </a:r>
            <a:endParaRPr lang="en-US" altLang="ko-KR"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C19AA2-E376-5B62-BE27-4D190A106AAD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700" b="1" dirty="0" err="1">
                <a:solidFill>
                  <a:srgbClr val="122A42"/>
                </a:solidFill>
                <a:latin typeface="맑은 고딕"/>
              </a:rPr>
              <a:t>Applylogdb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에서 </a:t>
            </a: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슬레이브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반영까지 요약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83A41AAF-401C-150D-22DF-6061304F379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D49434C7-FDD2-7050-1F50-D42B0F0A1446}"/>
              </a:ext>
            </a:extLst>
          </p:cNvPr>
          <p:cNvSpPr/>
          <p:nvPr/>
        </p:nvSpPr>
        <p:spPr>
          <a:xfrm>
            <a:off x="8335108" y="2886173"/>
            <a:ext cx="1090246" cy="273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id="{B3357275-DBCB-8C99-8E71-CF8A5EDDE57E}"/>
              </a:ext>
            </a:extLst>
          </p:cNvPr>
          <p:cNvSpPr/>
          <p:nvPr/>
        </p:nvSpPr>
        <p:spPr>
          <a:xfrm>
            <a:off x="8335107" y="2884872"/>
            <a:ext cx="1090246" cy="2734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EAB351-0992-EBB8-19A2-3E7B8F45E034}"/>
              </a:ext>
            </a:extLst>
          </p:cNvPr>
          <p:cNvSpPr txBox="1"/>
          <p:nvPr/>
        </p:nvSpPr>
        <p:spPr>
          <a:xfrm>
            <a:off x="7210309" y="4255254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r>
              <a:rPr lang="en-US" altLang="ko-KR" sz="1100" dirty="0"/>
              <a:t>…</a:t>
            </a:r>
          </a:p>
        </p:txBody>
      </p:sp>
      <p:sp>
        <p:nvSpPr>
          <p:cNvPr id="75" name="Rectangle 15">
            <a:extLst>
              <a:ext uri="{FF2B5EF4-FFF2-40B4-BE49-F238E27FC236}">
                <a16:creationId xmlns:a16="http://schemas.microsoft.com/office/drawing/2014/main" id="{9C417C14-F2E6-CB70-3B52-49E87650A705}"/>
              </a:ext>
            </a:extLst>
          </p:cNvPr>
          <p:cNvSpPr/>
          <p:nvPr/>
        </p:nvSpPr>
        <p:spPr>
          <a:xfrm>
            <a:off x="5039065" y="3765636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7FB3F6-5463-8329-29D0-655922A0D0B4}"/>
              </a:ext>
            </a:extLst>
          </p:cNvPr>
          <p:cNvSpPr txBox="1"/>
          <p:nvPr/>
        </p:nvSpPr>
        <p:spPr>
          <a:xfrm>
            <a:off x="4160289" y="3777491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Tx2 item list</a:t>
            </a:r>
            <a:endParaRPr lang="ko-KR" altLang="en-US" sz="1100" dirty="0"/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D7C7060E-7E22-8777-2BD3-1ECBB55AD707}"/>
              </a:ext>
            </a:extLst>
          </p:cNvPr>
          <p:cNvSpPr/>
          <p:nvPr/>
        </p:nvSpPr>
        <p:spPr>
          <a:xfrm>
            <a:off x="5390457" y="3765636"/>
            <a:ext cx="276884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15">
            <a:extLst>
              <a:ext uri="{FF2B5EF4-FFF2-40B4-BE49-F238E27FC236}">
                <a16:creationId xmlns:a16="http://schemas.microsoft.com/office/drawing/2014/main" id="{6FBB8D1A-EBD5-4DBD-337D-62D3A3CC1937}"/>
              </a:ext>
            </a:extLst>
          </p:cNvPr>
          <p:cNvSpPr/>
          <p:nvPr/>
        </p:nvSpPr>
        <p:spPr>
          <a:xfrm>
            <a:off x="5021936" y="4455719"/>
            <a:ext cx="276884" cy="27346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73EB86C-750A-E456-40DB-876F50D22CF7}"/>
              </a:ext>
            </a:extLst>
          </p:cNvPr>
          <p:cNvSpPr txBox="1"/>
          <p:nvPr/>
        </p:nvSpPr>
        <p:spPr>
          <a:xfrm>
            <a:off x="4160289" y="4461646"/>
            <a:ext cx="888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Tx3 item list</a:t>
            </a:r>
            <a:endParaRPr lang="ko-KR" altLang="en-US" sz="1100" dirty="0"/>
          </a:p>
        </p:txBody>
      </p:sp>
      <p:sp>
        <p:nvSpPr>
          <p:cNvPr id="100" name="Rectangle 15">
            <a:extLst>
              <a:ext uri="{FF2B5EF4-FFF2-40B4-BE49-F238E27FC236}">
                <a16:creationId xmlns:a16="http://schemas.microsoft.com/office/drawing/2014/main" id="{0B359EB5-6554-89B6-DD22-0B977B4E8087}"/>
              </a:ext>
            </a:extLst>
          </p:cNvPr>
          <p:cNvSpPr/>
          <p:nvPr/>
        </p:nvSpPr>
        <p:spPr>
          <a:xfrm>
            <a:off x="5741849" y="3765636"/>
            <a:ext cx="276884" cy="273465"/>
          </a:xfrm>
          <a:prstGeom prst="rect">
            <a:avLst/>
          </a:prstGeom>
          <a:solidFill>
            <a:srgbClr val="FFC000"/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2B29F9-6848-ABC9-0D1E-12112F5CDE22}"/>
              </a:ext>
            </a:extLst>
          </p:cNvPr>
          <p:cNvSpPr txBox="1"/>
          <p:nvPr/>
        </p:nvSpPr>
        <p:spPr>
          <a:xfrm>
            <a:off x="6395554" y="3761209"/>
            <a:ext cx="814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workspace</a:t>
            </a:r>
            <a:endParaRPr lang="ko-KR" altLang="en-US" sz="1100" dirty="0"/>
          </a:p>
        </p:txBody>
      </p:sp>
      <p:sp>
        <p:nvSpPr>
          <p:cNvPr id="106" name="Rectangle 15">
            <a:extLst>
              <a:ext uri="{FF2B5EF4-FFF2-40B4-BE49-F238E27FC236}">
                <a16:creationId xmlns:a16="http://schemas.microsoft.com/office/drawing/2014/main" id="{E3DB0B93-46DF-EE7F-DE8E-F2BABCEB2FD8}"/>
              </a:ext>
            </a:extLst>
          </p:cNvPr>
          <p:cNvSpPr/>
          <p:nvPr/>
        </p:nvSpPr>
        <p:spPr>
          <a:xfrm>
            <a:off x="7210309" y="3761209"/>
            <a:ext cx="1090246" cy="2734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E077E87-3D9D-43F0-91F5-2541C464A464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6123538" y="3892014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F3CB23AE-CE77-160D-468F-EC6E73310057}"/>
              </a:ext>
            </a:extLst>
          </p:cNvPr>
          <p:cNvCxnSpPr>
            <a:cxnSpLocks/>
          </p:cNvCxnSpPr>
          <p:nvPr/>
        </p:nvCxnSpPr>
        <p:spPr>
          <a:xfrm>
            <a:off x="9563644" y="3027530"/>
            <a:ext cx="272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C6EAFFB-297B-ABC0-F450-F98B793EF4B9}"/>
              </a:ext>
            </a:extLst>
          </p:cNvPr>
          <p:cNvSpPr txBox="1"/>
          <p:nvPr/>
        </p:nvSpPr>
        <p:spPr>
          <a:xfrm>
            <a:off x="9425354" y="3268777"/>
            <a:ext cx="1789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Flush / commit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ADE603B-AE7F-D0EA-F163-7EE1A1B72B73}"/>
              </a:ext>
            </a:extLst>
          </p:cNvPr>
          <p:cNvSpPr/>
          <p:nvPr/>
        </p:nvSpPr>
        <p:spPr>
          <a:xfrm>
            <a:off x="4967653" y="2804746"/>
            <a:ext cx="4958861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09DA1D1-A1F1-D5EE-1E2A-E09E97D4348A}"/>
              </a:ext>
            </a:extLst>
          </p:cNvPr>
          <p:cNvSpPr txBox="1"/>
          <p:nvPr/>
        </p:nvSpPr>
        <p:spPr>
          <a:xfrm>
            <a:off x="4922460" y="2543136"/>
            <a:ext cx="39895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Worker1</a:t>
            </a:r>
            <a:endParaRPr lang="ko-KR" altLang="en-US" sz="1100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5BBDE4B-1CEB-22F4-0D8A-D93AB41BCB47}"/>
              </a:ext>
            </a:extLst>
          </p:cNvPr>
          <p:cNvSpPr/>
          <p:nvPr/>
        </p:nvSpPr>
        <p:spPr>
          <a:xfrm>
            <a:off x="4967653" y="3699664"/>
            <a:ext cx="4958861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0640817-8D91-8313-912C-C234591282AA}"/>
              </a:ext>
            </a:extLst>
          </p:cNvPr>
          <p:cNvSpPr txBox="1"/>
          <p:nvPr/>
        </p:nvSpPr>
        <p:spPr>
          <a:xfrm>
            <a:off x="4922460" y="3432281"/>
            <a:ext cx="39895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Worker2</a:t>
            </a:r>
            <a:endParaRPr lang="ko-KR" altLang="en-US" sz="11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12EF7A4-992F-A7C5-7855-18F08D02DA44}"/>
              </a:ext>
            </a:extLst>
          </p:cNvPr>
          <p:cNvSpPr txBox="1"/>
          <p:nvPr/>
        </p:nvSpPr>
        <p:spPr>
          <a:xfrm>
            <a:off x="7210308" y="3263247"/>
            <a:ext cx="17896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Obj </a:t>
            </a:r>
            <a:r>
              <a:rPr lang="ko-KR" altLang="en-US" sz="1100" dirty="0"/>
              <a:t>로 변경 후 </a:t>
            </a:r>
            <a:endParaRPr lang="en-US" altLang="ko-KR" sz="1100" dirty="0"/>
          </a:p>
          <a:p>
            <a:r>
              <a:rPr lang="ko-KR" altLang="en-US" sz="1100" dirty="0"/>
              <a:t>하나의 </a:t>
            </a:r>
            <a:r>
              <a:rPr lang="en-US" altLang="ko-KR" sz="1100" dirty="0"/>
              <a:t>data buffer</a:t>
            </a:r>
            <a:r>
              <a:rPr lang="ko-KR" altLang="en-US" sz="1100" dirty="0"/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4042069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96C2-30BF-9608-AB17-D56749C2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D76F7A-63FA-1FDB-D00D-614D1EB28D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F2D7A-0A67-6A36-C62F-99B4394EBCA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FD9EA-F30C-9A79-292C-DA4C778085A2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13684-30B4-2FB6-74DE-0557A0D7DB61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4-2. PoC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결과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병렬화의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가능성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6C7F0-55C2-E6E2-93FC-474DC48F41C2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병렬성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확인 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39B7F5-C7E5-368C-E568-52B5F96125C5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9AAB2-869F-D2D0-8524-F8F53502043C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82FB4-6FD4-AD81-F74E-D3F26C4E09E1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5DAA378-A2CE-486C-B4A0-20035C45B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165" y="1206676"/>
            <a:ext cx="4302994" cy="534686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3984381-2F2E-4CF0-1F31-535446095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43" y="1204640"/>
            <a:ext cx="4188794" cy="534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82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4-2. PoC 결과 — 병렬화의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반영 시간 약 3.4배 단축, lag 4~6배 감소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3383280" cy="164592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338328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700784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전체 반영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12848"/>
            <a:ext cx="3054096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endParaRPr dirty="0"/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 dirty="0" err="1">
                <a:solidFill>
                  <a:srgbClr val="444B54"/>
                </a:solidFill>
                <a:latin typeface="맑은 고딕"/>
              </a:rPr>
              <a:t>약</a:t>
            </a:r>
            <a:r>
              <a:rPr sz="1300" dirty="0">
                <a:solidFill>
                  <a:srgbClr val="444B54"/>
                </a:solidFill>
                <a:latin typeface="맑은 고딕"/>
              </a:rPr>
              <a:t> 3.4배 </a:t>
            </a:r>
            <a:r>
              <a:rPr sz="1300" dirty="0" err="1">
                <a:solidFill>
                  <a:srgbClr val="444B54"/>
                </a:solidFill>
                <a:latin typeface="맑은 고딕"/>
              </a:rPr>
              <a:t>단축</a:t>
            </a:r>
            <a:endParaRPr sz="13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 dirty="0">
                <a:solidFill>
                  <a:srgbClr val="444B54"/>
                </a:solidFill>
                <a:latin typeface="맑은 고딕"/>
              </a:rPr>
              <a:t>(buffer 5G, </a:t>
            </a:r>
            <a:r>
              <a:rPr sz="1300" dirty="0" err="1">
                <a:solidFill>
                  <a:srgbClr val="444B54"/>
                </a:solidFill>
                <a:latin typeface="맑은 고딕"/>
              </a:rPr>
              <a:t>dwb</a:t>
            </a:r>
            <a:r>
              <a:rPr sz="1300" dirty="0">
                <a:solidFill>
                  <a:srgbClr val="444B54"/>
                </a:solidFill>
                <a:latin typeface="맑은 고딕"/>
              </a:rPr>
              <a:t>=0 </a:t>
            </a:r>
            <a:r>
              <a:rPr sz="1300" dirty="0" err="1">
                <a:solidFill>
                  <a:srgbClr val="444B54"/>
                </a:solidFill>
                <a:latin typeface="맑은 고딕"/>
              </a:rPr>
              <a:t>동일</a:t>
            </a:r>
            <a:r>
              <a:rPr sz="13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dirty="0" err="1">
                <a:solidFill>
                  <a:srgbClr val="444B54"/>
                </a:solidFill>
                <a:latin typeface="맑은 고딕"/>
              </a:rPr>
              <a:t>조건</a:t>
            </a:r>
            <a:r>
              <a:rPr sz="130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645920"/>
            <a:ext cx="3383280" cy="164592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38328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1700784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복제 지연(lag)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212848"/>
            <a:ext cx="3054096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endParaRPr/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4 ~ 6배 감소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병렬화 효과 자체는 분명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645920"/>
            <a:ext cx="3840480" cy="164592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0" y="1645920"/>
            <a:ext cx="3840480" cy="4572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6992" y="1700784"/>
            <a:ext cx="35112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워커 단일 처리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2212848"/>
            <a:ext cx="3511296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8.05초 → 16.10초 (1.5~2배 ↑)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병목은 네트워크가 아니라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슬레이브 on-CPU 적용 로직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109728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22A42"/>
                </a:solidFill>
                <a:latin typeface="맑은 고딕"/>
              </a:rPr>
              <a:t>● 결론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병목은 prior_lsa·lock·page/space 할당 등 슬레이브에서 실제 변경을 적용하는 on-CPU 로직 (insert/update 콜체인 분석으로 확인)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병렬화의 효과는 분명하다 — 다만 PoC 는 의존성을 보지 않고 단순 분배만 했다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</a:rPr>
              <a:t>● 그래서 따라오는 질문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제대로 된(충돌·순서를 지키는) 병렬화는 어떻게 해야 하는가?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52FE-0B4E-36B8-D3D2-78CB7EB44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1CE0B-E587-4E7F-690A-44619881465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56504-BA57-9884-C9F6-229BCB110C08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CF5AF-477B-1A79-D195-818ECD17C730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200B5-FE3C-CEBA-7BEE-7B0C9B48E343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4-2. PoC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결과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병렬화의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가능성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FBB6D-ACA8-8606-41AF-7F342B222C90}"/>
              </a:ext>
            </a:extLst>
          </p:cNvPr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700" b="1" dirty="0" err="1">
                <a:solidFill>
                  <a:srgbClr val="122A42"/>
                </a:solidFill>
                <a:latin typeface="맑은 고딕"/>
              </a:rPr>
              <a:t>병렬성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 확인 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927C8-C517-506E-3232-DF0DC1B70688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A2695-8F18-768D-CE33-C76E133D858D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2EA04-E011-4DB2-D1F5-4ECD278A8032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301F25-9FA7-397F-A619-4C6BDFF26088}"/>
              </a:ext>
            </a:extLst>
          </p:cNvPr>
          <p:cNvSpPr txBox="1"/>
          <p:nvPr/>
        </p:nvSpPr>
        <p:spPr>
          <a:xfrm>
            <a:off x="731520" y="1509096"/>
            <a:ext cx="109728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122A42"/>
                </a:solidFill>
                <a:latin typeface="맑은 고딕"/>
              </a:rPr>
              <a:t>●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결론</a:t>
            </a:r>
            <a:endParaRPr sz="15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병목은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prior_lsa·lock·page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/space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할당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등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슬레이브에서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변경을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적용하는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on-CPU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로직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(insert/update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콜체인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분석으로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확인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병렬화의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효과는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분명하다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—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다만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PoC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의존성을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보지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않고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단순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분배만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했다</a:t>
            </a:r>
            <a:endParaRPr sz="14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dirty="0">
                <a:solidFill>
                  <a:srgbClr val="E87A2B"/>
                </a:solidFill>
                <a:latin typeface="맑은 고딕"/>
              </a:rPr>
              <a:t>●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그래서</a:t>
            </a:r>
            <a:r>
              <a:rPr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따라오는</a:t>
            </a:r>
            <a:r>
              <a:rPr sz="15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87A2B"/>
                </a:solidFill>
                <a:latin typeface="맑은 고딕"/>
              </a:rPr>
              <a:t>질문</a:t>
            </a:r>
            <a:endParaRPr sz="150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제대로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된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충돌·순서를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지키는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)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병렬화는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어떻게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해야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444B54"/>
                </a:solidFill>
                <a:latin typeface="맑은 고딕"/>
              </a:rPr>
              <a:t>하는가</a:t>
            </a:r>
            <a:r>
              <a:rPr sz="1400" b="0" dirty="0">
                <a:solidFill>
                  <a:srgbClr val="444B54"/>
                </a:solidFill>
                <a:latin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53212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PoC 이후의 핵심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tranid % worker 단순 분배의 두 가지 한계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5. PoC 이후의 핵심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단순 워커 선택기로는 부족하다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● 현재 PoC 의 분배 방식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444B54"/>
                </a:solidFill>
                <a:latin typeface="맑은 고딕"/>
              </a:rPr>
              <a:t>– commit 레코드를 만나면 worker_idx = tranid % LA_APPLY_WORKER_COUNT 로 워커 선택 — 구현은 단순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394960" cy="23774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39496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9806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한계 ① 정확성 (치명적)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10128"/>
            <a:ext cx="5065776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서로 관련 있는(같은 데이터를 건드리는)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트랜잭션이 다른 워커에 배정되어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동시에 실행될 수 있음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복제 결과가 원본 실행 순서와 달라짐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가장 큰 문제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394960" cy="23774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539496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79806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한계 ② 병렬 효율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310128"/>
            <a:ext cx="5065776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서로 독립인 트랜잭션이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우연히 같은 워커에 쏠릴 수 있음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병렬 효과를 제대로 못 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22A42"/>
                </a:solidFill>
                <a:latin typeface="맑은 고딕"/>
              </a:rPr>
              <a:t>→ 결국 트랜잭션 간 충돌과 순서를 먼저 판단하는 "코디네이터"가 필요하다.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타 DBMS 병렬 복제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PostgreSQL · EDB PGD · MySQL 조사 — 무엇이 우리에게 맞나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6-1. PostgreSQL — 물리 복제 (streaming)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WAL 을 그대로 복사·재생 — 단일 스레드라 병렬 적용이 어렵다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9" name="t"/>
          <p:cNvSpPr txBox="1"/>
          <p:nvPr/>
        </p:nvSpPr>
        <p:spPr>
          <a:xfrm>
            <a:off x="640080" y="1480000"/>
            <a:ext cx="5500000" cy="3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물리 복제(streaming) =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WAL(페이지 변경)을 그대로 복사해 재생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walsender → walreceiver →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startup process 가 LSN 순서로 재생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보통 </a:t>
            </a:r>
            <a:r>
              <a:rPr sz="1200" b="1">
                <a:solidFill>
                  <a:srgbClr val="E87A2B"/>
                </a:solidFill>
                <a:latin typeface="맑은 고딕"/>
              </a:rPr>
              <a:t>단일 스레드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→ 멀티코어 마스터 못 따라가 지연 누적 가능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standby = 클러스터 통째 · 동일 버전 · 읽기 전용 (경직)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적용 단위가 LSN 순서 페이지 변경 → </a:t>
            </a:r>
            <a:r>
              <a:rPr sz="1200" b="1">
                <a:solidFill>
                  <a:srgbClr val="E87A2B"/>
                </a:solidFill>
                <a:latin typeface="맑은 고딕"/>
              </a:rPr>
              <a:t>임의로 tx 떼어 병렬 적용 어려움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(parallel recovery 는 제안 단계)</a:t>
            </a:r>
          </a:p>
        </p:txBody>
      </p:sp>
      <p:sp>
        <p:nvSpPr>
          <p:cNvPr id="10" name="r"/>
          <p:cNvSpPr/>
          <p:nvPr/>
        </p:nvSpPr>
        <p:spPr>
          <a:xfrm>
            <a:off x="6320000" y="1480000"/>
            <a:ext cx="5300000" cy="2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6320000" y="1480000"/>
            <a:ext cx="5300000" cy="3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6460000" y="1480000"/>
            <a:ext cx="502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wal_level 별 가능한 복제</a:t>
            </a:r>
          </a:p>
        </p:txBody>
      </p:sp>
      <p:sp>
        <p:nvSpPr>
          <p:cNvPr id="13" name="t"/>
          <p:cNvSpPr txBox="1"/>
          <p:nvPr/>
        </p:nvSpPr>
        <p:spPr>
          <a:xfrm>
            <a:off x="6480000" y="1980000"/>
            <a:ext cx="4980000" cy="1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150" b="1">
                <a:solidFill>
                  <a:srgbClr val="8A939E"/>
                </a:solidFill>
                <a:latin typeface="맑은 고딕"/>
              </a:rPr>
              <a:t>minimal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— crash recovery 만 (복제 불가)</a:t>
            </a:r>
          </a:p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replica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(기본) — 아카이빙 + 물리 streaming + standby 읽기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87A2B"/>
                </a:solidFill>
                <a:latin typeface="맑은 고딕"/>
              </a:rPr>
              <a:t>logical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— replica + logical decoding(논리 복제)</a:t>
            </a:r>
          </a:p>
        </p:txBody>
      </p:sp>
      <p:sp>
        <p:nvSpPr>
          <p:cNvPr id="14" name="t"/>
          <p:cNvSpPr txBox="1"/>
          <p:nvPr/>
        </p:nvSpPr>
        <p:spPr>
          <a:xfrm>
            <a:off x="6320000" y="3700000"/>
            <a:ext cx="5300000" cy="11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→ 물리 복제는 적용 단계에서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병렬 단위를 노출하지 않는다.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병렬 적용을 보려면 논리 복제(pub/sub) — 다음 장.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6-2. PostgreSQL pub/sub — 컴포넌트와 동작 순서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구성요소와 흐름 ① connect+slot → ② changes(push) → ③ feedback(LSN)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08000"/>
              </a:lnSpc>
              <a:spcAft>
                <a:spcPts val="18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10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560000" y="1560000"/>
            <a:ext cx="4450000" cy="3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560000" y="1560000"/>
            <a:ext cx="4450000" cy="3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690000" y="1560000"/>
            <a:ext cx="419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PUBLISHER (원본)</a:t>
            </a:r>
          </a:p>
        </p:txBody>
      </p:sp>
      <p:sp>
        <p:nvSpPr>
          <p:cNvPr id="13" name="r"/>
          <p:cNvSpPr/>
          <p:nvPr/>
        </p:nvSpPr>
        <p:spPr>
          <a:xfrm>
            <a:off x="710000" y="203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"/>
          <p:cNvSpPr txBox="1"/>
          <p:nvPr/>
        </p:nvSpPr>
        <p:spPr>
          <a:xfrm>
            <a:off x="840000" y="203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PUBLICATION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어떤 테이블·연산을 보낼지 명세</a:t>
            </a:r>
          </a:p>
        </p:txBody>
      </p:sp>
      <p:sp>
        <p:nvSpPr>
          <p:cNvPr id="15" name="r"/>
          <p:cNvSpPr/>
          <p:nvPr/>
        </p:nvSpPr>
        <p:spPr>
          <a:xfrm>
            <a:off x="710000" y="265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"/>
          <p:cNvSpPr txBox="1"/>
          <p:nvPr/>
        </p:nvSpPr>
        <p:spPr>
          <a:xfrm>
            <a:off x="840000" y="265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WAL → logical decoding → pgoutput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WAL 해석 + PUBLICATION 기준 필터</a:t>
            </a:r>
          </a:p>
        </p:txBody>
      </p:sp>
      <p:sp>
        <p:nvSpPr>
          <p:cNvPr id="17" name="r"/>
          <p:cNvSpPr/>
          <p:nvPr/>
        </p:nvSpPr>
        <p:spPr>
          <a:xfrm>
            <a:off x="710000" y="327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840000" y="327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walsender · replication slot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스트림 전송 · 어디까지 받았나 보존</a:t>
            </a:r>
          </a:p>
        </p:txBody>
      </p:sp>
      <p:sp>
        <p:nvSpPr>
          <p:cNvPr id="19" name="r"/>
          <p:cNvSpPr/>
          <p:nvPr/>
        </p:nvSpPr>
        <p:spPr>
          <a:xfrm>
            <a:off x="7180000" y="1560000"/>
            <a:ext cx="4450000" cy="3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"/>
          <p:cNvSpPr/>
          <p:nvPr/>
        </p:nvSpPr>
        <p:spPr>
          <a:xfrm>
            <a:off x="7180000" y="1560000"/>
            <a:ext cx="4450000" cy="38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7310000" y="1560000"/>
            <a:ext cx="419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SUBSCRIBER (복제본)</a:t>
            </a:r>
          </a:p>
        </p:txBody>
      </p:sp>
      <p:sp>
        <p:nvSpPr>
          <p:cNvPr id="22" name="r"/>
          <p:cNvSpPr/>
          <p:nvPr/>
        </p:nvSpPr>
        <p:spPr>
          <a:xfrm>
            <a:off x="7330000" y="203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/>
          <p:cNvSpPr txBox="1"/>
          <p:nvPr/>
        </p:nvSpPr>
        <p:spPr>
          <a:xfrm>
            <a:off x="7460000" y="203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SUBSCRIPTION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어느 publication 을 어떻게 받을지 명세</a:t>
            </a:r>
          </a:p>
        </p:txBody>
      </p:sp>
      <p:sp>
        <p:nvSpPr>
          <p:cNvPr id="24" name="r"/>
          <p:cNvSpPr/>
          <p:nvPr/>
        </p:nvSpPr>
        <p:spPr>
          <a:xfrm>
            <a:off x="7330000" y="265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/>
          <p:cNvSpPr txBox="1"/>
          <p:nvPr/>
        </p:nvSpPr>
        <p:spPr>
          <a:xfrm>
            <a:off x="7460000" y="265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apply worker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적용 — 구독당 1개·commit 순서 직렬</a:t>
            </a:r>
          </a:p>
        </p:txBody>
      </p:sp>
      <p:sp>
        <p:nvSpPr>
          <p:cNvPr id="26" name="r"/>
          <p:cNvSpPr/>
          <p:nvPr/>
        </p:nvSpPr>
        <p:spPr>
          <a:xfrm>
            <a:off x="7330000" y="3270000"/>
            <a:ext cx="4150000" cy="560000"/>
          </a:xfrm>
          <a:prstGeom prst="roundRect">
            <a:avLst/>
          </a:prstGeom>
          <a:solidFill>
            <a:srgbClr val="DC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/>
          <p:cNvSpPr txBox="1"/>
          <p:nvPr/>
        </p:nvSpPr>
        <p:spPr>
          <a:xfrm>
            <a:off x="7460000" y="3270000"/>
            <a:ext cx="389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20"/>
              </a:spcAft>
            </a:pPr>
            <a:r>
              <a:rPr sz="1080" b="1">
                <a:solidFill>
                  <a:srgbClr val="122A42"/>
                </a:solidFill>
                <a:latin typeface="맑은 고딕"/>
              </a:rPr>
              <a:t>tablesync · origin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30" b="0">
                <a:solidFill>
                  <a:srgbClr val="444B54"/>
                </a:solidFill>
                <a:latin typeface="맑은 고딕"/>
              </a:rPr>
              <a:t>초기 COPY · 적용 LSN 기록(재시작)</a:t>
            </a:r>
          </a:p>
        </p:txBody>
      </p:sp>
      <p:sp>
        <p:nvSpPr>
          <p:cNvPr id="28" name="t"/>
          <p:cNvSpPr txBox="1"/>
          <p:nvPr/>
        </p:nvSpPr>
        <p:spPr>
          <a:xfrm>
            <a:off x="5060000" y="170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050" b="1">
                <a:solidFill>
                  <a:srgbClr val="1F6F8B"/>
                </a:solidFill>
                <a:latin typeface="맑은 고딕"/>
              </a:rPr>
              <a:t>① connect+slot</a:t>
            </a:r>
          </a:p>
        </p:txBody>
      </p:sp>
      <p:sp>
        <p:nvSpPr>
          <p:cNvPr id="29" name="t"/>
          <p:cNvSpPr txBox="1"/>
          <p:nvPr/>
        </p:nvSpPr>
        <p:spPr>
          <a:xfrm>
            <a:off x="5060000" y="196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◄────</a:t>
            </a:r>
          </a:p>
        </p:txBody>
      </p:sp>
      <p:sp>
        <p:nvSpPr>
          <p:cNvPr id="30" name="t"/>
          <p:cNvSpPr txBox="1"/>
          <p:nvPr/>
        </p:nvSpPr>
        <p:spPr>
          <a:xfrm>
            <a:off x="5060000" y="256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050" b="1">
                <a:solidFill>
                  <a:srgbClr val="E87A2B"/>
                </a:solidFill>
                <a:latin typeface="맑은 고딕"/>
              </a:rPr>
              <a:t>② changes(push)</a:t>
            </a:r>
          </a:p>
        </p:txBody>
      </p:sp>
      <p:sp>
        <p:nvSpPr>
          <p:cNvPr id="31" name="t"/>
          <p:cNvSpPr txBox="1"/>
          <p:nvPr/>
        </p:nvSpPr>
        <p:spPr>
          <a:xfrm>
            <a:off x="5060000" y="282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300" b="1">
                <a:solidFill>
                  <a:srgbClr val="E87A2B"/>
                </a:solidFill>
                <a:latin typeface="맑은 고딕"/>
              </a:rPr>
              <a:t>────►</a:t>
            </a:r>
          </a:p>
        </p:txBody>
      </p:sp>
      <p:sp>
        <p:nvSpPr>
          <p:cNvPr id="32" name="t"/>
          <p:cNvSpPr txBox="1"/>
          <p:nvPr/>
        </p:nvSpPr>
        <p:spPr>
          <a:xfrm>
            <a:off x="5060000" y="342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050" b="1">
                <a:solidFill>
                  <a:srgbClr val="122A42"/>
                </a:solidFill>
                <a:latin typeface="맑은 고딕"/>
              </a:rPr>
              <a:t>③ feedback(LSN)</a:t>
            </a:r>
          </a:p>
        </p:txBody>
      </p:sp>
      <p:sp>
        <p:nvSpPr>
          <p:cNvPr id="33" name="t"/>
          <p:cNvSpPr txBox="1"/>
          <p:nvPr/>
        </p:nvSpPr>
        <p:spPr>
          <a:xfrm>
            <a:off x="5060000" y="3680000"/>
            <a:ext cx="21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08000"/>
              </a:lnSpc>
              <a:spcAft>
                <a:spcPts val="18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◄────</a:t>
            </a:r>
          </a:p>
        </p:txBody>
      </p:sp>
      <p:sp>
        <p:nvSpPr>
          <p:cNvPr id="34" name="t"/>
          <p:cNvSpPr txBox="1"/>
          <p:nvPr/>
        </p:nvSpPr>
        <p:spPr>
          <a:xfrm>
            <a:off x="560000" y="4880000"/>
            <a:ext cx="11070000" cy="1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80" b="1">
                <a:solidFill>
                  <a:srgbClr val="1F6F8B"/>
                </a:solidFill>
                <a:latin typeface="맑은 고딕"/>
              </a:rPr>
              <a:t>① connect + slot : 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CREATE SUBSCRIPTION 시 subscriber 가 publisher 에 접속해 replication slot 생성 (이어 tablesync 가 기존 데이터 초기 COPY)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80" b="1">
                <a:solidFill>
                  <a:srgbClr val="E87A2B"/>
                </a:solidFill>
                <a:latin typeface="맑은 고딕"/>
              </a:rPr>
              <a:t>② changes : 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publisher 가 변경을 push — WAL → logical decoding → pgoutput(필터) → walsender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122A42"/>
                </a:solidFill>
                <a:latin typeface="맑은 고딕"/>
              </a:rPr>
              <a:t>③ feedback : 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apply worker 가 적용 후 적용 LSN 을 feedback(origin 기록) → publisher 의 slot 전진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98C2C5-E548-DE0F-2977-41BB01469B03}"/>
              </a:ext>
            </a:extLst>
          </p:cNvPr>
          <p:cNvSpPr txBox="1"/>
          <p:nvPr/>
        </p:nvSpPr>
        <p:spPr>
          <a:xfrm>
            <a:off x="4730000" y="6246889"/>
            <a:ext cx="706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pgoutput</a:t>
            </a:r>
            <a:r>
              <a:rPr lang="ko-KR" altLang="en-US" sz="1000" dirty="0"/>
              <a:t> = PG 내장 논리 복제가 쓰는 발행자 측 출력 플러그인(</a:t>
            </a:r>
            <a:r>
              <a:rPr lang="ko-KR" altLang="en-US" sz="1000" dirty="0" err="1"/>
              <a:t>WAL→논리</a:t>
            </a:r>
            <a:r>
              <a:rPr lang="ko-KR" altLang="en-US" sz="1000" dirty="0"/>
              <a:t> 메시지 변환, </a:t>
            </a:r>
            <a:r>
              <a:rPr lang="ko-KR" altLang="en-US" sz="1000" dirty="0" err="1"/>
              <a:t>publication</a:t>
            </a:r>
            <a:r>
              <a:rPr lang="ko-KR" altLang="en-US" sz="1000" dirty="0"/>
              <a:t> 필터·스트리밍·2PC 지원).</a:t>
            </a:r>
            <a:endParaRPr lang="en-US" altLang="ko-KR" sz="1000" dirty="0"/>
          </a:p>
          <a:p>
            <a:r>
              <a:rPr lang="en-US" altLang="ko-KR" sz="1000" dirty="0"/>
              <a:t>Wal</a:t>
            </a:r>
            <a:r>
              <a:rPr lang="ko-KR" altLang="en-US" sz="1000" dirty="0"/>
              <a:t>을 어디까지 </a:t>
            </a:r>
            <a:r>
              <a:rPr lang="ko-KR" altLang="en-US" sz="1000" dirty="0" err="1"/>
              <a:t>복재했으며</a:t>
            </a:r>
            <a:r>
              <a:rPr lang="en-US" altLang="ko-KR" sz="1000" dirty="0"/>
              <a:t>,</a:t>
            </a:r>
            <a:r>
              <a:rPr lang="ko-KR" altLang="en-US" sz="1000" dirty="0"/>
              <a:t> 지워도 되는지 여부 확인을 위해 </a:t>
            </a:r>
            <a:r>
              <a:rPr lang="en-US" altLang="ko-KR" sz="1000" dirty="0"/>
              <a:t>Feedback </a:t>
            </a:r>
            <a:r>
              <a:rPr lang="ko-KR" altLang="en-US" sz="1000" dirty="0"/>
              <a:t>필수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6-2. PostgreSQL — pub/sub 탈락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41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700" b="1" dirty="0">
                <a:solidFill>
                  <a:srgbClr val="122A42"/>
                </a:solidFill>
                <a:latin typeface="맑은 고딕"/>
              </a:rPr>
              <a:t>PostgreSQL</a:t>
            </a:r>
            <a:r>
              <a:rPr lang="ko-KR" altLang="en-US" sz="2700" b="1" dirty="0">
                <a:solidFill>
                  <a:srgbClr val="122A42"/>
                </a:solidFill>
                <a:latin typeface="맑은 고딕"/>
              </a:rPr>
              <a:t>의 </a:t>
            </a:r>
            <a:r>
              <a:rPr sz="2700" b="1" dirty="0">
                <a:solidFill>
                  <a:srgbClr val="122A42"/>
                </a:solidFill>
                <a:latin typeface="맑은 고딕"/>
              </a:rPr>
              <a:t>pub</a:t>
            </a:r>
            <a:r>
              <a:rPr sz="2700" b="1">
                <a:solidFill>
                  <a:srgbClr val="122A42"/>
                </a:solidFill>
                <a:latin typeface="맑은 고딕"/>
              </a:rPr>
              <a:t>/sub</a:t>
            </a:r>
            <a:endParaRPr sz="27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pic>
        <p:nvPicPr>
          <p:cNvPr id="10" name="Picture 9" descr="pgsql_pub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687" y="1463040"/>
            <a:ext cx="5320145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840480"/>
            <a:ext cx="5486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dirty="0">
                <a:solidFill>
                  <a:srgbClr val="122A42"/>
                </a:solidFill>
                <a:latin typeface="맑은 고딕"/>
              </a:rPr>
              <a:t>●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한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구독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내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= publisher commit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순서대로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직렬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적용</a:t>
            </a:r>
            <a:endParaRPr sz="14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트랜잭션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일관성도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그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구독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범위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안에서만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보장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MySQL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처럼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트랜잭션을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자동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병렬하지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않음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53949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dirty="0">
                <a:solidFill>
                  <a:srgbClr val="E87A2B"/>
                </a:solidFill>
                <a:latin typeface="맑은 고딕"/>
              </a:rPr>
              <a:t>●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병렬이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나오는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곳은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셋뿐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—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모두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우리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목표와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다름</a:t>
            </a:r>
            <a:endParaRPr sz="140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①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초기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동기화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tablesync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) — 1회성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적재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병렬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②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대형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streaming —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큰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쪼개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적용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③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다중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구독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—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운영자가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수동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분배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경계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깨짐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위험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→ "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자동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전역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순서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"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아님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=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부적합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6-3. PostgreSQL — pub/sub 구성·옵션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PUBLICATION/SUBSCRIPTION 으로 구성 · 병렬도는 wal_level 이 아니라 subscriber GUC 가 결정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9" name="r"/>
          <p:cNvSpPr/>
          <p:nvPr/>
        </p:nvSpPr>
        <p:spPr>
          <a:xfrm>
            <a:off x="640080" y="1470000"/>
            <a:ext cx="5430000" cy="16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"/>
          <p:cNvSpPr/>
          <p:nvPr/>
        </p:nvSpPr>
        <p:spPr>
          <a:xfrm>
            <a:off x="640080" y="1470000"/>
            <a:ext cx="5430000" cy="3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"/>
          <p:cNvSpPr txBox="1"/>
          <p:nvPr/>
        </p:nvSpPr>
        <p:spPr>
          <a:xfrm>
            <a:off x="780080" y="1470000"/>
            <a:ext cx="515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publisher — PUBLICATION</a:t>
            </a:r>
          </a:p>
        </p:txBody>
      </p:sp>
      <p:sp>
        <p:nvSpPr>
          <p:cNvPr id="12" name="r"/>
          <p:cNvSpPr/>
          <p:nvPr/>
        </p:nvSpPr>
        <p:spPr>
          <a:xfrm>
            <a:off x="800000" y="1980000"/>
            <a:ext cx="5110000" cy="105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950000" y="2090000"/>
            <a:ext cx="4810000" cy="8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CREATE PUBLICATION p</a:t>
            </a:r>
          </a:p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FOR TABLE t1,t2</a:t>
            </a:r>
          </a:p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WITH (publish='insert,update,...');</a:t>
            </a:r>
          </a:p>
        </p:txBody>
      </p:sp>
      <p:sp>
        <p:nvSpPr>
          <p:cNvPr id="14" name="r"/>
          <p:cNvSpPr/>
          <p:nvPr/>
        </p:nvSpPr>
        <p:spPr>
          <a:xfrm>
            <a:off x="6260000" y="1470000"/>
            <a:ext cx="5430000" cy="16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"/>
          <p:cNvSpPr/>
          <p:nvPr/>
        </p:nvSpPr>
        <p:spPr>
          <a:xfrm>
            <a:off x="6260000" y="1470000"/>
            <a:ext cx="5430000" cy="38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"/>
          <p:cNvSpPr txBox="1"/>
          <p:nvPr/>
        </p:nvSpPr>
        <p:spPr>
          <a:xfrm>
            <a:off x="6400000" y="1470000"/>
            <a:ext cx="515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subscriber — SUBSCRIPTION</a:t>
            </a:r>
          </a:p>
        </p:txBody>
      </p:sp>
      <p:sp>
        <p:nvSpPr>
          <p:cNvPr id="17" name="r"/>
          <p:cNvSpPr/>
          <p:nvPr/>
        </p:nvSpPr>
        <p:spPr>
          <a:xfrm>
            <a:off x="6420000" y="1980000"/>
            <a:ext cx="5110000" cy="105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6570000" y="2090000"/>
            <a:ext cx="4810000" cy="8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CREATE SUBSCRIPTION s</a:t>
            </a:r>
          </a:p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CONNECTION '...' PUBLICATION p</a:t>
            </a:r>
          </a:p>
          <a:p>
            <a:pPr algn="l">
              <a:lnSpc>
                <a:spcPct val="124000"/>
              </a:lnSpc>
              <a:spcAft>
                <a:spcPts val="9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WITH (copy_data=true, streaming=parallel);</a:t>
            </a:r>
          </a:p>
        </p:txBody>
      </p:sp>
      <p:sp>
        <p:nvSpPr>
          <p:cNvPr id="19" name="t"/>
          <p:cNvSpPr txBox="1"/>
          <p:nvPr/>
        </p:nvSpPr>
        <p:spPr>
          <a:xfrm>
            <a:off x="640080" y="3260000"/>
            <a:ext cx="110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250" b="1">
                <a:solidFill>
                  <a:srgbClr val="1F6F8B"/>
                </a:solidFill>
                <a:latin typeface="맑은 고딕"/>
              </a:rPr>
              <a:t>■ 핵심 옵션 · GUC</a:t>
            </a:r>
          </a:p>
        </p:txBody>
      </p:sp>
      <p:sp>
        <p:nvSpPr>
          <p:cNvPr id="20" name="r"/>
          <p:cNvSpPr/>
          <p:nvPr/>
        </p:nvSpPr>
        <p:spPr>
          <a:xfrm>
            <a:off x="640080" y="3620000"/>
            <a:ext cx="11050000" cy="3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730080" y="362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FOR TABLE / publish</a:t>
            </a:r>
          </a:p>
        </p:txBody>
      </p:sp>
      <p:sp>
        <p:nvSpPr>
          <p:cNvPr id="22" name="t"/>
          <p:cNvSpPr txBox="1"/>
          <p:nvPr/>
        </p:nvSpPr>
        <p:spPr>
          <a:xfrm>
            <a:off x="5060080" y="362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PUBLICATION</a:t>
            </a:r>
          </a:p>
        </p:txBody>
      </p:sp>
      <p:sp>
        <p:nvSpPr>
          <p:cNvPr id="23" name="t"/>
          <p:cNvSpPr txBox="1"/>
          <p:nvPr/>
        </p:nvSpPr>
        <p:spPr>
          <a:xfrm>
            <a:off x="6990080" y="362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무엇을(테이블·DML) 보낼지</a:t>
            </a:r>
          </a:p>
        </p:txBody>
      </p:sp>
      <p:sp>
        <p:nvSpPr>
          <p:cNvPr id="24" name="r"/>
          <p:cNvSpPr/>
          <p:nvPr/>
        </p:nvSpPr>
        <p:spPr>
          <a:xfrm>
            <a:off x="640080" y="4000000"/>
            <a:ext cx="11050000" cy="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/>
          <p:cNvSpPr txBox="1"/>
          <p:nvPr/>
        </p:nvSpPr>
        <p:spPr>
          <a:xfrm>
            <a:off x="730080" y="400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copy_data</a:t>
            </a:r>
          </a:p>
        </p:txBody>
      </p:sp>
      <p:sp>
        <p:nvSpPr>
          <p:cNvPr id="26" name="t"/>
          <p:cNvSpPr txBox="1"/>
          <p:nvPr/>
        </p:nvSpPr>
        <p:spPr>
          <a:xfrm>
            <a:off x="5060080" y="400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SUBSCRIPTION</a:t>
            </a:r>
          </a:p>
        </p:txBody>
      </p:sp>
      <p:sp>
        <p:nvSpPr>
          <p:cNvPr id="27" name="t"/>
          <p:cNvSpPr txBox="1"/>
          <p:nvPr/>
        </p:nvSpPr>
        <p:spPr>
          <a:xfrm>
            <a:off x="6990080" y="400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시작 시 기존 데이터 초기 COPY 여부</a:t>
            </a:r>
          </a:p>
        </p:txBody>
      </p:sp>
      <p:sp>
        <p:nvSpPr>
          <p:cNvPr id="28" name="r"/>
          <p:cNvSpPr/>
          <p:nvPr/>
        </p:nvSpPr>
        <p:spPr>
          <a:xfrm>
            <a:off x="640080" y="4380000"/>
            <a:ext cx="11050000" cy="3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"/>
          <p:cNvSpPr txBox="1"/>
          <p:nvPr/>
        </p:nvSpPr>
        <p:spPr>
          <a:xfrm>
            <a:off x="730080" y="438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E87A2B"/>
                </a:solidFill>
                <a:latin typeface="Consolas"/>
              </a:rPr>
              <a:t>streaming (off/on/parallel)</a:t>
            </a:r>
          </a:p>
        </p:txBody>
      </p:sp>
      <p:sp>
        <p:nvSpPr>
          <p:cNvPr id="30" name="t"/>
          <p:cNvSpPr txBox="1"/>
          <p:nvPr/>
        </p:nvSpPr>
        <p:spPr>
          <a:xfrm>
            <a:off x="5060080" y="438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SUBSCRIPTION</a:t>
            </a:r>
          </a:p>
        </p:txBody>
      </p:sp>
      <p:sp>
        <p:nvSpPr>
          <p:cNvPr id="31" name="t"/>
          <p:cNvSpPr txBox="1"/>
          <p:nvPr/>
        </p:nvSpPr>
        <p:spPr>
          <a:xfrm>
            <a:off x="6990080" y="438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진행 중 대형 tx 처리 — 병렬과 직결</a:t>
            </a:r>
          </a:p>
        </p:txBody>
      </p:sp>
      <p:sp>
        <p:nvSpPr>
          <p:cNvPr id="32" name="r"/>
          <p:cNvSpPr/>
          <p:nvPr/>
        </p:nvSpPr>
        <p:spPr>
          <a:xfrm>
            <a:off x="640080" y="4760000"/>
            <a:ext cx="11050000" cy="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"/>
          <p:cNvSpPr txBox="1"/>
          <p:nvPr/>
        </p:nvSpPr>
        <p:spPr>
          <a:xfrm>
            <a:off x="730080" y="476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E87A2B"/>
                </a:solidFill>
                <a:latin typeface="Consolas"/>
              </a:rPr>
              <a:t>wal_level = logical</a:t>
            </a:r>
          </a:p>
        </p:txBody>
      </p:sp>
      <p:sp>
        <p:nvSpPr>
          <p:cNvPr id="34" name="t"/>
          <p:cNvSpPr txBox="1"/>
          <p:nvPr/>
        </p:nvSpPr>
        <p:spPr>
          <a:xfrm>
            <a:off x="5060080" y="476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publisher GUC</a:t>
            </a:r>
          </a:p>
        </p:txBody>
      </p:sp>
      <p:sp>
        <p:nvSpPr>
          <p:cNvPr id="35" name="t"/>
          <p:cNvSpPr txBox="1"/>
          <p:nvPr/>
        </p:nvSpPr>
        <p:spPr>
          <a:xfrm>
            <a:off x="6990080" y="476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논리 복제 전제 — 아니면 CREATE SUBSCRIPTION 에러</a:t>
            </a:r>
          </a:p>
        </p:txBody>
      </p:sp>
      <p:sp>
        <p:nvSpPr>
          <p:cNvPr id="36" name="r"/>
          <p:cNvSpPr/>
          <p:nvPr/>
        </p:nvSpPr>
        <p:spPr>
          <a:xfrm>
            <a:off x="640080" y="5140000"/>
            <a:ext cx="11050000" cy="3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"/>
          <p:cNvSpPr txBox="1"/>
          <p:nvPr/>
        </p:nvSpPr>
        <p:spPr>
          <a:xfrm>
            <a:off x="730080" y="514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max_logical_replication_workers</a:t>
            </a:r>
          </a:p>
        </p:txBody>
      </p:sp>
      <p:sp>
        <p:nvSpPr>
          <p:cNvPr id="38" name="t"/>
          <p:cNvSpPr txBox="1"/>
          <p:nvPr/>
        </p:nvSpPr>
        <p:spPr>
          <a:xfrm>
            <a:off x="5060080" y="514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subscriber GUC</a:t>
            </a:r>
          </a:p>
        </p:txBody>
      </p:sp>
      <p:sp>
        <p:nvSpPr>
          <p:cNvPr id="39" name="t"/>
          <p:cNvSpPr txBox="1"/>
          <p:nvPr/>
        </p:nvSpPr>
        <p:spPr>
          <a:xfrm>
            <a:off x="6990080" y="514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논리 복제 워커 풀 (가장 영향 큼)</a:t>
            </a:r>
          </a:p>
        </p:txBody>
      </p:sp>
      <p:sp>
        <p:nvSpPr>
          <p:cNvPr id="40" name="r"/>
          <p:cNvSpPr/>
          <p:nvPr/>
        </p:nvSpPr>
        <p:spPr>
          <a:xfrm>
            <a:off x="640080" y="5520000"/>
            <a:ext cx="11050000" cy="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"/>
          <p:cNvSpPr txBox="1"/>
          <p:nvPr/>
        </p:nvSpPr>
        <p:spPr>
          <a:xfrm>
            <a:off x="730080" y="552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122A42"/>
                </a:solidFill>
                <a:latin typeface="Consolas"/>
              </a:rPr>
              <a:t>max_parallel_apply_workers_/sub</a:t>
            </a:r>
          </a:p>
        </p:txBody>
      </p:sp>
      <p:sp>
        <p:nvSpPr>
          <p:cNvPr id="42" name="t"/>
          <p:cNvSpPr txBox="1"/>
          <p:nvPr/>
        </p:nvSpPr>
        <p:spPr>
          <a:xfrm>
            <a:off x="5060080" y="552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subscriber GUC</a:t>
            </a:r>
          </a:p>
        </p:txBody>
      </p:sp>
      <p:sp>
        <p:nvSpPr>
          <p:cNvPr id="43" name="t"/>
          <p:cNvSpPr txBox="1"/>
          <p:nvPr/>
        </p:nvSpPr>
        <p:spPr>
          <a:xfrm>
            <a:off x="6990080" y="552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streaming=parallel 시 대형 tx 병렬 워커</a:t>
            </a:r>
          </a:p>
        </p:txBody>
      </p:sp>
      <p:sp>
        <p:nvSpPr>
          <p:cNvPr id="44" name="r"/>
          <p:cNvSpPr/>
          <p:nvPr/>
        </p:nvSpPr>
        <p:spPr>
          <a:xfrm>
            <a:off x="640080" y="5900000"/>
            <a:ext cx="11050000" cy="3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"/>
          <p:cNvSpPr txBox="1"/>
          <p:nvPr/>
        </p:nvSpPr>
        <p:spPr>
          <a:xfrm>
            <a:off x="730080" y="5900000"/>
            <a:ext cx="43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1">
                <a:solidFill>
                  <a:srgbClr val="8A939E"/>
                </a:solidFill>
                <a:latin typeface="Consolas"/>
              </a:rPr>
              <a:t>synchronous_commit (구독)</a:t>
            </a:r>
          </a:p>
        </p:txBody>
      </p:sp>
      <p:sp>
        <p:nvSpPr>
          <p:cNvPr id="46" name="t"/>
          <p:cNvSpPr txBox="1"/>
          <p:nvPr/>
        </p:nvSpPr>
        <p:spPr>
          <a:xfrm>
            <a:off x="5060080" y="5900000"/>
            <a:ext cx="185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50" b="0">
                <a:solidFill>
                  <a:srgbClr val="8A939E"/>
                </a:solidFill>
                <a:latin typeface="맑은 고딕"/>
              </a:rPr>
              <a:t>subscriber GUC</a:t>
            </a:r>
          </a:p>
        </p:txBody>
      </p:sp>
      <p:sp>
        <p:nvSpPr>
          <p:cNvPr id="47" name="t"/>
          <p:cNvSpPr txBox="1"/>
          <p:nvPr/>
        </p:nvSpPr>
        <p:spPr>
          <a:xfrm>
            <a:off x="6990080" y="5900000"/>
            <a:ext cx="46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980" b="0">
                <a:solidFill>
                  <a:srgbClr val="444B54"/>
                </a:solidFill>
                <a:latin typeface="맑은 고딕"/>
              </a:rPr>
              <a:t>apply commit 내구성/지연 — 처리량 레버</a:t>
            </a:r>
          </a:p>
        </p:txBody>
      </p:sp>
      <p:sp>
        <p:nvSpPr>
          <p:cNvPr id="48" name="t"/>
          <p:cNvSpPr txBox="1"/>
          <p:nvPr/>
        </p:nvSpPr>
        <p:spPr>
          <a:xfrm>
            <a:off x="640080" y="6340000"/>
            <a:ext cx="1105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87A2B"/>
                </a:solidFill>
                <a:latin typeface="맑은 고딕"/>
              </a:rPr>
              <a:t>→ </a:t>
            </a:r>
            <a:r>
              <a:rPr sz="1150" b="1">
                <a:solidFill>
                  <a:srgbClr val="122A42"/>
                </a:solidFill>
                <a:latin typeface="맑은 고딕"/>
              </a:rPr>
              <a:t>병렬도는 wal_level 이 아니라 subscriber GUC 가 정한다.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 publisher 가 logical 아니면 구독 생성부터 막힌다.</a:t>
            </a:r>
          </a:p>
        </p:txBody>
      </p:sp>
      <p:sp>
        <p:nvSpPr>
          <p:cNvPr id="49" name="t">
            <a:extLst>
              <a:ext uri="{FF2B5EF4-FFF2-40B4-BE49-F238E27FC236}">
                <a16:creationId xmlns:a16="http://schemas.microsoft.com/office/drawing/2014/main" id="{05E5AEBE-8F93-8751-C9C0-F99412C581B2}"/>
              </a:ext>
            </a:extLst>
          </p:cNvPr>
          <p:cNvSpPr txBox="1"/>
          <p:nvPr/>
        </p:nvSpPr>
        <p:spPr>
          <a:xfrm>
            <a:off x="9716569" y="994668"/>
            <a:ext cx="2355366" cy="2405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0000"/>
              </a:lnSpc>
            </a:pPr>
            <a:r>
              <a:rPr lang="en-US" sz="1150" b="1" dirty="0" err="1">
                <a:solidFill>
                  <a:schemeClr val="tx2"/>
                </a:solidFill>
                <a:latin typeface="맑은 고딕"/>
              </a:rPr>
              <a:t>Guc:Grand</a:t>
            </a:r>
            <a:r>
              <a:rPr lang="en-US" sz="1150" b="1" dirty="0">
                <a:solidFill>
                  <a:schemeClr val="tx2"/>
                </a:solidFill>
                <a:latin typeface="맑은 고딕"/>
              </a:rPr>
              <a:t> Unified Configuration</a:t>
            </a:r>
            <a:endParaRPr sz="1150" b="0" dirty="0">
              <a:solidFill>
                <a:schemeClr val="tx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6-4. EDB PGD — 탈락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멀티마스터라 전체 채택은 부적합, 단 한 측면은 선례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0911840" cy="4206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0911840" cy="4572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609344"/>
            <a:ext cx="1058265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EDB PGD — 탈락 (단, 한 측면은 선례)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10582656" cy="3456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상용 멀티마스터, 구독당 다중 writer(Parallel Apply)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선행 tuple 대기로 순서 예방 + 위반 시 롤백 backstop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sz="15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전체 모델로 채택 안 한 이유: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· 토폴로지가 멀티마스터 → 단방향 HA 에 과함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· 상용 폐쇄 — 청사진 삼기 어려움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· 구조는 MySQL 이 CUBRID 와 더 잘 맞음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sz="15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44B54"/>
                </a:solidFill>
                <a:latin typeface="맑은 고딕"/>
              </a:rPr>
              <a:t>선례로 참고할 점: "의존성·충돌 판단을 apply 측(슬레이브)에서 한다" 는 한 가지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6-5. MySQL — 채택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가장 유사하여 채택 — 세 축이 CUBRID 설계와 1:1 대응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0911840" cy="4206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091184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609344"/>
            <a:ext cx="1058265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MySQL — 가장 유사하여 채택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10582656" cy="3456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 err="1">
                <a:solidFill>
                  <a:srgbClr val="444B54"/>
                </a:solidFill>
                <a:latin typeface="맑은 고딕"/>
              </a:rPr>
              <a:t>세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축이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CUBRID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설계와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1:1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대응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>
                <a:solidFill>
                  <a:srgbClr val="444B54"/>
                </a:solidFill>
                <a:latin typeface="맑은 고딕"/>
              </a:rPr>
              <a:t>❶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의존성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계산은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source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미리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계산해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로그에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실음</a:t>
            </a: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>
                <a:solidFill>
                  <a:srgbClr val="444B54"/>
                </a:solidFill>
                <a:latin typeface="맑은 고딕"/>
              </a:rPr>
              <a:t>❷ replica coordinator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그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값을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보고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워커에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분배</a:t>
            </a: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>
                <a:solidFill>
                  <a:srgbClr val="444B54"/>
                </a:solidFill>
                <a:latin typeface="맑은 고딕"/>
              </a:rPr>
              <a:t>❸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최종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순서는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별도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게이트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(SPCO)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로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보존</a:t>
            </a: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실행과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순서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보존을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분리</a:t>
            </a: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의존성을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source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권위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있게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계산</a:t>
            </a: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sz="15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dirty="0" err="1">
                <a:solidFill>
                  <a:srgbClr val="444B54"/>
                </a:solidFill>
                <a:latin typeface="맑은 고딕"/>
              </a:rPr>
              <a:t>이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구조를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CUBRID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코디네이터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설계에</a:t>
            </a:r>
            <a:r>
              <a:rPr sz="15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444B54"/>
                </a:solidFill>
                <a:latin typeface="맑은 고딕"/>
              </a:rPr>
              <a:t>차용</a:t>
            </a:r>
            <a:endParaRPr sz="1500" dirty="0">
              <a:solidFill>
                <a:srgbClr val="444B5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채택 모델: MySQL식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❶ 의존성 계산 → ❷ 병렬 분배 → ❸ commit 순서 보존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7. MySQL 모델의 세 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source 계산 · coordinator 분배 · commit 순서 보존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520440" cy="28346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352044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655064"/>
            <a:ext cx="3191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❶ source 의존성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67128"/>
            <a:ext cx="319125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트랜잭션마다 binlog 에 기록: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· sequence_number (논리 순번)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· last_committed (대기 watermark)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8.4+ 부터 항상 WRITESET 방식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(행 키 충돌로 계산)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= CUBRID D.5 (마스터 계산)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520440" cy="28346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352044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655064"/>
            <a:ext cx="3191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❷ replica 병렬 분배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167128"/>
            <a:ext cx="319125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coordinator 가 relay log 를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순서대로 읽어,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last_committed 이하가 모두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끝났으면 워커에 병렬 dispatch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LOGICAL_CLOCK 방식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(worker = replica_parallel_workers)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= CUBRID D.6 (코디네이터)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3520440" cy="28346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520440" cy="4572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1655064"/>
            <a:ext cx="3191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❸ commit 순서 보존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167128"/>
            <a:ext cx="319125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replica_preserve_commit_order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(SPCO, 기본 ON)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워커가 물리적 commit 직전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자기 차례까지 대기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durable commit 을 source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  순서로 직렬화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= CUBRID D.4 (commit 게이트)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22A42"/>
                </a:solidFill>
                <a:latin typeface="맑은 고딕"/>
              </a:rPr>
              <a:t>● CUBRID 로 가져올 결론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"의존성 판단(분배)"과 "commit 순서 보존(집행)"을 분리하고, 의존성은 마스터가 미리 계산해 내려보낸다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단, 1차 설계는 최신 WRITESET 대신 더 단순하고 FK 가 자동 안전한 COMMIT_ORDER 식부터 적용 (WRITESET 은 향후 확장)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7-1. source 가 의존성을 정하는 두 방식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122A42"/>
                </a:solidFill>
                <a:latin typeface="맑은 고딕"/>
              </a:rPr>
              <a:t>의존성을 무엇으로 정하나 — commit 타이밍(COMMIT_ORDER) vs 행 충돌(WRITESET)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14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50000"/>
            <a:ext cx="10900000" cy="47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맑은 고딕"/>
              </a:rPr>
              <a:t>source 는 트랜잭션마다 </a:t>
            </a:r>
            <a:r>
              <a:rPr sz="1300" b="1">
                <a:solidFill>
                  <a:srgbClr val="1F6F8B"/>
                </a:solidFill>
                <a:latin typeface="맑은 고딕"/>
              </a:rPr>
              <a:t>sequence_number</a:t>
            </a:r>
            <a:r>
              <a:rPr sz="1300" b="0">
                <a:solidFill>
                  <a:srgbClr val="444B54"/>
                </a:solidFill>
                <a:latin typeface="맑은 고딕"/>
              </a:rPr>
              <a:t> 와 </a:t>
            </a:r>
            <a:r>
              <a:rPr sz="1300" b="1">
                <a:solidFill>
                  <a:srgbClr val="E87A2B"/>
                </a:solidFill>
                <a:latin typeface="맑은 고딕"/>
              </a:rPr>
              <a:t>last_committed</a:t>
            </a:r>
            <a:r>
              <a:rPr sz="1300" b="0">
                <a:solidFill>
                  <a:srgbClr val="444B54"/>
                </a:solidFill>
                <a:latin typeface="맑은 고딕"/>
              </a:rPr>
              <a:t> 를 기록한다. 핵심은 의존성을 </a:t>
            </a:r>
            <a:r>
              <a:rPr sz="1300" b="1">
                <a:solidFill>
                  <a:srgbClr val="122A42"/>
                </a:solidFill>
                <a:latin typeface="맑은 고딕"/>
              </a:rPr>
              <a:t>무엇으로 정하느냐</a:t>
            </a:r>
            <a:r>
              <a:rPr sz="1300" b="0">
                <a:solidFill>
                  <a:srgbClr val="444B54"/>
                </a:solidFill>
                <a:latin typeface="맑은 고딕"/>
              </a:rPr>
              <a:t> 다.</a:t>
            </a:r>
          </a:p>
        </p:txBody>
      </p:sp>
      <p:sp>
        <p:nvSpPr>
          <p:cNvPr id="11" name="r"/>
          <p:cNvSpPr/>
          <p:nvPr/>
        </p:nvSpPr>
        <p:spPr>
          <a:xfrm>
            <a:off x="640080" y="1960000"/>
            <a:ext cx="5430000" cy="2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"/>
          <p:cNvSpPr/>
          <p:nvPr/>
        </p:nvSpPr>
        <p:spPr>
          <a:xfrm>
            <a:off x="640080" y="1960000"/>
            <a:ext cx="543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790080" y="1960000"/>
            <a:ext cx="51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COMMIT_ORDER  (commit 타이밍)</a:t>
            </a:r>
          </a:p>
        </p:txBody>
      </p:sp>
      <p:sp>
        <p:nvSpPr>
          <p:cNvPr id="14" name="t"/>
          <p:cNvSpPr txBox="1"/>
          <p:nvPr/>
        </p:nvSpPr>
        <p:spPr>
          <a:xfrm>
            <a:off x="790080" y="2430000"/>
            <a:ext cx="5130000" cy="15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독립 기준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commit 구간이 겹친 tx</a:t>
            </a:r>
          </a:p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병렬 상한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마스터 동시성만큼</a:t>
            </a:r>
          </a:p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FK·제약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commit 순서 그대로 → 자동 안전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약점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마스터 직렬 commit 시 슬레이브도 직렬</a:t>
            </a:r>
          </a:p>
        </p:txBody>
      </p:sp>
      <p:sp>
        <p:nvSpPr>
          <p:cNvPr id="15" name="r"/>
          <p:cNvSpPr/>
          <p:nvPr/>
        </p:nvSpPr>
        <p:spPr>
          <a:xfrm>
            <a:off x="6260000" y="1960000"/>
            <a:ext cx="5430000" cy="2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"/>
          <p:cNvSpPr/>
          <p:nvPr/>
        </p:nvSpPr>
        <p:spPr>
          <a:xfrm>
            <a:off x="6260000" y="1960000"/>
            <a:ext cx="5430000" cy="40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6410000" y="1960000"/>
            <a:ext cx="51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WRITESET  (행 키 충돌)</a:t>
            </a:r>
          </a:p>
        </p:txBody>
      </p:sp>
      <p:sp>
        <p:nvSpPr>
          <p:cNvPr id="18" name="t"/>
          <p:cNvSpPr txBox="1"/>
          <p:nvPr/>
        </p:nvSpPr>
        <p:spPr>
          <a:xfrm>
            <a:off x="6410000" y="2430000"/>
            <a:ext cx="5130000" cy="15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독립 기준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바뀐 행 키가 안 겹치는 tx</a:t>
            </a:r>
          </a:p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병렬 상한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데이터 독립성만큼 (타이밍 초과)</a:t>
            </a:r>
          </a:p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FK·제약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부모·unique 키를 writeset 에 주입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122A42"/>
                </a:solidFill>
                <a:latin typeface="맑은 고딕"/>
              </a:rPr>
              <a:t>약점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구현 복잡, 같은 부모 자식 과직렬</a:t>
            </a:r>
          </a:p>
        </p:txBody>
      </p:sp>
      <p:sp>
        <p:nvSpPr>
          <p:cNvPr id="19" name="r"/>
          <p:cNvSpPr/>
          <p:nvPr/>
        </p:nvSpPr>
        <p:spPr>
          <a:xfrm>
            <a:off x="640080" y="4160000"/>
            <a:ext cx="5430000" cy="211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/>
          <p:cNvSpPr txBox="1"/>
          <p:nvPr/>
        </p:nvSpPr>
        <p:spPr>
          <a:xfrm>
            <a:off x="810080" y="4290000"/>
            <a:ext cx="5090000" cy="18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50" b="1">
                <a:solidFill>
                  <a:srgbClr val="E87A2B"/>
                </a:solidFill>
                <a:latin typeface="Consolas"/>
              </a:rPr>
              <a:t>COMMIT_ORDER 예시  (mysqlbinlog)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Tx(seq=2346): last_committed=2345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Tx(seq=2347): last_committed=2346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Tx(seq=2348): last_committed=2346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Tx(seq=2349): last_committed=2346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Tx(seq=2350): last_committed=2348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Tx(seq=2351): last_committed=2345</a:t>
            </a:r>
          </a:p>
          <a:p>
            <a:endParaRPr sz="495"/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90" b="0">
                <a:solidFill>
                  <a:srgbClr val="D8E6EE"/>
                </a:solidFill>
                <a:latin typeface="Consolas"/>
              </a:rPr>
              <a:t>2347·2348·2349 → 같은 last_committed → 병렬</a:t>
            </a:r>
          </a:p>
        </p:txBody>
      </p:sp>
      <p:sp>
        <p:nvSpPr>
          <p:cNvPr id="21" name="r"/>
          <p:cNvSpPr/>
          <p:nvPr/>
        </p:nvSpPr>
        <p:spPr>
          <a:xfrm>
            <a:off x="6260000" y="4160000"/>
            <a:ext cx="5430000" cy="211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"/>
          <p:cNvSpPr txBox="1"/>
          <p:nvPr/>
        </p:nvSpPr>
        <p:spPr>
          <a:xfrm>
            <a:off x="6430000" y="4290000"/>
            <a:ext cx="5090000" cy="18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10" b="1">
                <a:solidFill>
                  <a:srgbClr val="E87A2B"/>
                </a:solidFill>
                <a:latin typeface="Consolas"/>
              </a:rPr>
              <a:t>WRITESET 예시  (행 키 충돌)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seq  바꾼 행(writeset)  겹치는 선행  last_committed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 1   {a:10}             -            0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 2   {b:20}             -            0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 3   {a:10}             seq1         1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 4   {c:30}             -            0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 5   {b:20}             seq2         2</a:t>
            </a:r>
          </a:p>
          <a:p>
            <a:endParaRPr sz="475"/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950" b="0">
                <a:solidFill>
                  <a:srgbClr val="D8E6EE"/>
                </a:solidFill>
                <a:latin typeface="Consolas"/>
              </a:rPr>
              <a:t>행 안 겹침(1·2·4) → 병렬, 겹침(3·5) → 직렬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7-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COMMIT_ORDER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계산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방식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22A42"/>
                </a:solidFill>
                <a:latin typeface="맑은 고딕"/>
              </a:rPr>
              <a:t>last_committed = commit 진입 때 본 max_committed (그룹커밋과 무관)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15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70000"/>
            <a:ext cx="5350000" cy="6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source 에 전역 값 하나 — </a:t>
            </a:r>
            <a:r>
              <a:rPr sz="1250" b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= 지금까지 commit 끝난 마지막 sequence_number</a:t>
            </a:r>
          </a:p>
        </p:txBody>
      </p:sp>
      <p:sp>
        <p:nvSpPr>
          <p:cNvPr id="11" name="r"/>
          <p:cNvSpPr/>
          <p:nvPr/>
        </p:nvSpPr>
        <p:spPr>
          <a:xfrm>
            <a:off x="640080" y="2230000"/>
            <a:ext cx="5350000" cy="20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"/>
          <p:cNvSpPr/>
          <p:nvPr/>
        </p:nvSpPr>
        <p:spPr>
          <a:xfrm>
            <a:off x="640080" y="2230000"/>
            <a:ext cx="535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790080" y="223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트랜잭션마다 (commit 진입 시)</a:t>
            </a:r>
          </a:p>
        </p:txBody>
      </p:sp>
      <p:sp>
        <p:nvSpPr>
          <p:cNvPr id="14" name="t"/>
          <p:cNvSpPr txBox="1"/>
          <p:nvPr/>
        </p:nvSpPr>
        <p:spPr>
          <a:xfrm>
            <a:off x="800000" y="2800000"/>
            <a:ext cx="5050000" cy="13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6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① commit 들어가는 순간의 max_committed = 내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last_committed</a:t>
            </a:r>
          </a:p>
          <a:p>
            <a:pPr algn="l">
              <a:lnSpc>
                <a:spcPct val="110000"/>
              </a:lnSpc>
              <a:spcAft>
                <a:spcPts val="26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② commit 로그 순서로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sequence_number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부여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③ 내가 commit 완료 → max_committed 전진</a:t>
            </a:r>
          </a:p>
        </p:txBody>
      </p:sp>
      <p:sp>
        <p:nvSpPr>
          <p:cNvPr id="15" name="t"/>
          <p:cNvSpPr txBox="1"/>
          <p:nvPr/>
        </p:nvSpPr>
        <p:spPr>
          <a:xfrm>
            <a:off x="640080" y="4380000"/>
            <a:ext cx="535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22A42"/>
                </a:solidFill>
                <a:latin typeface="맑은 고딕"/>
              </a:rPr>
              <a:t>행 키·테이블·FK 안 봄 — 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commit 클럭 하나가 전부.</a:t>
            </a:r>
            <a:r>
              <a:rPr sz="1150" b="1">
                <a:solidFill>
                  <a:srgbClr val="1F6F8B"/>
                </a:solidFill>
                <a:latin typeface="맑은 고딕"/>
              </a:rPr>
              <a:t>  = CUBRID 8-3 (Master 계산)</a:t>
            </a:r>
          </a:p>
        </p:txBody>
      </p:sp>
      <p:sp>
        <p:nvSpPr>
          <p:cNvPr id="16" name="r"/>
          <p:cNvSpPr/>
          <p:nvPr/>
        </p:nvSpPr>
        <p:spPr>
          <a:xfrm>
            <a:off x="6260000" y="1470000"/>
            <a:ext cx="5430000" cy="250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6430000" y="1600000"/>
            <a:ext cx="5090000" cy="2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70" b="1">
                <a:solidFill>
                  <a:srgbClr val="E87A2B"/>
                </a:solidFill>
                <a:latin typeface="Consolas"/>
              </a:rPr>
              <a:t>예시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T1 먼저 commit  →  max_committed = 1</a:t>
            </a:r>
          </a:p>
          <a:p>
            <a:endParaRPr sz="505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T2·T3·T4 동시 in-flight (T1 뒤 prepare):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  T2: seq=2, last_committed=1  ┐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  T3: seq=3, last_committed=1  ├ 셋 다 max=1만 봄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  T4: seq=4, last_committed=1  ┘  (서로 안 봄)</a:t>
            </a:r>
          </a:p>
          <a:p>
            <a:endParaRPr sz="505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10" b="0">
                <a:solidFill>
                  <a:srgbClr val="D8E6EE"/>
                </a:solidFill>
                <a:latin typeface="Consolas"/>
              </a:rPr>
              <a:t>→ replica: T1 끝나면 T2·T3·T4 병렬</a:t>
            </a:r>
          </a:p>
        </p:txBody>
      </p:sp>
      <p:sp>
        <p:nvSpPr>
          <p:cNvPr id="18" name="t"/>
          <p:cNvSpPr txBox="1"/>
          <p:nvPr/>
        </p:nvSpPr>
        <p:spPr>
          <a:xfrm>
            <a:off x="6260000" y="4120000"/>
            <a:ext cx="543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40"/>
              </a:spcAft>
            </a:pPr>
            <a:r>
              <a:rPr sz="118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서로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보는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이유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= max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자기가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commit해야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오르는데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,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그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순간엔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셋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다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아직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끝남</a:t>
            </a:r>
            <a:endParaRPr sz="118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8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충돌하면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?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마스터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E87A2B"/>
                </a:solidFill>
                <a:latin typeface="맑은 고딕"/>
              </a:rPr>
              <a:t>행</a:t>
            </a:r>
            <a:r>
              <a:rPr sz="118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E87A2B"/>
                </a:solidFill>
                <a:latin typeface="맑은 고딕"/>
              </a:rPr>
              <a:t>잠금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이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뒤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막아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앞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후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prepare →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큰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last_committed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180" b="1" dirty="0" err="1">
                <a:solidFill>
                  <a:srgbClr val="E87A2B"/>
                </a:solidFill>
                <a:latin typeface="맑은 고딕"/>
              </a:rPr>
              <a:t>자동</a:t>
            </a:r>
            <a:r>
              <a:rPr sz="118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E87A2B"/>
                </a:solidFill>
                <a:latin typeface="맑은 고딕"/>
              </a:rPr>
              <a:t>직렬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(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테이블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봐도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안전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)</a:t>
            </a:r>
            <a:endParaRPr lang="en-US" sz="118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endParaRPr lang="en-US" sz="8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상황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: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,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가 같은 행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R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을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UPDATE.</a:t>
            </a:r>
          </a:p>
          <a:p>
            <a:pPr>
              <a:lnSpc>
                <a:spcPct val="110000"/>
              </a:lnSpc>
            </a:pPr>
            <a:endParaRPr lang="en-US" sz="8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444B54"/>
                </a:solidFill>
                <a:latin typeface="맑은 고딕"/>
              </a:rPr>
              <a:t>  [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마스터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  ①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: R</a:t>
            </a:r>
            <a:r>
              <a:rPr lang="ko-KR" altLang="en-US" sz="800" dirty="0" err="1">
                <a:solidFill>
                  <a:srgbClr val="444B54"/>
                </a:solidFill>
                <a:latin typeface="맑은 고딕"/>
              </a:rPr>
              <a:t>에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ko-KR" altLang="en-US" sz="800" dirty="0" err="1">
                <a:solidFill>
                  <a:srgbClr val="444B54"/>
                </a:solidFill>
                <a:latin typeface="맑은 고딕"/>
              </a:rPr>
              <a:t>락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획득 →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UPDATE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진행 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(</a:t>
            </a:r>
            <a:r>
              <a:rPr lang="ko-KR" altLang="en-US" sz="800" dirty="0" err="1">
                <a:solidFill>
                  <a:srgbClr val="444B54"/>
                </a:solidFill>
                <a:latin typeface="맑은 고딕"/>
              </a:rPr>
              <a:t>락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보유 중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  ②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: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같은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R UPDATE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시도 → ★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의 행 </a:t>
            </a:r>
            <a:r>
              <a:rPr lang="ko-KR" altLang="en-US" sz="800" dirty="0" err="1">
                <a:solidFill>
                  <a:srgbClr val="444B54"/>
                </a:solidFill>
                <a:latin typeface="맑은 고딕"/>
              </a:rPr>
              <a:t>락에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막혀 대기★ 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(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끝날 때까지 진행 불가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  ③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: commit →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워터마크 전진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(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seq=5) → R </a:t>
            </a:r>
            <a:r>
              <a:rPr lang="ko-KR" altLang="en-US" sz="800" dirty="0" err="1">
                <a:solidFill>
                  <a:srgbClr val="444B54"/>
                </a:solidFill>
                <a:latin typeface="맑은 고딕"/>
              </a:rPr>
              <a:t>락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해제</a:t>
            </a:r>
          </a:p>
          <a:p>
            <a:pPr>
              <a:lnSpc>
                <a:spcPct val="110000"/>
              </a:lnSpc>
            </a:pP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 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④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: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그제서야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R UPDATE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가능 → 작업 후 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prepare</a:t>
            </a:r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444B54"/>
                </a:solidFill>
                <a:latin typeface="맑은 고딕"/>
              </a:rPr>
              <a:t>          prepare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때 워터마크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(=5,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포함</a:t>
            </a:r>
            <a:r>
              <a:rPr lang="en-US" altLang="ko-KR" sz="800" dirty="0">
                <a:solidFill>
                  <a:srgbClr val="444B54"/>
                </a:solidFill>
                <a:latin typeface="맑은 고딕"/>
              </a:rPr>
              <a:t>) </a:t>
            </a: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스냅샷</a:t>
            </a:r>
          </a:p>
          <a:p>
            <a:pPr>
              <a:lnSpc>
                <a:spcPct val="110000"/>
              </a:lnSpc>
            </a:pPr>
            <a:r>
              <a:rPr lang="ko-KR" altLang="en-US" sz="800" dirty="0">
                <a:solidFill>
                  <a:srgbClr val="444B54"/>
                </a:solidFill>
                <a:latin typeface="맑은 고딕"/>
              </a:rPr>
              <a:t>          →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T_b.last_committed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 ≥ 5</a:t>
            </a:r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444B54"/>
                </a:solidFill>
                <a:latin typeface="맑은 고딕"/>
              </a:rPr>
              <a:t>    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: commit (seq=8)</a:t>
            </a:r>
          </a:p>
          <a:p>
            <a:pPr>
              <a:lnSpc>
                <a:spcPct val="110000"/>
              </a:lnSpc>
            </a:pPr>
            <a:endParaRPr lang="en-US" sz="80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444B54"/>
                </a:solidFill>
                <a:latin typeface="맑은 고딕"/>
              </a:rPr>
              <a:t>  [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binlog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] 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T_a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(seq=5)  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T_b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(seq=8, </a:t>
            </a:r>
            <a:r>
              <a:rPr lang="en-US" sz="800" dirty="0" err="1">
                <a:solidFill>
                  <a:srgbClr val="444B54"/>
                </a:solidFill>
                <a:latin typeface="맑은 고딕"/>
              </a:rPr>
              <a:t>last_committed</a:t>
            </a:r>
            <a:r>
              <a:rPr lang="en-US" sz="800" dirty="0">
                <a:solidFill>
                  <a:srgbClr val="444B54"/>
                </a:solidFill>
                <a:latin typeface="맑은 고딕"/>
              </a:rPr>
              <a:t>=5)</a:t>
            </a:r>
            <a:endParaRPr sz="800" b="0" dirty="0">
              <a:solidFill>
                <a:srgbClr val="444B5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7-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3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관련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옵션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122A42"/>
                </a:solidFill>
                <a:latin typeface="맑은 고딕"/>
              </a:rPr>
              <a:t>병렬 복제에 영향을 주는 source · replica 설정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16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620000"/>
            <a:ext cx="11050000" cy="77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640080" y="1620000"/>
            <a:ext cx="32000" cy="77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820080" y="1710000"/>
            <a:ext cx="10690000" cy="6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40"/>
              </a:spcAft>
            </a:pPr>
            <a:r>
              <a:rPr sz="1250" b="1">
                <a:solidFill>
                  <a:srgbClr val="E87A2B"/>
                </a:solidFill>
                <a:latin typeface="Consolas"/>
              </a:rPr>
              <a:t>binlog_transaction_dependency_history_size</a:t>
            </a:r>
            <a:r>
              <a:rPr sz="1050" b="1">
                <a:solidFill>
                  <a:srgbClr val="8A939E"/>
                </a:solidFill>
                <a:latin typeface="맑은 고딕"/>
              </a:rPr>
              <a:t>    [source · WRITESET 전용]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WRITESET 의존성 계산용 행 해시 history 상한(기본 25000). COMMIT_ORDER 에선 무효 — 8.4+ 는 항상 WRITESET 이라 상시 적용. 작으면 과직렬되나 순서는 안 깨짐</a:t>
            </a:r>
          </a:p>
        </p:txBody>
      </p:sp>
      <p:sp>
        <p:nvSpPr>
          <p:cNvPr id="13" name="r"/>
          <p:cNvSpPr/>
          <p:nvPr/>
        </p:nvSpPr>
        <p:spPr>
          <a:xfrm>
            <a:off x="640080" y="2480000"/>
            <a:ext cx="11050000" cy="77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"/>
          <p:cNvSpPr/>
          <p:nvPr/>
        </p:nvSpPr>
        <p:spPr>
          <a:xfrm>
            <a:off x="640080" y="2480000"/>
            <a:ext cx="32000" cy="77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820080" y="2570000"/>
            <a:ext cx="10690000" cy="6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40"/>
              </a:spcAft>
            </a:pPr>
            <a:r>
              <a:rPr sz="1250" b="1">
                <a:solidFill>
                  <a:srgbClr val="1F6F8B"/>
                </a:solidFill>
                <a:latin typeface="Consolas"/>
              </a:rPr>
              <a:t>replica_parallel_workers</a:t>
            </a:r>
            <a:r>
              <a:rPr sz="1050" b="1">
                <a:solidFill>
                  <a:srgbClr val="8A939E"/>
                </a:solidFill>
                <a:latin typeface="맑은 고딕"/>
              </a:rPr>
              <a:t>    [replica]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병렬 적용 워커 수 = 병렬도. 0 또는 1 이면 단일 SQL thread 로 직렬 적용</a:t>
            </a:r>
          </a:p>
        </p:txBody>
      </p:sp>
      <p:sp>
        <p:nvSpPr>
          <p:cNvPr id="16" name="r"/>
          <p:cNvSpPr/>
          <p:nvPr/>
        </p:nvSpPr>
        <p:spPr>
          <a:xfrm>
            <a:off x="640080" y="3340000"/>
            <a:ext cx="11050000" cy="77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"/>
          <p:cNvSpPr/>
          <p:nvPr/>
        </p:nvSpPr>
        <p:spPr>
          <a:xfrm>
            <a:off x="640080" y="3340000"/>
            <a:ext cx="32000" cy="7700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820080" y="3430000"/>
            <a:ext cx="10690000" cy="6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40"/>
              </a:spcAft>
            </a:pPr>
            <a:r>
              <a:rPr sz="1250" b="1">
                <a:solidFill>
                  <a:srgbClr val="8A939E"/>
                </a:solidFill>
                <a:latin typeface="Consolas"/>
              </a:rPr>
              <a:t>replica_parallel_type</a:t>
            </a:r>
            <a:r>
              <a:rPr sz="1050" b="1">
                <a:solidFill>
                  <a:srgbClr val="8A939E"/>
                </a:solidFill>
                <a:latin typeface="맑은 고딕"/>
              </a:rPr>
              <a:t>    [replica]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병렬 분배 방식. 8.4 는 LOGICAL_CLOCK 기본(DATABASE deprecated), 9.5+ 에서 변수 제거 → LOGICAL_CLOCK 만</a:t>
            </a:r>
          </a:p>
        </p:txBody>
      </p:sp>
      <p:sp>
        <p:nvSpPr>
          <p:cNvPr id="19" name="r"/>
          <p:cNvSpPr/>
          <p:nvPr/>
        </p:nvSpPr>
        <p:spPr>
          <a:xfrm>
            <a:off x="640080" y="4200000"/>
            <a:ext cx="11050000" cy="77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"/>
          <p:cNvSpPr/>
          <p:nvPr/>
        </p:nvSpPr>
        <p:spPr>
          <a:xfrm>
            <a:off x="640080" y="4200000"/>
            <a:ext cx="32000" cy="77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820080" y="4290000"/>
            <a:ext cx="10690000" cy="6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40"/>
              </a:spcAft>
            </a:pPr>
            <a:r>
              <a:rPr sz="1250" b="1">
                <a:solidFill>
                  <a:srgbClr val="122A42"/>
                </a:solidFill>
                <a:latin typeface="Consolas"/>
              </a:rPr>
              <a:t>replica_preserve_commit_order  (SPCO)</a:t>
            </a:r>
            <a:r>
              <a:rPr sz="1050" b="1">
                <a:solidFill>
                  <a:srgbClr val="8A939E"/>
                </a:solidFill>
                <a:latin typeface="맑은 고딕"/>
              </a:rPr>
              <a:t>    [replica]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8.0.27+ 기본 ON. 병렬 적용해도 commit 은 source 순서로 보존 (LOGICAL_CLOCK 전제)</a:t>
            </a:r>
          </a:p>
        </p:txBody>
      </p:sp>
      <p:sp>
        <p:nvSpPr>
          <p:cNvPr id="22" name="r"/>
          <p:cNvSpPr/>
          <p:nvPr/>
        </p:nvSpPr>
        <p:spPr>
          <a:xfrm>
            <a:off x="640080" y="5060000"/>
            <a:ext cx="11050000" cy="77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"/>
          <p:cNvSpPr/>
          <p:nvPr/>
        </p:nvSpPr>
        <p:spPr>
          <a:xfrm>
            <a:off x="640080" y="5060000"/>
            <a:ext cx="32000" cy="7700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"/>
          <p:cNvSpPr txBox="1"/>
          <p:nvPr/>
        </p:nvSpPr>
        <p:spPr>
          <a:xfrm>
            <a:off x="820080" y="5150000"/>
            <a:ext cx="10690000" cy="6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40"/>
              </a:spcAft>
            </a:pPr>
            <a:r>
              <a:rPr sz="1250" b="1">
                <a:solidFill>
                  <a:srgbClr val="8A939E"/>
                </a:solidFill>
                <a:latin typeface="Consolas"/>
              </a:rPr>
              <a:t>innodb_flush_log_at_trx_commit</a:t>
            </a:r>
            <a:r>
              <a:rPr sz="1050" b="1">
                <a:solidFill>
                  <a:srgbClr val="8A939E"/>
                </a:solidFill>
                <a:latin typeface="맑은 고딕"/>
              </a:rPr>
              <a:t>    [replica]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내구성 설정(0/1/2). 병렬 메커니즘이 아님 — apply 를 빠르게 해 lag 을 줄이는 별개 설정이라 병렬 옵션과 자주 혼동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7-5. replica 의 병렬 분배 — LOGICAL_CLOCK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122A42"/>
                </a:solidFill>
                <a:latin typeface="맑은 고딕"/>
              </a:rPr>
              <a:t>coordinator 가 last_committed 와 완료 watermark 를 비교해 dispatch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18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70000"/>
            <a:ext cx="5350000" cy="7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coordinator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relay log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순서대로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읽어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,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트랜잭션의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last_committed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이하가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모두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끝났으면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워커에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dispatch. </a:t>
            </a:r>
            <a:endParaRPr lang="ko-KR" altLang="en-US" sz="125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워커 수 </a:t>
            </a:r>
            <a:r>
              <a:rPr lang="en-US" altLang="ko-KR" sz="1250" b="0" dirty="0">
                <a:solidFill>
                  <a:srgbClr val="444B54"/>
                </a:solidFill>
                <a:latin typeface="맑은 고딕"/>
              </a:rPr>
              <a:t>= </a:t>
            </a:r>
            <a:r>
              <a:rPr lang="en-US" sz="1250" b="0" dirty="0" err="1">
                <a:solidFill>
                  <a:srgbClr val="444B54"/>
                </a:solidFill>
                <a:latin typeface="맑은 고딕"/>
              </a:rPr>
              <a:t>replica_parallel_workers</a:t>
            </a:r>
            <a:r>
              <a:rPr lang="en-US" sz="1250" b="0" dirty="0">
                <a:solidFill>
                  <a:srgbClr val="444B54"/>
                </a:solidFill>
                <a:latin typeface="맑은 고딕"/>
              </a:rPr>
              <a:t>.</a:t>
            </a:r>
          </a:p>
        </p:txBody>
      </p:sp>
      <p:sp>
        <p:nvSpPr>
          <p:cNvPr id="11" name="r"/>
          <p:cNvSpPr/>
          <p:nvPr/>
        </p:nvSpPr>
        <p:spPr>
          <a:xfrm>
            <a:off x="640080" y="2280000"/>
            <a:ext cx="5350000" cy="82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"/>
          <p:cNvSpPr/>
          <p:nvPr/>
        </p:nvSpPr>
        <p:spPr>
          <a:xfrm>
            <a:off x="640080" y="2280000"/>
            <a:ext cx="535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790080" y="228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dispatch 조건</a:t>
            </a:r>
          </a:p>
        </p:txBody>
      </p:sp>
      <p:sp>
        <p:nvSpPr>
          <p:cNvPr id="14" name="t"/>
          <p:cNvSpPr txBox="1"/>
          <p:nvPr/>
        </p:nvSpPr>
        <p:spPr>
          <a:xfrm>
            <a:off x="800000" y="2820000"/>
            <a:ext cx="5050000" cy="4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22A42"/>
                </a:solidFill>
                <a:latin typeface="Consolas"/>
              </a:rPr>
              <a:t>T 분배 가능  ⇔  T.last_committed ≤ 완료 watermark</a:t>
            </a:r>
          </a:p>
        </p:txBody>
      </p:sp>
      <p:sp>
        <p:nvSpPr>
          <p:cNvPr id="15" name="r"/>
          <p:cNvSpPr/>
          <p:nvPr/>
        </p:nvSpPr>
        <p:spPr>
          <a:xfrm>
            <a:off x="640080" y="3260000"/>
            <a:ext cx="5350000" cy="26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"/>
          <p:cNvSpPr/>
          <p:nvPr/>
        </p:nvSpPr>
        <p:spPr>
          <a:xfrm>
            <a:off x="640080" y="3260000"/>
            <a:ext cx="535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790080" y="326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완료 watermark 란?</a:t>
            </a:r>
          </a:p>
        </p:txBody>
      </p:sp>
      <p:sp>
        <p:nvSpPr>
          <p:cNvPr id="18" name="t"/>
          <p:cNvSpPr txBox="1"/>
          <p:nvPr/>
        </p:nvSpPr>
        <p:spPr>
          <a:xfrm>
            <a:off x="800000" y="3820000"/>
            <a:ext cx="5050000" cy="19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6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슬레이브에서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gap 없이 durable commit 이 끝난 마지막 연속 지점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26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이 값 이하의 모든 선행 commit 은 완료가 보장된다.</a:t>
            </a:r>
          </a:p>
          <a:p>
            <a:pPr algn="l">
              <a:lnSpc>
                <a:spcPct val="108000"/>
              </a:lnSpc>
              <a:spcAft>
                <a:spcPts val="26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→ last_committed 가 watermark 이하면 필요한 선행이 다 끝난 것이므로 안전하게 분배.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8A939E"/>
                </a:solidFill>
                <a:latin typeface="맑은 고딕"/>
              </a:rPr>
              <a:t>(CUBRID 에서는 </a:t>
            </a:r>
            <a:r>
              <a:rPr sz="1150" b="1">
                <a:solidFill>
                  <a:srgbClr val="1F6F8B"/>
                </a:solidFill>
                <a:latin typeface="맑은 고딕"/>
              </a:rPr>
              <a:t>slave_committed_seq</a:t>
            </a:r>
            <a:r>
              <a:rPr sz="1150" b="0">
                <a:solidFill>
                  <a:srgbClr val="8A939E"/>
                </a:solidFill>
                <a:latin typeface="맑은 고딕"/>
              </a:rPr>
              <a:t> 가 이 역할)</a:t>
            </a:r>
          </a:p>
        </p:txBody>
      </p:sp>
      <p:sp>
        <p:nvSpPr>
          <p:cNvPr id="19" name="r"/>
          <p:cNvSpPr/>
          <p:nvPr/>
        </p:nvSpPr>
        <p:spPr>
          <a:xfrm>
            <a:off x="6260000" y="1470000"/>
            <a:ext cx="5430000" cy="315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/>
          <p:cNvSpPr txBox="1"/>
          <p:nvPr/>
        </p:nvSpPr>
        <p:spPr>
          <a:xfrm>
            <a:off x="6430000" y="1600000"/>
            <a:ext cx="5090000" cy="289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60" b="1">
                <a:solidFill>
                  <a:srgbClr val="E87A2B"/>
                </a:solidFill>
                <a:latin typeface="Consolas"/>
              </a:rPr>
              <a:t>watermark 가 전진하며 dispatch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watermark = 2346 일 때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seq2347 (lc=2346)   2346 ≤ 2346   dispatch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seq2348 (lc=2346)   2346 ≤ 2346   dispatch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seq2350 (lc=2348)   2348 &gt; 2346   대기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seq2351 (lc=2345)   2345 ≤ 2346   dispatch</a:t>
            </a:r>
          </a:p>
          <a:p>
            <a:endParaRPr sz="500"/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2347·2348·2349 commit → watermark = 2349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seq2350 (lc=2348)   2348 ≤ 2349   dispatch</a:t>
            </a:r>
          </a:p>
        </p:txBody>
      </p:sp>
      <p:sp>
        <p:nvSpPr>
          <p:cNvPr id="21" name="t"/>
          <p:cNvSpPr txBox="1"/>
          <p:nvPr/>
        </p:nvSpPr>
        <p:spPr>
          <a:xfrm>
            <a:off x="6260000" y="4760000"/>
            <a:ext cx="5430000" cy="1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20"/>
              </a:spcAft>
            </a:pPr>
            <a:r>
              <a:rPr sz="1180" b="1" dirty="0">
                <a:solidFill>
                  <a:srgbClr val="E87A2B"/>
                </a:solidFill>
                <a:latin typeface="맑은 고딕"/>
              </a:rPr>
              <a:t>seq2351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은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기록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순서는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뒤지만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last_committed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=2345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라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2346~2350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을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기다릴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필요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없이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먼저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dispatch —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대기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범위는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last_committed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가</a:t>
            </a:r>
            <a:r>
              <a:rPr sz="118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180" b="1" dirty="0" err="1">
                <a:solidFill>
                  <a:srgbClr val="122A42"/>
                </a:solidFill>
                <a:latin typeface="맑은 고딕"/>
              </a:rPr>
              <a:t>정한다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 dirty="0">
                <a:solidFill>
                  <a:srgbClr val="1F6F8B"/>
                </a:solidFill>
                <a:latin typeface="맑은 고딕"/>
              </a:rPr>
              <a:t>SPCO(7-6)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watermark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gap-free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로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유지하므로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이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비교만으로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80" b="0" dirty="0" err="1">
                <a:solidFill>
                  <a:srgbClr val="444B54"/>
                </a:solidFill>
                <a:latin typeface="맑은 고딕"/>
              </a:rPr>
              <a:t>안전하다</a:t>
            </a:r>
            <a:r>
              <a:rPr sz="1180" b="0" dirty="0">
                <a:solidFill>
                  <a:srgbClr val="444B54"/>
                </a:solidFill>
                <a:latin typeface="맑은 고딕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D6A4EA-8802-A284-1B92-83AD2AB97091}"/>
              </a:ext>
            </a:extLst>
          </p:cNvPr>
          <p:cNvSpPr txBox="1"/>
          <p:nvPr/>
        </p:nvSpPr>
        <p:spPr>
          <a:xfrm>
            <a:off x="8648343" y="6134284"/>
            <a:ext cx="344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Watermark: </a:t>
            </a:r>
            <a:r>
              <a:rPr kumimoji="1" lang="ko-KR" altLang="en-US" sz="1200" dirty="0"/>
              <a:t>이 지점 이하까지는 적용이 모두 끝남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7-6. commit 순서 보존 — SPCO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122A42"/>
                </a:solidFill>
                <a:latin typeface="맑은 고딕"/>
              </a:rPr>
              <a:t>왜 보존하나, 그리고 코드에서 어떻게 — replica_preserve_commit_order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19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80000"/>
            <a:ext cx="53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맑은 고딕"/>
              </a:rPr>
              <a:t>■ 왜 commit 순서를 보존하나</a:t>
            </a:r>
          </a:p>
        </p:txBody>
      </p:sp>
      <p:sp>
        <p:nvSpPr>
          <p:cNvPr id="11" name="r"/>
          <p:cNvSpPr/>
          <p:nvPr/>
        </p:nvSpPr>
        <p:spPr>
          <a:xfrm>
            <a:off x="640080" y="1880000"/>
            <a:ext cx="5350000" cy="10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"/>
          <p:cNvSpPr/>
          <p:nvPr/>
        </p:nvSpPr>
        <p:spPr>
          <a:xfrm>
            <a:off x="640080" y="1880000"/>
            <a:ext cx="535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790080" y="188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① 외부 일관성</a:t>
            </a:r>
          </a:p>
        </p:txBody>
      </p:sp>
      <p:sp>
        <p:nvSpPr>
          <p:cNvPr id="14" name="t"/>
          <p:cNvSpPr txBox="1"/>
          <p:nvPr/>
        </p:nvSpPr>
        <p:spPr>
          <a:xfrm>
            <a:off x="800000" y="2470000"/>
            <a:ext cx="5050000" cy="4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source 에 존재한 적 없는 중간 상태를 외부에 노출하지 않는다 — 뒤 tx 가 앞보다 먼저 보이는 gap 방지 (read scale-out 일관성).</a:t>
            </a:r>
          </a:p>
        </p:txBody>
      </p:sp>
      <p:sp>
        <p:nvSpPr>
          <p:cNvPr id="15" name="r"/>
          <p:cNvSpPr/>
          <p:nvPr/>
        </p:nvSpPr>
        <p:spPr>
          <a:xfrm>
            <a:off x="640080" y="3080000"/>
            <a:ext cx="5350000" cy="10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"/>
          <p:cNvSpPr/>
          <p:nvPr/>
        </p:nvSpPr>
        <p:spPr>
          <a:xfrm>
            <a:off x="640080" y="3080000"/>
            <a:ext cx="535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790080" y="308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② gap-free 복구</a:t>
            </a:r>
          </a:p>
        </p:txBody>
      </p:sp>
      <p:sp>
        <p:nvSpPr>
          <p:cNvPr id="18" name="t"/>
          <p:cNvSpPr txBox="1"/>
          <p:nvPr/>
        </p:nvSpPr>
        <p:spPr>
          <a:xfrm>
            <a:off x="800000" y="3670000"/>
            <a:ext cx="5050000" cy="4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크래시 복구 좌표가 유효하려면 commit 이 순서대로여야 한다. out-of-order commit 은 복구 위치 뒤에 durable tx 를 남겨 복구를 어긋나게 한다.</a:t>
            </a:r>
          </a:p>
        </p:txBody>
      </p:sp>
      <p:sp>
        <p:nvSpPr>
          <p:cNvPr id="19" name="t"/>
          <p:cNvSpPr txBox="1"/>
          <p:nvPr/>
        </p:nvSpPr>
        <p:spPr>
          <a:xfrm>
            <a:off x="640080" y="4300000"/>
            <a:ext cx="5350000" cy="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0">
                <a:solidFill>
                  <a:srgbClr val="1F6F8B"/>
                </a:solidFill>
                <a:latin typeface="맑은 고딕"/>
              </a:rPr>
              <a:t>→ ② 가 곧 CUBRID Act G(재시작 정합)와 같은 동기. MySQL 은 commit 순서를 진도층이 아니라 </a:t>
            </a:r>
            <a:r>
              <a:rPr sz="1180" b="1">
                <a:solidFill>
                  <a:srgbClr val="1F6F8B"/>
                </a:solidFill>
                <a:latin typeface="맑은 고딕"/>
              </a:rPr>
              <a:t>물리 commit 단계에서</a:t>
            </a:r>
            <a:r>
              <a:rPr sz="1180" b="0">
                <a:solidFill>
                  <a:srgbClr val="1F6F8B"/>
                </a:solidFill>
                <a:latin typeface="맑은 고딕"/>
              </a:rPr>
              <a:t> 강제해 문제를 애초에 만들지 않는다.</a:t>
            </a:r>
          </a:p>
        </p:txBody>
      </p:sp>
      <p:sp>
        <p:nvSpPr>
          <p:cNvPr id="20" name="t"/>
          <p:cNvSpPr txBox="1"/>
          <p:nvPr/>
        </p:nvSpPr>
        <p:spPr>
          <a:xfrm>
            <a:off x="6260000" y="1480000"/>
            <a:ext cx="543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맑은 고딕"/>
              </a:rPr>
              <a:t>■ 코드에서 어떻게 보존하나</a:t>
            </a:r>
          </a:p>
        </p:txBody>
      </p:sp>
      <p:sp>
        <p:nvSpPr>
          <p:cNvPr id="21" name="t"/>
          <p:cNvSpPr txBox="1"/>
          <p:nvPr/>
        </p:nvSpPr>
        <p:spPr>
          <a:xfrm>
            <a:off x="6260000" y="1870000"/>
            <a:ext cx="5430000" cy="5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1">
                <a:solidFill>
                  <a:srgbClr val="E87A2B"/>
                </a:solidFill>
                <a:latin typeface="Consolas"/>
              </a:rPr>
              <a:t>Commit_order_manager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 가 워커 commit 경로에서 차례를 강제 (ordered_commit 첫 단계).</a:t>
            </a:r>
          </a:p>
        </p:txBody>
      </p:sp>
      <p:sp>
        <p:nvSpPr>
          <p:cNvPr id="22" name="r"/>
          <p:cNvSpPr/>
          <p:nvPr/>
        </p:nvSpPr>
        <p:spPr>
          <a:xfrm>
            <a:off x="6260000" y="2480000"/>
            <a:ext cx="5430000" cy="230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/>
          <p:cNvSpPr txBox="1"/>
          <p:nvPr/>
        </p:nvSpPr>
        <p:spPr>
          <a:xfrm>
            <a:off x="6430000" y="2610000"/>
            <a:ext cx="5090000" cy="20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워커 commit 경로</a:t>
            </a:r>
          </a:p>
          <a:p>
            <a:endParaRPr sz="510"/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① 등록      내 commit_seq 를 순서 큐에 등록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② 차례 대기  앞 순번이 전부 durable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            commit 될 때까지 대기 (HOL)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③ commit    durable commit 실행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④ grant     다음 순번 워커를 깨움 +</a:t>
            </a:r>
          </a:p>
          <a:p>
            <a:pPr algn="l">
              <a:lnSpc>
                <a:spcPct val="122000"/>
              </a:lnSpc>
              <a:spcAft>
                <a:spcPts val="13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            진도(watermark) 전진</a:t>
            </a:r>
          </a:p>
        </p:txBody>
      </p:sp>
      <p:sp>
        <p:nvSpPr>
          <p:cNvPr id="24" name="t"/>
          <p:cNvSpPr txBox="1"/>
          <p:nvPr/>
        </p:nvSpPr>
        <p:spPr>
          <a:xfrm>
            <a:off x="6260000" y="4920000"/>
            <a:ext cx="5430000" cy="1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= CUBRID D.4 : 워커의 durable commit 직전 게이트. </a:t>
            </a:r>
            <a:r>
              <a:rPr sz="1180" b="1">
                <a:solidFill>
                  <a:srgbClr val="122A42"/>
                </a:solidFill>
                <a:latin typeface="맑은 고딕"/>
              </a:rPr>
              <a:t>실행은 병렬, commit 도장은 순서대로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 — 순서 보존 ≠ 순차 실행.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7-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2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버전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연혁과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CUBRID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결정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122A42"/>
                </a:solidFill>
                <a:latin typeface="맑은 고딕"/>
              </a:rPr>
              <a:t>버전에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따른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의존성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추적의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변화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,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그리고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CUBRID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의</a:t>
            </a:r>
            <a:r>
              <a:rPr sz="2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22A42"/>
                </a:solidFill>
                <a:latin typeface="맑은 고딕"/>
              </a:rPr>
              <a:t>선택</a:t>
            </a:r>
            <a:endParaRPr sz="24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17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350000"/>
            <a:ext cx="11050000" cy="50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"/>
          <p:cNvSpPr txBox="1"/>
          <p:nvPr/>
        </p:nvSpPr>
        <p:spPr>
          <a:xfrm>
            <a:off x="820000" y="1350000"/>
            <a:ext cx="106900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CUBRID 1차 설계 = COMMIT_ORDER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    —    MySQL 8.4 는 항상 WRITESET 이지만, 처음 병렬화 컨셉에서 행 단위를 고려하지 않았다</a:t>
            </a:r>
          </a:p>
        </p:txBody>
      </p:sp>
      <p:sp>
        <p:nvSpPr>
          <p:cNvPr id="12" name="t"/>
          <p:cNvSpPr txBox="1"/>
          <p:nvPr/>
        </p:nvSpPr>
        <p:spPr>
          <a:xfrm>
            <a:off x="640080" y="2000000"/>
            <a:ext cx="5750000" cy="3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맑은 고딕"/>
              </a:rPr>
              <a:t>■ 버전 연혁 — 의존성 추적 방식</a:t>
            </a:r>
          </a:p>
        </p:txBody>
      </p:sp>
      <p:sp>
        <p:nvSpPr>
          <p:cNvPr id="13" name="r"/>
          <p:cNvSpPr/>
          <p:nvPr/>
        </p:nvSpPr>
        <p:spPr>
          <a:xfrm>
            <a:off x="640080" y="2380000"/>
            <a:ext cx="5750000" cy="32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"/>
          <p:cNvSpPr/>
          <p:nvPr/>
        </p:nvSpPr>
        <p:spPr>
          <a:xfrm>
            <a:off x="640080" y="240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690080" y="240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5.6</a:t>
            </a:r>
          </a:p>
        </p:txBody>
      </p:sp>
      <p:sp>
        <p:nvSpPr>
          <p:cNvPr id="16" name="t"/>
          <p:cNvSpPr txBox="1"/>
          <p:nvPr/>
        </p:nvSpPr>
        <p:spPr>
          <a:xfrm>
            <a:off x="1900080" y="240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스키마(DATABASE) 단위 병렬</a:t>
            </a:r>
          </a:p>
        </p:txBody>
      </p:sp>
      <p:sp>
        <p:nvSpPr>
          <p:cNvPr id="17" name="r"/>
          <p:cNvSpPr/>
          <p:nvPr/>
        </p:nvSpPr>
        <p:spPr>
          <a:xfrm>
            <a:off x="640080" y="294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690080" y="294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444B54"/>
                </a:solidFill>
                <a:latin typeface="맑은 고딕"/>
              </a:rPr>
              <a:t>5.7.2</a:t>
            </a:r>
          </a:p>
        </p:txBody>
      </p:sp>
      <p:sp>
        <p:nvSpPr>
          <p:cNvPr id="19" name="t"/>
          <p:cNvSpPr txBox="1"/>
          <p:nvPr/>
        </p:nvSpPr>
        <p:spPr>
          <a:xfrm>
            <a:off x="1900080" y="294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LOGICAL_CLOCK v1 — 같은 group commit 묶음만 병렬</a:t>
            </a:r>
          </a:p>
        </p:txBody>
      </p:sp>
      <p:sp>
        <p:nvSpPr>
          <p:cNvPr id="20" name="r"/>
          <p:cNvSpPr/>
          <p:nvPr/>
        </p:nvSpPr>
        <p:spPr>
          <a:xfrm>
            <a:off x="640080" y="348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690080" y="348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444B54"/>
                </a:solidFill>
                <a:latin typeface="맑은 고딕"/>
              </a:rPr>
              <a:t>5.7.6</a:t>
            </a:r>
          </a:p>
        </p:txBody>
      </p:sp>
      <p:sp>
        <p:nvSpPr>
          <p:cNvPr id="22" name="t"/>
          <p:cNvSpPr txBox="1"/>
          <p:nvPr/>
        </p:nvSpPr>
        <p:spPr>
          <a:xfrm>
            <a:off x="1900080" y="348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logical clock v2 — group commit 필수 조건 해소</a:t>
            </a:r>
          </a:p>
        </p:txBody>
      </p:sp>
      <p:sp>
        <p:nvSpPr>
          <p:cNvPr id="23" name="r"/>
          <p:cNvSpPr/>
          <p:nvPr/>
        </p:nvSpPr>
        <p:spPr>
          <a:xfrm>
            <a:off x="640080" y="402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"/>
          <p:cNvSpPr txBox="1"/>
          <p:nvPr/>
        </p:nvSpPr>
        <p:spPr>
          <a:xfrm>
            <a:off x="690080" y="402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444B54"/>
                </a:solidFill>
                <a:latin typeface="맑은 고딕"/>
              </a:rPr>
              <a:t>8.0.1</a:t>
            </a:r>
          </a:p>
        </p:txBody>
      </p:sp>
      <p:sp>
        <p:nvSpPr>
          <p:cNvPr id="25" name="t"/>
          <p:cNvSpPr txBox="1"/>
          <p:nvPr/>
        </p:nvSpPr>
        <p:spPr>
          <a:xfrm>
            <a:off x="1900080" y="402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dependency_tracking 도입 · COMMIT_ORDER 기본, WRITESET 옵션</a:t>
            </a:r>
          </a:p>
        </p:txBody>
      </p:sp>
      <p:sp>
        <p:nvSpPr>
          <p:cNvPr id="26" name="r"/>
          <p:cNvSpPr/>
          <p:nvPr/>
        </p:nvSpPr>
        <p:spPr>
          <a:xfrm>
            <a:off x="640080" y="456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/>
          <p:cNvSpPr txBox="1"/>
          <p:nvPr/>
        </p:nvSpPr>
        <p:spPr>
          <a:xfrm>
            <a:off x="690080" y="456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</a:rPr>
              <a:t>8.4.0</a:t>
            </a:r>
          </a:p>
        </p:txBody>
      </p:sp>
      <p:sp>
        <p:nvSpPr>
          <p:cNvPr id="28" name="t"/>
          <p:cNvSpPr txBox="1"/>
          <p:nvPr/>
        </p:nvSpPr>
        <p:spPr>
          <a:xfrm>
            <a:off x="1900080" y="456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변수 제거 → source 가 항상 WRITESET</a:t>
            </a:r>
          </a:p>
        </p:txBody>
      </p:sp>
      <p:sp>
        <p:nvSpPr>
          <p:cNvPr id="29" name="r"/>
          <p:cNvSpPr/>
          <p:nvPr/>
        </p:nvSpPr>
        <p:spPr>
          <a:xfrm>
            <a:off x="640080" y="5100000"/>
            <a:ext cx="1140000" cy="4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"/>
          <p:cNvSpPr txBox="1"/>
          <p:nvPr/>
        </p:nvSpPr>
        <p:spPr>
          <a:xfrm>
            <a:off x="690080" y="5100000"/>
            <a:ext cx="108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</a:rPr>
              <a:t>9.5.0+</a:t>
            </a:r>
          </a:p>
        </p:txBody>
      </p:sp>
      <p:sp>
        <p:nvSpPr>
          <p:cNvPr id="31" name="t"/>
          <p:cNvSpPr txBox="1"/>
          <p:nvPr/>
        </p:nvSpPr>
        <p:spPr>
          <a:xfrm>
            <a:off x="1900080" y="5100000"/>
            <a:ext cx="443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444B54"/>
                </a:solidFill>
                <a:latin typeface="맑은 고딕"/>
              </a:rPr>
              <a:t>replica_parallel_type 제거 → LOGICAL_CLOCK 만</a:t>
            </a:r>
          </a:p>
        </p:txBody>
      </p:sp>
      <p:sp>
        <p:nvSpPr>
          <p:cNvPr id="32" name="r"/>
          <p:cNvSpPr/>
          <p:nvPr/>
        </p:nvSpPr>
        <p:spPr>
          <a:xfrm>
            <a:off x="6660000" y="2360000"/>
            <a:ext cx="5030000" cy="15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"/>
          <p:cNvSpPr/>
          <p:nvPr/>
        </p:nvSpPr>
        <p:spPr>
          <a:xfrm>
            <a:off x="6660000" y="2360000"/>
            <a:ext cx="503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/>
          <p:cNvSpPr txBox="1"/>
          <p:nvPr/>
        </p:nvSpPr>
        <p:spPr>
          <a:xfrm>
            <a:off x="6810000" y="2360000"/>
            <a:ext cx="47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MySQL 의 흐름</a:t>
            </a:r>
          </a:p>
        </p:txBody>
      </p:sp>
      <p:sp>
        <p:nvSpPr>
          <p:cNvPr id="35" name="t"/>
          <p:cNvSpPr txBox="1"/>
          <p:nvPr/>
        </p:nvSpPr>
        <p:spPr>
          <a:xfrm>
            <a:off x="6820000" y="2860000"/>
            <a:ext cx="4710000" cy="9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8.0.1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COMMIT_ORDER 기본 · WRITESET 옵션</a:t>
            </a:r>
          </a:p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8.4.0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변수 제거 → 항상 WRITESET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E87A2B"/>
                </a:solidFill>
                <a:latin typeface="맑은 고딕"/>
              </a:rPr>
              <a:t>→ COMMIT_ORDER 는 deprecated</a:t>
            </a:r>
          </a:p>
        </p:txBody>
      </p:sp>
      <p:sp>
        <p:nvSpPr>
          <p:cNvPr id="36" name="r"/>
          <p:cNvSpPr/>
          <p:nvPr/>
        </p:nvSpPr>
        <p:spPr>
          <a:xfrm>
            <a:off x="6660000" y="3960000"/>
            <a:ext cx="5030000" cy="16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"/>
          <p:cNvSpPr/>
          <p:nvPr/>
        </p:nvSpPr>
        <p:spPr>
          <a:xfrm>
            <a:off x="6660000" y="3960000"/>
            <a:ext cx="5030000" cy="40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/>
          <p:cNvSpPr txBox="1"/>
          <p:nvPr/>
        </p:nvSpPr>
        <p:spPr>
          <a:xfrm>
            <a:off x="6810000" y="3960000"/>
            <a:ext cx="47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CUBRID 의 결정</a:t>
            </a:r>
          </a:p>
        </p:txBody>
      </p:sp>
      <p:sp>
        <p:nvSpPr>
          <p:cNvPr id="39" name="t"/>
          <p:cNvSpPr txBox="1"/>
          <p:nvPr/>
        </p:nvSpPr>
        <p:spPr>
          <a:xfrm>
            <a:off x="6820000" y="4460000"/>
            <a:ext cx="4710000" cy="11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행 단위(WRITESET)는 고려하지 않음 → </a:t>
            </a:r>
            <a:r>
              <a:rPr sz="1150" b="1">
                <a:solidFill>
                  <a:srgbClr val="E87A2B"/>
                </a:solidFill>
                <a:latin typeface="맑은 고딕"/>
              </a:rPr>
              <a:t>1차 COMMIT_ORDER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 (단순·FK 자동 안전)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행 단위 병렬은 같은 인터페이스 위 </a:t>
            </a:r>
            <a:r>
              <a:rPr sz="1150" b="1">
                <a:solidFill>
                  <a:srgbClr val="1F6F8B"/>
                </a:solidFill>
                <a:latin typeface="맑은 고딕"/>
              </a:rPr>
              <a:t>향후 확장 (v2 WRITESET)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CUBRID 병렬화 전체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코디네이터 파이프라인과 각 모듈의 책임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8-1.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cub_server(마스터) → 리더 → 코디네이터 → 워커 → 순서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pic>
        <p:nvPicPr>
          <p:cNvPr id="10" name="Picture 9" descr="coordinator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126480" cy="4572446"/>
          </a:xfrm>
          <a:prstGeom prst="rect">
            <a:avLst/>
          </a:prstGeom>
        </p:spPr>
      </p:pic>
      <p:sp>
        <p:nvSpPr>
          <p:cNvPr id="11" name="t"/>
          <p:cNvSpPr txBox="1"/>
          <p:nvPr/>
        </p:nvSpPr>
        <p:spPr>
          <a:xfrm>
            <a:off x="6858000" y="1508760"/>
            <a:ext cx="4713006" cy="553395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● cub_server (마스터)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commit 순서로 commit_seq·dependency_seq 를 정해</a:t>
            </a:r>
          </a:p>
          <a:p>
            <a:pPr algn="l">
              <a:lnSpc>
                <a:spcPct val="106000"/>
              </a:lnSpc>
              <a:spcAft>
                <a:spcPts val="36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· 복제 로그에 실어 보냄 (source)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● 리더 (LogReader)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tx별 apply list 구성 + commit_seq/dependency_seq 디코드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E87A2B"/>
                </a:solidFill>
                <a:latin typeface="맑은 고딕"/>
              </a:rPr>
              <a:t>● 코디네이터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dependency_seq ≤ slave_committed_seq 면 분배, 아니면 대기</a:t>
            </a:r>
          </a:p>
          <a:p>
            <a:pPr algn="l">
              <a:lnSpc>
                <a:spcPct val="106000"/>
              </a:lnSpc>
              <a:spcAft>
                <a:spcPts val="36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· 분배 방법: 가용(free) 워커에 배정 (없으면 대기)</a:t>
            </a:r>
          </a:p>
          <a:p>
            <a:pPr algn="l">
              <a:lnSpc>
                <a:spcPct val="106000"/>
              </a:lnSpc>
              <a:spcAft>
                <a:spcPts val="36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· tranid%worker 고정 아님 — commit 순서는 워커 게이트가 보장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● 워커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슬레이브 서버에 적용·flush·commit</a:t>
            </a:r>
          </a:p>
          <a:p>
            <a:pPr algn="l">
              <a:lnSpc>
                <a:spcPct val="106000"/>
              </a:lnSpc>
              <a:spcAft>
                <a:spcPts val="36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· FK 검사·durable commit (D.4 차례 게이트)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● 순서 정리 (리더)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commit 순서대로 committed_lsa·apply info 전진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● 핵심</a:t>
            </a:r>
          </a:p>
          <a:p>
            <a:pPr algn="l">
              <a:lnSpc>
                <a:spcPct val="106000"/>
              </a:lnSpc>
              <a:spcAft>
                <a:spcPts val="140"/>
              </a:spcAft>
            </a:pPr>
            <a:r>
              <a:rPr sz="1050" b="0">
                <a:solidFill>
                  <a:srgbClr val="444B54"/>
                </a:solidFill>
                <a:latin typeface="맑은 고딕"/>
              </a:rPr>
              <a:t>– 충돌·의존 계산은 슬레이브가 안 함 — 마스터가 dependency_seq 로 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8-2. 누가 정하나 — 의존성은 cub_server 가 본다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22A42"/>
                </a:solidFill>
                <a:latin typeface="맑은 고딕"/>
              </a:rPr>
              <a:t>복제 로그엔 FK 가 없다 — applier 단독으론 부모·자식 순서를 모른다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21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645920"/>
            <a:ext cx="5394960" cy="2286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640080" y="1645920"/>
            <a:ext cx="539496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804672" y="170078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문제 — applier 는 FK 를 모른다</a:t>
            </a:r>
          </a:p>
        </p:txBody>
      </p:sp>
      <p:sp>
        <p:nvSpPr>
          <p:cNvPr id="13" name="t"/>
          <p:cNvSpPr txBox="1"/>
          <p:nvPr/>
        </p:nvSpPr>
        <p:spPr>
          <a:xfrm>
            <a:off x="804672" y="2210000"/>
            <a:ext cx="5065776" cy="16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 dirty="0" err="1">
                <a:solidFill>
                  <a:srgbClr val="444B54"/>
                </a:solidFill>
                <a:latin typeface="맑은 고딕"/>
              </a:rPr>
              <a:t>복제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로그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=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class·PK·op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뿐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200" b="1" dirty="0">
                <a:solidFill>
                  <a:srgbClr val="122A42"/>
                </a:solidFill>
                <a:latin typeface="맑은 고딕"/>
              </a:rPr>
              <a:t>FK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정보</a:t>
            </a:r>
            <a:r>
              <a:rPr sz="1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없음</a:t>
            </a:r>
            <a:endParaRPr sz="12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 dirty="0">
                <a:solidFill>
                  <a:srgbClr val="444B54"/>
                </a:solidFill>
                <a:latin typeface="맑은 고딕"/>
              </a:rPr>
              <a:t>FK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제약은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cub_server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apply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때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검사</a:t>
            </a:r>
            <a:endParaRPr sz="12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applier·coordinator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부모-자식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순서를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모름</a:t>
            </a:r>
            <a:endParaRPr sz="12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의존성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없이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자식이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부모보다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먼저</a:t>
            </a:r>
            <a:endParaRPr sz="12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cub_server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FK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검사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실패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lang="ko-KR" altLang="en-US" sz="1200" b="1" dirty="0">
                <a:solidFill>
                  <a:srgbClr val="E87A2B"/>
                </a:solidFill>
                <a:latin typeface="맑은 고딕"/>
              </a:rPr>
              <a:t>복제 실패 </a:t>
            </a:r>
            <a:r>
              <a:rPr lang="en-US" altLang="ko-KR" sz="1200" b="1" dirty="0">
                <a:solidFill>
                  <a:srgbClr val="E87A2B"/>
                </a:solidFill>
                <a:latin typeface="맑은 고딕"/>
              </a:rPr>
              <a:t>(</a:t>
            </a:r>
            <a:r>
              <a:rPr sz="1200" b="1" dirty="0" err="1">
                <a:solidFill>
                  <a:srgbClr val="E87A2B"/>
                </a:solidFill>
                <a:latin typeface="맑은 고딕"/>
              </a:rPr>
              <a:t>fail_counter</a:t>
            </a:r>
            <a:r>
              <a:rPr sz="1200" b="1" dirty="0">
                <a:solidFill>
                  <a:srgbClr val="E87A2B"/>
                </a:solidFill>
                <a:latin typeface="맑은 고딕"/>
              </a:rPr>
              <a:t>)</a:t>
            </a:r>
          </a:p>
        </p:txBody>
      </p:sp>
      <p:sp>
        <p:nvSpPr>
          <p:cNvPr id="14" name="r"/>
          <p:cNvSpPr/>
          <p:nvPr/>
        </p:nvSpPr>
        <p:spPr>
          <a:xfrm>
            <a:off x="6217920" y="1645920"/>
            <a:ext cx="5394960" cy="2286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6387920" y="1795920"/>
            <a:ext cx="5054960" cy="1986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140" b="1" dirty="0">
                <a:solidFill>
                  <a:srgbClr val="E87A2B"/>
                </a:solidFill>
                <a:latin typeface="Consolas"/>
              </a:rPr>
              <a:t>FK </a:t>
            </a:r>
            <a:r>
              <a:rPr sz="1140" b="1" dirty="0" err="1">
                <a:solidFill>
                  <a:srgbClr val="E87A2B"/>
                </a:solidFill>
                <a:latin typeface="Consolas"/>
              </a:rPr>
              <a:t>시나리오</a:t>
            </a:r>
            <a:endParaRPr sz="1140" b="1" dirty="0">
              <a:solidFill>
                <a:srgbClr val="E87A2B"/>
              </a:solidFill>
              <a:latin typeface="Consolas"/>
            </a:endParaRPr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>
                <a:solidFill>
                  <a:srgbClr val="D8E6EE"/>
                </a:solidFill>
                <a:latin typeface="Consolas"/>
              </a:rPr>
              <a:t>T1: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부모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INSERT</a:t>
            </a:r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>
                <a:solidFill>
                  <a:srgbClr val="D8E6EE"/>
                </a:solidFill>
                <a:latin typeface="Consolas"/>
              </a:rPr>
              <a:t>T2: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자식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INSERT (FK → T1)</a:t>
            </a:r>
          </a:p>
          <a:p>
            <a:endParaRPr sz="540" dirty="0"/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 err="1">
                <a:solidFill>
                  <a:srgbClr val="D8E6EE"/>
                </a:solidFill>
                <a:latin typeface="Consolas"/>
              </a:rPr>
              <a:t>의존성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없이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병렬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→</a:t>
            </a:r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>
                <a:solidFill>
                  <a:srgbClr val="D8E6EE"/>
                </a:solidFill>
                <a:latin typeface="Consolas"/>
              </a:rPr>
              <a:t>  T2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가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T1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보다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먼저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적용될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수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있음</a:t>
            </a:r>
            <a:endParaRPr sz="1080" b="0" dirty="0">
              <a:solidFill>
                <a:srgbClr val="D8E6EE"/>
              </a:solidFill>
              <a:latin typeface="Consolas"/>
            </a:endParaRPr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>
                <a:solidFill>
                  <a:srgbClr val="D8E6EE"/>
                </a:solidFill>
                <a:latin typeface="Consolas"/>
              </a:rPr>
              <a:t>  →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cub_server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FK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검사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실패</a:t>
            </a:r>
            <a:endParaRPr sz="1080" b="0" dirty="0">
              <a:solidFill>
                <a:srgbClr val="D8E6EE"/>
              </a:solidFill>
              <a:latin typeface="Consolas"/>
            </a:endParaRPr>
          </a:p>
          <a:p>
            <a:pPr algn="l">
              <a:lnSpc>
                <a:spcPct val="126000"/>
              </a:lnSpc>
              <a:spcAft>
                <a:spcPts val="120"/>
              </a:spcAft>
            </a:pPr>
            <a:r>
              <a:rPr sz="1080" b="0" dirty="0">
                <a:solidFill>
                  <a:srgbClr val="D8E6EE"/>
                </a:solidFill>
                <a:latin typeface="Consolas"/>
              </a:rPr>
              <a:t>  → </a:t>
            </a:r>
            <a:r>
              <a:rPr sz="1080" b="0" dirty="0" err="1">
                <a:solidFill>
                  <a:srgbClr val="D8E6EE"/>
                </a:solidFill>
                <a:latin typeface="Consolas"/>
              </a:rPr>
              <a:t>복제</a:t>
            </a:r>
            <a:r>
              <a:rPr sz="1080" b="0" dirty="0">
                <a:solidFill>
                  <a:srgbClr val="D8E6EE"/>
                </a:solidFill>
                <a:latin typeface="Consolas"/>
              </a:rPr>
              <a:t> </a:t>
            </a:r>
            <a:r>
              <a:rPr lang="ko-KR" altLang="en-US" sz="1080" dirty="0">
                <a:solidFill>
                  <a:srgbClr val="D8E6EE"/>
                </a:solidFill>
                <a:latin typeface="Consolas"/>
              </a:rPr>
              <a:t>실패</a:t>
            </a:r>
            <a:endParaRPr sz="1080" b="0" dirty="0">
              <a:solidFill>
                <a:srgbClr val="D8E6EE"/>
              </a:solidFill>
              <a:latin typeface="Consolas"/>
            </a:endParaRPr>
          </a:p>
        </p:txBody>
      </p:sp>
      <p:sp>
        <p:nvSpPr>
          <p:cNvPr id="16" name="t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680"/>
              </a:spcAft>
            </a:pPr>
            <a:r>
              <a:rPr sz="1500" b="1" dirty="0">
                <a:solidFill>
                  <a:srgbClr val="122A42"/>
                </a:solidFill>
                <a:latin typeface="맑은 고딕"/>
              </a:rPr>
              <a:t>●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그래서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의존성은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cub_server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가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봐줘야</a:t>
            </a:r>
            <a:r>
              <a:rPr sz="15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22A42"/>
                </a:solidFill>
                <a:latin typeface="맑은 고딕"/>
              </a:rPr>
              <a:t>한다</a:t>
            </a:r>
            <a:endParaRPr sz="15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35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cub_server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1" dirty="0">
                <a:solidFill>
                  <a:srgbClr val="122A42"/>
                </a:solidFill>
                <a:latin typeface="맑은 고딕"/>
              </a:rPr>
              <a:t>commit </a:t>
            </a:r>
            <a:r>
              <a:rPr sz="1350" b="1" dirty="0" err="1">
                <a:solidFill>
                  <a:srgbClr val="122A42"/>
                </a:solidFill>
                <a:latin typeface="맑은 고딕"/>
              </a:rPr>
              <a:t>순서로</a:t>
            </a:r>
            <a:r>
              <a:rPr sz="1350" b="1" dirty="0">
                <a:solidFill>
                  <a:srgbClr val="122A42"/>
                </a:solidFill>
                <a:latin typeface="맑은 고딕"/>
              </a:rPr>
              <a:t> dependency </a:t>
            </a:r>
            <a:r>
              <a:rPr sz="1350" b="1" dirty="0" err="1">
                <a:solidFill>
                  <a:srgbClr val="122A42"/>
                </a:solidFill>
                <a:latin typeface="맑은 고딕"/>
              </a:rPr>
              <a:t>를</a:t>
            </a:r>
            <a:r>
              <a:rPr sz="13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22A42"/>
                </a:solidFill>
                <a:latin typeface="맑은 고딕"/>
              </a:rPr>
              <a:t>계산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해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복제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로그에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실어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준다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(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테이블·FK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보고도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350" b="0" dirty="0">
                <a:solidFill>
                  <a:srgbClr val="444B54"/>
                </a:solidFill>
                <a:latin typeface="맑은 고딕"/>
              </a:rPr>
              <a:t>– applier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그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dependency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충족될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때까지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1" dirty="0">
                <a:solidFill>
                  <a:srgbClr val="122A42"/>
                </a:solidFill>
                <a:latin typeface="맑은 고딕"/>
              </a:rPr>
              <a:t>dispatch </a:t>
            </a:r>
            <a:r>
              <a:rPr sz="1350" b="1" dirty="0" err="1">
                <a:solidFill>
                  <a:srgbClr val="122A42"/>
                </a:solidFill>
                <a:latin typeface="맑은 고딕"/>
              </a:rPr>
              <a:t>대기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→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자식은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부모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후에만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적용</a:t>
            </a:r>
            <a:r>
              <a:rPr sz="1350" b="0" dirty="0">
                <a:solidFill>
                  <a:srgbClr val="444B54"/>
                </a:solidFill>
                <a:latin typeface="맑은 고딕"/>
              </a:rPr>
              <a:t> → FK </a:t>
            </a:r>
            <a:r>
              <a:rPr sz="1350" b="0" dirty="0" err="1">
                <a:solidFill>
                  <a:srgbClr val="444B54"/>
                </a:solidFill>
                <a:latin typeface="맑은 고딕"/>
              </a:rPr>
              <a:t>안전</a:t>
            </a:r>
            <a:endParaRPr sz="135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dirty="0">
                <a:solidFill>
                  <a:srgbClr val="1F6F8B"/>
                </a:solidFill>
                <a:latin typeface="맑은 고딕"/>
              </a:rPr>
              <a:t>– </a:t>
            </a:r>
            <a:r>
              <a:rPr sz="1350" b="1" dirty="0" err="1">
                <a:solidFill>
                  <a:srgbClr val="1F6F8B"/>
                </a:solidFill>
                <a:latin typeface="맑은 고딕"/>
              </a:rPr>
              <a:t>계산</a:t>
            </a:r>
            <a:r>
              <a:rPr sz="13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F6F8B"/>
                </a:solidFill>
                <a:latin typeface="맑은 고딕"/>
              </a:rPr>
              <a:t>방식</a:t>
            </a:r>
            <a:r>
              <a:rPr sz="1350" b="1" dirty="0">
                <a:solidFill>
                  <a:srgbClr val="1F6F8B"/>
                </a:solidFill>
                <a:latin typeface="맑은 고딕"/>
              </a:rPr>
              <a:t> = 8-3 (Master COMMIT_ORDER · 원리 7-2) / </a:t>
            </a:r>
            <a:r>
              <a:rPr sz="1350" b="1" dirty="0" err="1">
                <a:solidFill>
                  <a:srgbClr val="1F6F8B"/>
                </a:solidFill>
                <a:latin typeface="맑은 고딕"/>
              </a:rPr>
              <a:t>분배</a:t>
            </a:r>
            <a:r>
              <a:rPr sz="1350" b="1" dirty="0">
                <a:solidFill>
                  <a:srgbClr val="1F6F8B"/>
                </a:solidFill>
                <a:latin typeface="맑은 고딕"/>
              </a:rPr>
              <a:t> = 8-4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8-3. Master 의 의존성 계산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22A42"/>
                </a:solidFill>
                <a:latin typeface="맑은 고딕"/>
              </a:rPr>
              <a:t>cub_server 가 commit 순서로 commit_seq·dependency_seq 를 정해 로그에 실어 보낸다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22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30000"/>
            <a:ext cx="53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■ COMMIT_ORDER 계산 (master = cub_server)</a:t>
            </a:r>
          </a:p>
        </p:txBody>
      </p:sp>
      <p:sp>
        <p:nvSpPr>
          <p:cNvPr id="11" name="t"/>
          <p:cNvSpPr txBox="1"/>
          <p:nvPr/>
        </p:nvSpPr>
        <p:spPr>
          <a:xfrm>
            <a:off x="640080" y="1790000"/>
            <a:ext cx="5350000" cy="1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 err="1">
                <a:solidFill>
                  <a:srgbClr val="444B54"/>
                </a:solidFill>
                <a:latin typeface="맑은 고딕"/>
              </a:rPr>
              <a:t>충돌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판단은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1" dirty="0">
                <a:solidFill>
                  <a:srgbClr val="122A42"/>
                </a:solidFill>
                <a:latin typeface="맑은 고딕"/>
              </a:rPr>
              <a:t>master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(slave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재계산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함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전역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1개 (commit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끝난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마지막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seq)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들어가는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순간의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= </a:t>
            </a:r>
            <a:r>
              <a:rPr sz="1080" b="1" dirty="0" err="1">
                <a:solidFill>
                  <a:srgbClr val="E87A2B"/>
                </a:solidFill>
                <a:latin typeface="맑은 고딕"/>
              </a:rPr>
              <a:t>dependency_seq</a:t>
            </a:r>
            <a:endParaRPr sz="108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끝나면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올림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·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행키·FK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봄</a:t>
            </a:r>
            <a:endParaRPr sz="1080" b="0" dirty="0">
              <a:solidFill>
                <a:srgbClr val="444B54"/>
              </a:solidFill>
              <a:latin typeface="맑은 고딕"/>
            </a:endParaRPr>
          </a:p>
        </p:txBody>
      </p:sp>
      <p:sp>
        <p:nvSpPr>
          <p:cNvPr id="12" name="r"/>
          <p:cNvSpPr/>
          <p:nvPr/>
        </p:nvSpPr>
        <p:spPr>
          <a:xfrm>
            <a:off x="6260000" y="1430000"/>
            <a:ext cx="5430000" cy="133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6410000" y="1540000"/>
            <a:ext cx="5130000" cy="11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040" b="1">
                <a:solidFill>
                  <a:srgbClr val="E87A2B"/>
                </a:solidFill>
                <a:latin typeface="Consolas"/>
              </a:rPr>
              <a:t>복제 메타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LOG_REPL_COMMIT_CLOCK {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commit_seq      // 마스터 commit 순서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dependency_seq  // 끝나야 할 마지막 seq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}</a:t>
            </a:r>
          </a:p>
        </p:txBody>
      </p:sp>
      <p:sp>
        <p:nvSpPr>
          <p:cNvPr id="14" name="t"/>
          <p:cNvSpPr txBox="1"/>
          <p:nvPr/>
        </p:nvSpPr>
        <p:spPr>
          <a:xfrm>
            <a:off x="640080" y="296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예시 — </a:t>
            </a:r>
            <a:r>
              <a:rPr sz="1300" b="1">
                <a:solidFill>
                  <a:srgbClr val="E87A2B"/>
                </a:solidFill>
                <a:latin typeface="맑은 고딕"/>
              </a:rPr>
              <a:t>T0·T1 순차 → T2·T3·T4 병렬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· 함께 in-flight면 같은 dependency_seq → 슬레이브도 동일</a:t>
            </a:r>
          </a:p>
        </p:txBody>
      </p:sp>
      <p:sp>
        <p:nvSpPr>
          <p:cNvPr id="15" name="t"/>
          <p:cNvSpPr txBox="1"/>
          <p:nvPr/>
        </p:nvSpPr>
        <p:spPr>
          <a:xfrm>
            <a:off x="720000" y="3470000"/>
            <a:ext cx="26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Master (commit 순서)</a:t>
            </a:r>
          </a:p>
        </p:txBody>
      </p:sp>
      <p:sp>
        <p:nvSpPr>
          <p:cNvPr id="16" name="r"/>
          <p:cNvSpPr/>
          <p:nvPr/>
        </p:nvSpPr>
        <p:spPr>
          <a:xfrm>
            <a:off x="72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72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1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0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" name="t"/>
          <p:cNvSpPr txBox="1"/>
          <p:nvPr/>
        </p:nvSpPr>
        <p:spPr>
          <a:xfrm>
            <a:off x="165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9" name="r"/>
          <p:cNvSpPr/>
          <p:nvPr/>
        </p:nvSpPr>
        <p:spPr>
          <a:xfrm>
            <a:off x="205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/>
          <p:cNvSpPr txBox="1"/>
          <p:nvPr/>
        </p:nvSpPr>
        <p:spPr>
          <a:xfrm>
            <a:off x="205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2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1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"/>
          <p:cNvSpPr txBox="1"/>
          <p:nvPr/>
        </p:nvSpPr>
        <p:spPr>
          <a:xfrm>
            <a:off x="298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22" name="r"/>
          <p:cNvSpPr/>
          <p:nvPr/>
        </p:nvSpPr>
        <p:spPr>
          <a:xfrm>
            <a:off x="3380000" y="3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/>
          <p:cNvSpPr txBox="1"/>
          <p:nvPr/>
        </p:nvSpPr>
        <p:spPr>
          <a:xfrm>
            <a:off x="3380000" y="3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3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" name="r"/>
          <p:cNvSpPr/>
          <p:nvPr/>
        </p:nvSpPr>
        <p:spPr>
          <a:xfrm>
            <a:off x="3380000" y="42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/>
          <p:cNvSpPr txBox="1"/>
          <p:nvPr/>
        </p:nvSpPr>
        <p:spPr>
          <a:xfrm>
            <a:off x="3380000" y="42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4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6" name="r"/>
          <p:cNvSpPr/>
          <p:nvPr/>
        </p:nvSpPr>
        <p:spPr>
          <a:xfrm>
            <a:off x="3380000" y="4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/>
          <p:cNvSpPr txBox="1"/>
          <p:nvPr/>
        </p:nvSpPr>
        <p:spPr>
          <a:xfrm>
            <a:off x="3380000" y="4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5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3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8" name="t"/>
          <p:cNvSpPr txBox="1"/>
          <p:nvPr/>
        </p:nvSpPr>
        <p:spPr>
          <a:xfrm>
            <a:off x="4480000" y="4260000"/>
            <a:ext cx="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</a:rPr>
              <a:t>병렬</a:t>
            </a:r>
          </a:p>
        </p:txBody>
      </p:sp>
      <p:sp>
        <p:nvSpPr>
          <p:cNvPr id="29" name="r"/>
          <p:cNvSpPr/>
          <p:nvPr/>
        </p:nvSpPr>
        <p:spPr>
          <a:xfrm>
            <a:off x="6060000" y="3460000"/>
            <a:ext cx="16000" cy="2500000"/>
          </a:xfrm>
          <a:prstGeom prst="rect">
            <a:avLst/>
          </a:prstGeom>
          <a:solidFill>
            <a:srgbClr val="C9D5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"/>
          <p:cNvSpPr txBox="1"/>
          <p:nvPr/>
        </p:nvSpPr>
        <p:spPr>
          <a:xfrm>
            <a:off x="6360000" y="3470000"/>
            <a:ext cx="26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Slave (동일 순서로 적용)</a:t>
            </a:r>
          </a:p>
        </p:txBody>
      </p:sp>
      <p:sp>
        <p:nvSpPr>
          <p:cNvPr id="31" name="r"/>
          <p:cNvSpPr/>
          <p:nvPr/>
        </p:nvSpPr>
        <p:spPr>
          <a:xfrm>
            <a:off x="636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/>
          <p:cNvSpPr txBox="1"/>
          <p:nvPr/>
        </p:nvSpPr>
        <p:spPr>
          <a:xfrm>
            <a:off x="636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1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0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3" name="t"/>
          <p:cNvSpPr txBox="1"/>
          <p:nvPr/>
        </p:nvSpPr>
        <p:spPr>
          <a:xfrm>
            <a:off x="729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34" name="r"/>
          <p:cNvSpPr/>
          <p:nvPr/>
        </p:nvSpPr>
        <p:spPr>
          <a:xfrm>
            <a:off x="769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"/>
          <p:cNvSpPr txBox="1"/>
          <p:nvPr/>
        </p:nvSpPr>
        <p:spPr>
          <a:xfrm>
            <a:off x="769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2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1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6" name="t"/>
          <p:cNvSpPr txBox="1"/>
          <p:nvPr/>
        </p:nvSpPr>
        <p:spPr>
          <a:xfrm>
            <a:off x="862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37" name="r"/>
          <p:cNvSpPr/>
          <p:nvPr/>
        </p:nvSpPr>
        <p:spPr>
          <a:xfrm>
            <a:off x="9020000" y="3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/>
          <p:cNvSpPr txBox="1"/>
          <p:nvPr/>
        </p:nvSpPr>
        <p:spPr>
          <a:xfrm>
            <a:off x="9020000" y="3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3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9" name="r"/>
          <p:cNvSpPr/>
          <p:nvPr/>
        </p:nvSpPr>
        <p:spPr>
          <a:xfrm>
            <a:off x="9020000" y="42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"/>
          <p:cNvSpPr txBox="1"/>
          <p:nvPr/>
        </p:nvSpPr>
        <p:spPr>
          <a:xfrm>
            <a:off x="9020000" y="42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4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1" name="r"/>
          <p:cNvSpPr/>
          <p:nvPr/>
        </p:nvSpPr>
        <p:spPr>
          <a:xfrm>
            <a:off x="9020000" y="4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"/>
          <p:cNvSpPr txBox="1"/>
          <p:nvPr/>
        </p:nvSpPr>
        <p:spPr>
          <a:xfrm>
            <a:off x="9020000" y="4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5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3" name="t"/>
          <p:cNvSpPr txBox="1"/>
          <p:nvPr/>
        </p:nvSpPr>
        <p:spPr>
          <a:xfrm>
            <a:off x="10120000" y="4260000"/>
            <a:ext cx="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 err="1">
                <a:solidFill>
                  <a:srgbClr val="E87A2B"/>
                </a:solidFill>
                <a:latin typeface="맑은 고딕"/>
              </a:rPr>
              <a:t>병렬</a:t>
            </a:r>
            <a:endParaRPr sz="1200" b="1" dirty="0">
              <a:solidFill>
                <a:srgbClr val="E87A2B"/>
              </a:solidFill>
              <a:latin typeface="맑은 고딕"/>
            </a:endParaRPr>
          </a:p>
        </p:txBody>
      </p: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8407C3A7-6370-145E-3B52-6EBB1C57311E}"/>
              </a:ext>
            </a:extLst>
          </p:cNvPr>
          <p:cNvCxnSpPr>
            <a:cxnSpLocks/>
          </p:cNvCxnSpPr>
          <p:nvPr/>
        </p:nvCxnSpPr>
        <p:spPr>
          <a:xfrm>
            <a:off x="1807779" y="4079834"/>
            <a:ext cx="0" cy="849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3F8C9B91-E8E0-8045-E205-2D67B6609F8A}"/>
              </a:ext>
            </a:extLst>
          </p:cNvPr>
          <p:cNvCxnSpPr>
            <a:cxnSpLocks/>
          </p:cNvCxnSpPr>
          <p:nvPr/>
        </p:nvCxnSpPr>
        <p:spPr>
          <a:xfrm>
            <a:off x="3128579" y="4079834"/>
            <a:ext cx="0" cy="849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DE6FB70-4BB4-AC0A-E410-372FB635CC27}"/>
              </a:ext>
            </a:extLst>
          </p:cNvPr>
          <p:cNvSpPr txBox="1"/>
          <p:nvPr/>
        </p:nvSpPr>
        <p:spPr>
          <a:xfrm>
            <a:off x="2412073" y="5158894"/>
            <a:ext cx="166263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Dep = </a:t>
            </a: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…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++</a:t>
            </a:r>
            <a:endParaRPr kumimoji="1" lang="ko-KR" altLang="en-US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BC5A2B-55F2-CB74-1BFE-352695300A53}"/>
              </a:ext>
            </a:extLst>
          </p:cNvPr>
          <p:cNvSpPr txBox="1"/>
          <p:nvPr/>
        </p:nvSpPr>
        <p:spPr>
          <a:xfrm>
            <a:off x="-30969" y="4708126"/>
            <a:ext cx="14814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=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0</a:t>
            </a:r>
            <a:endParaRPr kumimoji="1" lang="ko-KR" alt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EA6784-60A9-B742-8534-E3FEC8A1CF35}"/>
              </a:ext>
            </a:extLst>
          </p:cNvPr>
          <p:cNvSpPr txBox="1"/>
          <p:nvPr/>
        </p:nvSpPr>
        <p:spPr>
          <a:xfrm>
            <a:off x="670682" y="5158895"/>
            <a:ext cx="166263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Dep = </a:t>
            </a: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…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++</a:t>
            </a:r>
            <a:endParaRPr kumimoji="1" lang="ko-KR" alt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A61D-CBA7-2A7C-8910-E890140D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>
            <a:extLst>
              <a:ext uri="{FF2B5EF4-FFF2-40B4-BE49-F238E27FC236}">
                <a16:creationId xmlns:a16="http://schemas.microsoft.com/office/drawing/2014/main" id="{C6DFBD85-AD58-B2CA-1091-DFDE9C31ABA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0250C436-8920-6AE2-FE1A-1B949FE96C9F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154C2501-0ABF-6A85-D021-D1969CA7DA4C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C0B2EC91-0FDC-FDA2-69AB-BDB00174C336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8-3. Master 의 의존성 계산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60F8AF24-7E76-3B29-5EA6-D4BC9C57523C}"/>
              </a:ext>
            </a:extLst>
          </p:cNvPr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22A42"/>
                </a:solidFill>
                <a:latin typeface="맑은 고딕"/>
              </a:rPr>
              <a:t>cub_server 가 commit 순서로 commit_seq·dependency_seq 를 정해 로그에 실어 보낸다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99442A88-03E6-0023-E6ED-97C42FA0F5EF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4BBDC1B2-47BE-1AF2-3041-4C7FB0FEB365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22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789ADC19-BEF7-C98A-33C0-778342DCC5E3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D205137D-0253-F1DE-993C-7760C1BE81B8}"/>
              </a:ext>
            </a:extLst>
          </p:cNvPr>
          <p:cNvSpPr txBox="1"/>
          <p:nvPr/>
        </p:nvSpPr>
        <p:spPr>
          <a:xfrm>
            <a:off x="640080" y="1430000"/>
            <a:ext cx="53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■ COMMIT_ORDER 계산 (master = cub_server)</a:t>
            </a:r>
          </a:p>
        </p:txBody>
      </p:sp>
      <p:sp>
        <p:nvSpPr>
          <p:cNvPr id="11" name="t">
            <a:extLst>
              <a:ext uri="{FF2B5EF4-FFF2-40B4-BE49-F238E27FC236}">
                <a16:creationId xmlns:a16="http://schemas.microsoft.com/office/drawing/2014/main" id="{7CC3CA68-0FBC-EABE-CDA7-60A96BB30465}"/>
              </a:ext>
            </a:extLst>
          </p:cNvPr>
          <p:cNvSpPr txBox="1"/>
          <p:nvPr/>
        </p:nvSpPr>
        <p:spPr>
          <a:xfrm>
            <a:off x="640080" y="1790000"/>
            <a:ext cx="5350000" cy="1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 err="1">
                <a:solidFill>
                  <a:srgbClr val="444B54"/>
                </a:solidFill>
                <a:latin typeface="맑은 고딕"/>
              </a:rPr>
              <a:t>충돌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판단은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1" dirty="0">
                <a:solidFill>
                  <a:srgbClr val="122A42"/>
                </a:solidFill>
                <a:latin typeface="맑은 고딕"/>
              </a:rPr>
              <a:t>master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(slave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재계산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함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전역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1개 (commit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끝난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마지막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seq)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들어가는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순간의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= </a:t>
            </a:r>
            <a:r>
              <a:rPr sz="1080" b="1" dirty="0" err="1">
                <a:solidFill>
                  <a:srgbClr val="E87A2B"/>
                </a:solidFill>
                <a:latin typeface="맑은 고딕"/>
              </a:rPr>
              <a:t>dependency_seq</a:t>
            </a:r>
            <a:endParaRPr sz="108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lang="ko-KR" altLang="en-US" sz="1080" dirty="0" err="1">
                <a:solidFill>
                  <a:srgbClr val="444B54"/>
                </a:solidFill>
                <a:latin typeface="맑은 고딕"/>
              </a:rPr>
              <a:t>슬레이브에서</a:t>
            </a:r>
            <a:r>
              <a:rPr lang="ko-KR" altLang="en-US" sz="108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commit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끝나면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max_committed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올림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·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행키·FK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봄</a:t>
            </a:r>
            <a:endParaRPr sz="1080" b="0" dirty="0">
              <a:solidFill>
                <a:srgbClr val="444B54"/>
              </a:solidFill>
              <a:latin typeface="맑은 고딕"/>
            </a:endParaRPr>
          </a:p>
        </p:txBody>
      </p:sp>
      <p:sp>
        <p:nvSpPr>
          <p:cNvPr id="12" name="r">
            <a:extLst>
              <a:ext uri="{FF2B5EF4-FFF2-40B4-BE49-F238E27FC236}">
                <a16:creationId xmlns:a16="http://schemas.microsoft.com/office/drawing/2014/main" id="{AC8AF9C7-5563-28F3-4009-ABB72B7E5239}"/>
              </a:ext>
            </a:extLst>
          </p:cNvPr>
          <p:cNvSpPr/>
          <p:nvPr/>
        </p:nvSpPr>
        <p:spPr>
          <a:xfrm>
            <a:off x="6260000" y="1430000"/>
            <a:ext cx="5430000" cy="133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2FCF7902-7E6F-1318-3989-D550CA012ECD}"/>
              </a:ext>
            </a:extLst>
          </p:cNvPr>
          <p:cNvSpPr txBox="1"/>
          <p:nvPr/>
        </p:nvSpPr>
        <p:spPr>
          <a:xfrm>
            <a:off x="6410000" y="1540000"/>
            <a:ext cx="5130000" cy="11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040" b="1">
                <a:solidFill>
                  <a:srgbClr val="E87A2B"/>
                </a:solidFill>
                <a:latin typeface="Consolas"/>
              </a:rPr>
              <a:t>복제 메타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LOG_REPL_COMMIT_CLOCK {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commit_seq      // 마스터 commit 순서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  dependency_seq  // 끝나야 할 마지막 seq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980" b="0">
                <a:solidFill>
                  <a:srgbClr val="D8E6EE"/>
                </a:solidFill>
                <a:latin typeface="Consolas"/>
              </a:rPr>
              <a:t>}</a:t>
            </a:r>
          </a:p>
        </p:txBody>
      </p:sp>
      <p:sp>
        <p:nvSpPr>
          <p:cNvPr id="14" name="t">
            <a:extLst>
              <a:ext uri="{FF2B5EF4-FFF2-40B4-BE49-F238E27FC236}">
                <a16:creationId xmlns:a16="http://schemas.microsoft.com/office/drawing/2014/main" id="{DC661ACB-9160-0BB6-D948-E17099A1E4C4}"/>
              </a:ext>
            </a:extLst>
          </p:cNvPr>
          <p:cNvSpPr txBox="1"/>
          <p:nvPr/>
        </p:nvSpPr>
        <p:spPr>
          <a:xfrm>
            <a:off x="640080" y="296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예시 — </a:t>
            </a:r>
            <a:r>
              <a:rPr sz="1300" b="1">
                <a:solidFill>
                  <a:srgbClr val="E87A2B"/>
                </a:solidFill>
                <a:latin typeface="맑은 고딕"/>
              </a:rPr>
              <a:t>T0·T1 순차 → T2·T3·T4 병렬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· 함께 in-flight면 같은 dependency_seq → 슬레이브도 동일</a:t>
            </a:r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9421EE1A-F09E-0350-2F29-B98284E08FCE}"/>
              </a:ext>
            </a:extLst>
          </p:cNvPr>
          <p:cNvSpPr txBox="1"/>
          <p:nvPr/>
        </p:nvSpPr>
        <p:spPr>
          <a:xfrm>
            <a:off x="720000" y="3470000"/>
            <a:ext cx="26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Master (commit 순서)</a:t>
            </a:r>
          </a:p>
        </p:txBody>
      </p:sp>
      <p:sp>
        <p:nvSpPr>
          <p:cNvPr id="16" name="r">
            <a:extLst>
              <a:ext uri="{FF2B5EF4-FFF2-40B4-BE49-F238E27FC236}">
                <a16:creationId xmlns:a16="http://schemas.microsoft.com/office/drawing/2014/main" id="{7B43C8AE-B44E-671E-D355-5B7D8CC8CB57}"/>
              </a:ext>
            </a:extLst>
          </p:cNvPr>
          <p:cNvSpPr/>
          <p:nvPr/>
        </p:nvSpPr>
        <p:spPr>
          <a:xfrm>
            <a:off x="72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59E60293-7B6A-41F9-54FD-5543B4E6933B}"/>
              </a:ext>
            </a:extLst>
          </p:cNvPr>
          <p:cNvSpPr txBox="1"/>
          <p:nvPr/>
        </p:nvSpPr>
        <p:spPr>
          <a:xfrm>
            <a:off x="72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1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0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D83A02A3-961B-584B-152B-3B97D17F2332}"/>
              </a:ext>
            </a:extLst>
          </p:cNvPr>
          <p:cNvSpPr txBox="1"/>
          <p:nvPr/>
        </p:nvSpPr>
        <p:spPr>
          <a:xfrm>
            <a:off x="165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E6CBD2BC-5A8C-99BA-F5FF-D858C43287FF}"/>
              </a:ext>
            </a:extLst>
          </p:cNvPr>
          <p:cNvSpPr/>
          <p:nvPr/>
        </p:nvSpPr>
        <p:spPr>
          <a:xfrm>
            <a:off x="205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E679DA7E-B7D6-99E2-F282-6D7B84AC1959}"/>
              </a:ext>
            </a:extLst>
          </p:cNvPr>
          <p:cNvSpPr txBox="1"/>
          <p:nvPr/>
        </p:nvSpPr>
        <p:spPr>
          <a:xfrm>
            <a:off x="205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2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1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79D15B12-3745-1031-6149-B18B618A8635}"/>
              </a:ext>
            </a:extLst>
          </p:cNvPr>
          <p:cNvSpPr txBox="1"/>
          <p:nvPr/>
        </p:nvSpPr>
        <p:spPr>
          <a:xfrm>
            <a:off x="298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22" name="r">
            <a:extLst>
              <a:ext uri="{FF2B5EF4-FFF2-40B4-BE49-F238E27FC236}">
                <a16:creationId xmlns:a16="http://schemas.microsoft.com/office/drawing/2014/main" id="{BCCDEF08-7ACB-5694-F4F0-EF0A854689D0}"/>
              </a:ext>
            </a:extLst>
          </p:cNvPr>
          <p:cNvSpPr/>
          <p:nvPr/>
        </p:nvSpPr>
        <p:spPr>
          <a:xfrm>
            <a:off x="3380000" y="3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75735FFD-1FB9-9CD7-C44A-03A4B31D0A22}"/>
              </a:ext>
            </a:extLst>
          </p:cNvPr>
          <p:cNvSpPr txBox="1"/>
          <p:nvPr/>
        </p:nvSpPr>
        <p:spPr>
          <a:xfrm>
            <a:off x="3380000" y="3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3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" name="r">
            <a:extLst>
              <a:ext uri="{FF2B5EF4-FFF2-40B4-BE49-F238E27FC236}">
                <a16:creationId xmlns:a16="http://schemas.microsoft.com/office/drawing/2014/main" id="{6E3D6210-9042-CF2E-7988-D4D3B4E654FB}"/>
              </a:ext>
            </a:extLst>
          </p:cNvPr>
          <p:cNvSpPr/>
          <p:nvPr/>
        </p:nvSpPr>
        <p:spPr>
          <a:xfrm>
            <a:off x="3380000" y="42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>
            <a:extLst>
              <a:ext uri="{FF2B5EF4-FFF2-40B4-BE49-F238E27FC236}">
                <a16:creationId xmlns:a16="http://schemas.microsoft.com/office/drawing/2014/main" id="{827D6899-B2AD-1594-B87D-63B06424CD3C}"/>
              </a:ext>
            </a:extLst>
          </p:cNvPr>
          <p:cNvSpPr txBox="1"/>
          <p:nvPr/>
        </p:nvSpPr>
        <p:spPr>
          <a:xfrm>
            <a:off x="3380000" y="42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4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6" name="r">
            <a:extLst>
              <a:ext uri="{FF2B5EF4-FFF2-40B4-BE49-F238E27FC236}">
                <a16:creationId xmlns:a16="http://schemas.microsoft.com/office/drawing/2014/main" id="{23924F74-4B52-5DC4-8AA2-65EF3D6B2690}"/>
              </a:ext>
            </a:extLst>
          </p:cNvPr>
          <p:cNvSpPr/>
          <p:nvPr/>
        </p:nvSpPr>
        <p:spPr>
          <a:xfrm>
            <a:off x="3380000" y="4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26FBA020-53A7-E1E6-6122-2B8D477BFA59}"/>
              </a:ext>
            </a:extLst>
          </p:cNvPr>
          <p:cNvSpPr txBox="1"/>
          <p:nvPr/>
        </p:nvSpPr>
        <p:spPr>
          <a:xfrm>
            <a:off x="3380000" y="4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5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3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8" name="t">
            <a:extLst>
              <a:ext uri="{FF2B5EF4-FFF2-40B4-BE49-F238E27FC236}">
                <a16:creationId xmlns:a16="http://schemas.microsoft.com/office/drawing/2014/main" id="{9A6C0D1E-9AA1-3831-97F9-83240277613F}"/>
              </a:ext>
            </a:extLst>
          </p:cNvPr>
          <p:cNvSpPr txBox="1"/>
          <p:nvPr/>
        </p:nvSpPr>
        <p:spPr>
          <a:xfrm>
            <a:off x="4480000" y="4260000"/>
            <a:ext cx="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</a:rPr>
              <a:t>병렬</a:t>
            </a:r>
          </a:p>
        </p:txBody>
      </p:sp>
      <p:sp>
        <p:nvSpPr>
          <p:cNvPr id="29" name="r">
            <a:extLst>
              <a:ext uri="{FF2B5EF4-FFF2-40B4-BE49-F238E27FC236}">
                <a16:creationId xmlns:a16="http://schemas.microsoft.com/office/drawing/2014/main" id="{9CD03508-9B1E-CE73-6507-AAC2405C65CD}"/>
              </a:ext>
            </a:extLst>
          </p:cNvPr>
          <p:cNvSpPr/>
          <p:nvPr/>
        </p:nvSpPr>
        <p:spPr>
          <a:xfrm>
            <a:off x="6060000" y="3460000"/>
            <a:ext cx="16000" cy="2500000"/>
          </a:xfrm>
          <a:prstGeom prst="rect">
            <a:avLst/>
          </a:prstGeom>
          <a:solidFill>
            <a:srgbClr val="C9D5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4A50A251-1F42-14DA-2EC5-EB928BF36A85}"/>
              </a:ext>
            </a:extLst>
          </p:cNvPr>
          <p:cNvSpPr txBox="1"/>
          <p:nvPr/>
        </p:nvSpPr>
        <p:spPr>
          <a:xfrm>
            <a:off x="6360000" y="3470000"/>
            <a:ext cx="26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Slave (동일 순서로 적용)</a:t>
            </a:r>
          </a:p>
        </p:txBody>
      </p:sp>
      <p:sp>
        <p:nvSpPr>
          <p:cNvPr id="31" name="r">
            <a:extLst>
              <a:ext uri="{FF2B5EF4-FFF2-40B4-BE49-F238E27FC236}">
                <a16:creationId xmlns:a16="http://schemas.microsoft.com/office/drawing/2014/main" id="{980FC4E9-93A7-5AE1-8F72-9B679C19907B}"/>
              </a:ext>
            </a:extLst>
          </p:cNvPr>
          <p:cNvSpPr/>
          <p:nvPr/>
        </p:nvSpPr>
        <p:spPr>
          <a:xfrm>
            <a:off x="636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DBD25779-0127-E15B-5C7B-6DE51206F04C}"/>
              </a:ext>
            </a:extLst>
          </p:cNvPr>
          <p:cNvSpPr txBox="1"/>
          <p:nvPr/>
        </p:nvSpPr>
        <p:spPr>
          <a:xfrm>
            <a:off x="636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1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0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3" name="t">
            <a:extLst>
              <a:ext uri="{FF2B5EF4-FFF2-40B4-BE49-F238E27FC236}">
                <a16:creationId xmlns:a16="http://schemas.microsoft.com/office/drawing/2014/main" id="{B3C5B768-3101-3521-EF78-E057335AD667}"/>
              </a:ext>
            </a:extLst>
          </p:cNvPr>
          <p:cNvSpPr txBox="1"/>
          <p:nvPr/>
        </p:nvSpPr>
        <p:spPr>
          <a:xfrm>
            <a:off x="729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34" name="r">
            <a:extLst>
              <a:ext uri="{FF2B5EF4-FFF2-40B4-BE49-F238E27FC236}">
                <a16:creationId xmlns:a16="http://schemas.microsoft.com/office/drawing/2014/main" id="{B11F66B1-DF89-DCB9-C037-94E011F51E73}"/>
              </a:ext>
            </a:extLst>
          </p:cNvPr>
          <p:cNvSpPr/>
          <p:nvPr/>
        </p:nvSpPr>
        <p:spPr>
          <a:xfrm>
            <a:off x="7690000" y="4180000"/>
            <a:ext cx="900000" cy="56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">
            <a:extLst>
              <a:ext uri="{FF2B5EF4-FFF2-40B4-BE49-F238E27FC236}">
                <a16:creationId xmlns:a16="http://schemas.microsoft.com/office/drawing/2014/main" id="{A6EF14A8-37D6-8F00-EB2B-1899D6334E83}"/>
              </a:ext>
            </a:extLst>
          </p:cNvPr>
          <p:cNvSpPr txBox="1"/>
          <p:nvPr/>
        </p:nvSpPr>
        <p:spPr>
          <a:xfrm>
            <a:off x="7690000" y="4180000"/>
            <a:ext cx="9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2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1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6" name="t">
            <a:extLst>
              <a:ext uri="{FF2B5EF4-FFF2-40B4-BE49-F238E27FC236}">
                <a16:creationId xmlns:a16="http://schemas.microsoft.com/office/drawing/2014/main" id="{44C22787-FF93-85C6-7E84-012BD830C033}"/>
              </a:ext>
            </a:extLst>
          </p:cNvPr>
          <p:cNvSpPr txBox="1"/>
          <p:nvPr/>
        </p:nvSpPr>
        <p:spPr>
          <a:xfrm>
            <a:off x="8620000" y="4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37" name="r">
            <a:extLst>
              <a:ext uri="{FF2B5EF4-FFF2-40B4-BE49-F238E27FC236}">
                <a16:creationId xmlns:a16="http://schemas.microsoft.com/office/drawing/2014/main" id="{3AEFA823-6236-073E-C5CD-F9B3F67B075D}"/>
              </a:ext>
            </a:extLst>
          </p:cNvPr>
          <p:cNvSpPr/>
          <p:nvPr/>
        </p:nvSpPr>
        <p:spPr>
          <a:xfrm>
            <a:off x="9020000" y="3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577CAA4A-424D-9FF1-7B82-1C7E97F706C9}"/>
              </a:ext>
            </a:extLst>
          </p:cNvPr>
          <p:cNvSpPr txBox="1"/>
          <p:nvPr/>
        </p:nvSpPr>
        <p:spPr>
          <a:xfrm>
            <a:off x="9020000" y="3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3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9" name="r">
            <a:extLst>
              <a:ext uri="{FF2B5EF4-FFF2-40B4-BE49-F238E27FC236}">
                <a16:creationId xmlns:a16="http://schemas.microsoft.com/office/drawing/2014/main" id="{9B6888AB-A0DB-7C25-33E7-0A871E8191E3}"/>
              </a:ext>
            </a:extLst>
          </p:cNvPr>
          <p:cNvSpPr/>
          <p:nvPr/>
        </p:nvSpPr>
        <p:spPr>
          <a:xfrm>
            <a:off x="9020000" y="42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">
            <a:extLst>
              <a:ext uri="{FF2B5EF4-FFF2-40B4-BE49-F238E27FC236}">
                <a16:creationId xmlns:a16="http://schemas.microsoft.com/office/drawing/2014/main" id="{7B386083-D5D0-2B1F-8139-7D650E1B2FBC}"/>
              </a:ext>
            </a:extLst>
          </p:cNvPr>
          <p:cNvSpPr txBox="1"/>
          <p:nvPr/>
        </p:nvSpPr>
        <p:spPr>
          <a:xfrm>
            <a:off x="9020000" y="42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4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b="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1" name="r">
            <a:extLst>
              <a:ext uri="{FF2B5EF4-FFF2-40B4-BE49-F238E27FC236}">
                <a16:creationId xmlns:a16="http://schemas.microsoft.com/office/drawing/2014/main" id="{81DDAE07-B2B8-9A4E-DCE7-A9A30F5049EC}"/>
              </a:ext>
            </a:extLst>
          </p:cNvPr>
          <p:cNvSpPr/>
          <p:nvPr/>
        </p:nvSpPr>
        <p:spPr>
          <a:xfrm>
            <a:off x="9020000" y="4760000"/>
            <a:ext cx="102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">
            <a:extLst>
              <a:ext uri="{FF2B5EF4-FFF2-40B4-BE49-F238E27FC236}">
                <a16:creationId xmlns:a16="http://schemas.microsoft.com/office/drawing/2014/main" id="{33E1252D-9589-A1AF-A0F8-8ECCB68C5D50}"/>
              </a:ext>
            </a:extLst>
          </p:cNvPr>
          <p:cNvSpPr txBox="1"/>
          <p:nvPr/>
        </p:nvSpPr>
        <p:spPr>
          <a:xfrm>
            <a:off x="9020000" y="4760000"/>
            <a:ext cx="102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T</a:t>
            </a:r>
            <a:r>
              <a:rPr lang="en-US" sz="1250" b="1" dirty="0">
                <a:solidFill>
                  <a:srgbClr val="FFFFFF"/>
                </a:solidFill>
                <a:latin typeface="맑은 고딕"/>
              </a:rPr>
              <a:t>5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>
                <a:solidFill>
                  <a:srgbClr val="FFFFFF"/>
                </a:solidFill>
                <a:latin typeface="맑은 고딕"/>
              </a:rPr>
              <a:t>dep=</a:t>
            </a:r>
            <a:r>
              <a:rPr lang="en-US" sz="1000" dirty="0">
                <a:solidFill>
                  <a:srgbClr val="FFFFFF"/>
                </a:solidFill>
                <a:latin typeface="맑은 고딕"/>
              </a:rPr>
              <a:t>2</a:t>
            </a:r>
            <a:endParaRPr sz="10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3" name="t">
            <a:extLst>
              <a:ext uri="{FF2B5EF4-FFF2-40B4-BE49-F238E27FC236}">
                <a16:creationId xmlns:a16="http://schemas.microsoft.com/office/drawing/2014/main" id="{7B72860B-4963-A0B1-E8CD-6B306872D434}"/>
              </a:ext>
            </a:extLst>
          </p:cNvPr>
          <p:cNvSpPr txBox="1"/>
          <p:nvPr/>
        </p:nvSpPr>
        <p:spPr>
          <a:xfrm>
            <a:off x="10120000" y="4260000"/>
            <a:ext cx="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 err="1">
                <a:solidFill>
                  <a:srgbClr val="E87A2B"/>
                </a:solidFill>
                <a:latin typeface="맑은 고딕"/>
              </a:rPr>
              <a:t>병렬</a:t>
            </a:r>
            <a:endParaRPr sz="1200" b="1" dirty="0">
              <a:solidFill>
                <a:srgbClr val="E87A2B"/>
              </a:solidFill>
              <a:latin typeface="맑은 고딕"/>
            </a:endParaRPr>
          </a:p>
        </p:txBody>
      </p: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B2E258E2-F7EA-704C-6FE8-43E4EF4235CC}"/>
              </a:ext>
            </a:extLst>
          </p:cNvPr>
          <p:cNvCxnSpPr>
            <a:cxnSpLocks/>
          </p:cNvCxnSpPr>
          <p:nvPr/>
        </p:nvCxnSpPr>
        <p:spPr>
          <a:xfrm>
            <a:off x="1807779" y="4079834"/>
            <a:ext cx="0" cy="849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538A0FA2-34D3-1A35-C8A7-8934F02BD186}"/>
              </a:ext>
            </a:extLst>
          </p:cNvPr>
          <p:cNvCxnSpPr>
            <a:cxnSpLocks/>
          </p:cNvCxnSpPr>
          <p:nvPr/>
        </p:nvCxnSpPr>
        <p:spPr>
          <a:xfrm>
            <a:off x="3128579" y="4079834"/>
            <a:ext cx="0" cy="849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72A06D5-0021-8DA1-F40E-6BCFEDE74242}"/>
              </a:ext>
            </a:extLst>
          </p:cNvPr>
          <p:cNvSpPr txBox="1"/>
          <p:nvPr/>
        </p:nvSpPr>
        <p:spPr>
          <a:xfrm>
            <a:off x="2412073" y="5158894"/>
            <a:ext cx="166263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Dep = </a:t>
            </a: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…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++</a:t>
            </a:r>
            <a:endParaRPr kumimoji="1" lang="ko-KR" altLang="en-US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2DDE53-5CFA-9885-5AD1-0F382B7CB315}"/>
              </a:ext>
            </a:extLst>
          </p:cNvPr>
          <p:cNvSpPr txBox="1"/>
          <p:nvPr/>
        </p:nvSpPr>
        <p:spPr>
          <a:xfrm>
            <a:off x="-30969" y="4708126"/>
            <a:ext cx="14814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=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0</a:t>
            </a:r>
            <a:endParaRPr kumimoji="1" lang="ko-KR" alt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CD0109-F51F-F507-D2A0-CFD9E6E5ADA6}"/>
              </a:ext>
            </a:extLst>
          </p:cNvPr>
          <p:cNvSpPr txBox="1"/>
          <p:nvPr/>
        </p:nvSpPr>
        <p:spPr>
          <a:xfrm>
            <a:off x="670682" y="5158895"/>
            <a:ext cx="166263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Dep = </a:t>
            </a: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…</a:t>
            </a:r>
            <a:br>
              <a:rPr lang="en-US" altLang="ko-KR" sz="1050" b="1" dirty="0">
                <a:solidFill>
                  <a:srgbClr val="E87A2B"/>
                </a:solidFill>
                <a:latin typeface="맑은 고딕"/>
              </a:rPr>
            </a:br>
            <a:r>
              <a:rPr lang="en-US" altLang="ko-KR" sz="1050" b="1" dirty="0" err="1">
                <a:solidFill>
                  <a:srgbClr val="E87A2B"/>
                </a:solidFill>
                <a:latin typeface="맑은 고딕"/>
              </a:rPr>
              <a:t>max_committed</a:t>
            </a:r>
            <a:r>
              <a:rPr lang="ko-KR" altLang="en-US" sz="105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lang="en-US" altLang="ko-KR" sz="1050" b="1" dirty="0">
                <a:solidFill>
                  <a:srgbClr val="E87A2B"/>
                </a:solidFill>
                <a:latin typeface="맑은 고딕"/>
              </a:rPr>
              <a:t>++</a:t>
            </a:r>
            <a:endParaRPr kumimoji="1" lang="ko-KR" altLang="en-US" sz="10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2C70B4-20C0-D40B-0603-C5C4D36EFF98}"/>
              </a:ext>
            </a:extLst>
          </p:cNvPr>
          <p:cNvSpPr txBox="1"/>
          <p:nvPr/>
        </p:nvSpPr>
        <p:spPr>
          <a:xfrm>
            <a:off x="7544000" y="383677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?????????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256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8-4. 의존성에 따른 디스패치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dirty="0">
                <a:solidFill>
                  <a:srgbClr val="122A42"/>
                </a:solidFill>
                <a:latin typeface="맑은 고딕"/>
              </a:rPr>
              <a:t>coordinator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는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dependency_seq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≤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slave_committed_seq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만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보고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분배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— FK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가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자동으로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안전</a:t>
            </a:r>
            <a:endParaRPr sz="22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23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500000"/>
            <a:ext cx="5350000" cy="11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640080" y="1500000"/>
            <a:ext cx="535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790080" y="1500000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dispatch 규칙</a:t>
            </a:r>
          </a:p>
        </p:txBody>
      </p:sp>
      <p:sp>
        <p:nvSpPr>
          <p:cNvPr id="13" name="t"/>
          <p:cNvSpPr txBox="1"/>
          <p:nvPr/>
        </p:nvSpPr>
        <p:spPr>
          <a:xfrm>
            <a:off x="800000" y="2080000"/>
            <a:ext cx="5050000" cy="5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22A42"/>
                </a:solidFill>
                <a:latin typeface="Consolas"/>
              </a:rPr>
              <a:t>T 분배 가능  ⇔  T.dependency_seq ≤ slave_committed_seq</a:t>
            </a:r>
          </a:p>
        </p:txBody>
      </p:sp>
      <p:sp>
        <p:nvSpPr>
          <p:cNvPr id="14" name="r"/>
          <p:cNvSpPr/>
          <p:nvPr/>
        </p:nvSpPr>
        <p:spPr>
          <a:xfrm>
            <a:off x="640080" y="2880000"/>
            <a:ext cx="5350000" cy="82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"/>
          <p:cNvSpPr/>
          <p:nvPr/>
        </p:nvSpPr>
        <p:spPr>
          <a:xfrm>
            <a:off x="640080" y="2880000"/>
            <a:ext cx="32000" cy="82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"/>
          <p:cNvSpPr txBox="1"/>
          <p:nvPr/>
        </p:nvSpPr>
        <p:spPr>
          <a:xfrm>
            <a:off x="800000" y="2970000"/>
            <a:ext cx="5050000" cy="6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30"/>
              </a:spcAft>
            </a:pPr>
            <a:r>
              <a:rPr sz="1200" b="1" dirty="0">
                <a:solidFill>
                  <a:srgbClr val="1F6F8B"/>
                </a:solidFill>
                <a:latin typeface="Consolas"/>
              </a:rPr>
              <a:t>dep ≤ </a:t>
            </a:r>
            <a:r>
              <a:rPr sz="1200" b="1" dirty="0" err="1">
                <a:solidFill>
                  <a:srgbClr val="1F6F8B"/>
                </a:solidFill>
                <a:latin typeface="Consolas"/>
              </a:rPr>
              <a:t>scs</a:t>
            </a:r>
            <a:r>
              <a:rPr sz="1150" b="1" dirty="0">
                <a:solidFill>
                  <a:srgbClr val="122A42"/>
                </a:solidFill>
                <a:latin typeface="맑은 고딕"/>
              </a:rPr>
              <a:t>   </a:t>
            </a:r>
            <a:r>
              <a:rPr sz="1150" b="1" dirty="0" err="1">
                <a:solidFill>
                  <a:srgbClr val="122A42"/>
                </a:solidFill>
                <a:latin typeface="맑은 고딕"/>
              </a:rPr>
              <a:t>워커</a:t>
            </a:r>
            <a:r>
              <a:rPr sz="1150" b="1" dirty="0">
                <a:solidFill>
                  <a:srgbClr val="122A42"/>
                </a:solidFill>
                <a:latin typeface="맑은 고딕"/>
              </a:rPr>
              <a:t> dispatch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dirty="0" err="1">
                <a:solidFill>
                  <a:srgbClr val="444B54"/>
                </a:solidFill>
                <a:latin typeface="맑은 고딕"/>
              </a:rPr>
              <a:t>필요한</a:t>
            </a:r>
            <a:r>
              <a:rPr sz="11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B54"/>
                </a:solidFill>
                <a:latin typeface="맑은 고딕"/>
              </a:rPr>
              <a:t>선행</a:t>
            </a:r>
            <a:r>
              <a:rPr sz="115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150" b="0" dirty="0" err="1">
                <a:solidFill>
                  <a:srgbClr val="444B54"/>
                </a:solidFill>
                <a:latin typeface="맑은 고딕"/>
              </a:rPr>
              <a:t>이</a:t>
            </a:r>
            <a:r>
              <a:rPr sz="11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B54"/>
                </a:solidFill>
                <a:latin typeface="맑은 고딕"/>
              </a:rPr>
              <a:t>모두</a:t>
            </a:r>
            <a:r>
              <a:rPr sz="1150" b="0" dirty="0">
                <a:solidFill>
                  <a:srgbClr val="444B54"/>
                </a:solidFill>
                <a:latin typeface="맑은 고딕"/>
              </a:rPr>
              <a:t> durable</a:t>
            </a:r>
          </a:p>
        </p:txBody>
      </p:sp>
      <p:sp>
        <p:nvSpPr>
          <p:cNvPr id="17" name="r"/>
          <p:cNvSpPr/>
          <p:nvPr/>
        </p:nvSpPr>
        <p:spPr>
          <a:xfrm>
            <a:off x="640080" y="3800000"/>
            <a:ext cx="5350000" cy="82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"/>
          <p:cNvSpPr/>
          <p:nvPr/>
        </p:nvSpPr>
        <p:spPr>
          <a:xfrm>
            <a:off x="640080" y="3800000"/>
            <a:ext cx="32000" cy="82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"/>
          <p:cNvSpPr txBox="1"/>
          <p:nvPr/>
        </p:nvSpPr>
        <p:spPr>
          <a:xfrm>
            <a:off x="800000" y="3890000"/>
            <a:ext cx="5050000" cy="6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130"/>
              </a:spcAft>
            </a:pPr>
            <a:r>
              <a:rPr sz="1200" b="1">
                <a:solidFill>
                  <a:srgbClr val="E87A2B"/>
                </a:solidFill>
                <a:latin typeface="Consolas"/>
              </a:rPr>
              <a:t>dep &gt; scs</a:t>
            </a:r>
            <a:r>
              <a:rPr sz="1150" b="1">
                <a:solidFill>
                  <a:srgbClr val="122A42"/>
                </a:solidFill>
                <a:latin typeface="맑은 고딕"/>
              </a:rPr>
              <a:t>   pending 대기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선행 commit 이 아직 안 끝남</a:t>
            </a:r>
          </a:p>
        </p:txBody>
      </p:sp>
      <p:sp>
        <p:nvSpPr>
          <p:cNvPr id="20" name="t"/>
          <p:cNvSpPr txBox="1"/>
          <p:nvPr/>
        </p:nvSpPr>
        <p:spPr>
          <a:xfrm>
            <a:off x="640080" y="4820000"/>
            <a:ext cx="535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slave 는 충돌을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재계산하지 않는다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— master 가 dependency_seq 로 답을 미리 줬다. 워커가 commit 을 보고하면 scs 가 전진해 pending 을 재평가.</a:t>
            </a:r>
          </a:p>
        </p:txBody>
      </p:sp>
      <p:sp>
        <p:nvSpPr>
          <p:cNvPr id="21" name="r"/>
          <p:cNvSpPr/>
          <p:nvPr/>
        </p:nvSpPr>
        <p:spPr>
          <a:xfrm>
            <a:off x="6260000" y="1500000"/>
            <a:ext cx="5430000" cy="422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"/>
          <p:cNvSpPr/>
          <p:nvPr/>
        </p:nvSpPr>
        <p:spPr>
          <a:xfrm>
            <a:off x="6260000" y="1500000"/>
            <a:ext cx="543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/>
          <p:cNvSpPr txBox="1"/>
          <p:nvPr/>
        </p:nvSpPr>
        <p:spPr>
          <a:xfrm>
            <a:off x="6410000" y="1500000"/>
            <a:ext cx="51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FK 가 자동으로 안전</a:t>
            </a:r>
          </a:p>
        </p:txBody>
      </p:sp>
      <p:sp>
        <p:nvSpPr>
          <p:cNvPr id="24" name="t"/>
          <p:cNvSpPr txBox="1"/>
          <p:nvPr/>
        </p:nvSpPr>
        <p:spPr>
          <a:xfrm>
            <a:off x="6420000" y="2080000"/>
            <a:ext cx="5110000" cy="35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COMMIT_ORDER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에서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자식은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부모가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된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E87A2B"/>
                </a:solidFill>
                <a:latin typeface="맑은 고딕"/>
              </a:rPr>
              <a:t>뒤에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된다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→ </a:t>
            </a:r>
            <a:r>
              <a:rPr sz="1200" b="1" dirty="0" err="1">
                <a:solidFill>
                  <a:srgbClr val="1F6F8B"/>
                </a:solidFill>
                <a:latin typeface="Consolas"/>
              </a:rPr>
              <a:t>자식.dependency_seq</a:t>
            </a:r>
            <a:r>
              <a:rPr sz="1200" b="1" dirty="0">
                <a:solidFill>
                  <a:srgbClr val="1F6F8B"/>
                </a:solidFill>
                <a:latin typeface="Consolas"/>
              </a:rPr>
              <a:t> ≥ </a:t>
            </a:r>
            <a:r>
              <a:rPr sz="1200" b="1" dirty="0" err="1">
                <a:solidFill>
                  <a:srgbClr val="1F6F8B"/>
                </a:solidFill>
                <a:latin typeface="Consolas"/>
              </a:rPr>
              <a:t>부모.commit_seq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저절로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성립</a:t>
            </a:r>
            <a:endParaRPr sz="125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→ slave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자식을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부모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commit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이후에만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분배</a:t>
            </a:r>
            <a:endParaRPr sz="125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자식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FK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검사가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commit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된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부모를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본다</a:t>
            </a:r>
            <a:endParaRPr sz="125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endParaRPr lang="en-US" sz="12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ko-KR" altLang="en-US" sz="1200" dirty="0">
                <a:solidFill>
                  <a:srgbClr val="444B54"/>
                </a:solidFill>
                <a:latin typeface="맑은 고딕"/>
              </a:rPr>
              <a:t>* 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applier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FK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못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가린다는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한계를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마스터의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순서가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메운다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— </a:t>
            </a:r>
            <a:r>
              <a:rPr sz="1200" b="1" dirty="0">
                <a:solidFill>
                  <a:srgbClr val="122A42"/>
                </a:solidFill>
                <a:latin typeface="맑은 고딕"/>
              </a:rPr>
              <a:t>FK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키</a:t>
            </a:r>
            <a:r>
              <a:rPr sz="1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주입조차</a:t>
            </a:r>
            <a:r>
              <a:rPr sz="1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불필요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(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그건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v2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writeset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의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444B54"/>
                </a:solidFill>
                <a:latin typeface="맑은 고딕"/>
              </a:rPr>
              <a:t>방식</a:t>
            </a:r>
            <a:r>
              <a:rPr sz="1200" b="0" dirty="0">
                <a:solidFill>
                  <a:srgbClr val="444B54"/>
                </a:solidFill>
                <a:latin typeface="맑은 고딕"/>
              </a:rPr>
              <a:t>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4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b.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코디네이터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구조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pending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큐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PoC 는 워커큐로 직행, 코디네이터는 게이트로 거른 뒤 분배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9" name="r"/>
          <p:cNvSpPr/>
          <p:nvPr/>
        </p:nvSpPr>
        <p:spPr>
          <a:xfrm>
            <a:off x="640080" y="1450000"/>
            <a:ext cx="11050000" cy="52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"/>
          <p:cNvSpPr txBox="1"/>
          <p:nvPr/>
        </p:nvSpPr>
        <p:spPr>
          <a:xfrm>
            <a:off x="800000" y="1450000"/>
            <a:ext cx="10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1">
                <a:solidFill>
                  <a:srgbClr val="8A939E"/>
                </a:solidFill>
                <a:latin typeface="맑은 고딕"/>
              </a:rPr>
              <a:t>PoC : </a:t>
            </a:r>
            <a:r>
              <a:rPr sz="1100" b="0">
                <a:solidFill>
                  <a:srgbClr val="444B54"/>
                </a:solidFill>
                <a:latin typeface="Consolas"/>
              </a:rPr>
              <a:t>리더 → worker[ tranid % N ] 큐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바로 직행 (의존성·대기 없음)</a:t>
            </a:r>
          </a:p>
        </p:txBody>
      </p:sp>
      <p:sp>
        <p:nvSpPr>
          <p:cNvPr id="11" name="r"/>
          <p:cNvSpPr/>
          <p:nvPr/>
        </p:nvSpPr>
        <p:spPr>
          <a:xfrm>
            <a:off x="640080" y="2980000"/>
            <a:ext cx="1450000" cy="6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640080" y="2980000"/>
            <a:ext cx="1450000" cy="6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리더</a:t>
            </a:r>
          </a:p>
        </p:txBody>
      </p:sp>
      <p:sp>
        <p:nvSpPr>
          <p:cNvPr id="13" name="t"/>
          <p:cNvSpPr txBox="1"/>
          <p:nvPr/>
        </p:nvSpPr>
        <p:spPr>
          <a:xfrm>
            <a:off x="2150000" y="3140000"/>
            <a:ext cx="4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2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4" name="r"/>
          <p:cNvSpPr/>
          <p:nvPr/>
        </p:nvSpPr>
        <p:spPr>
          <a:xfrm>
            <a:off x="2640000" y="2920000"/>
            <a:ext cx="2620000" cy="76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2640000" y="2920000"/>
            <a:ext cx="262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080" b="1" dirty="0" err="1">
                <a:solidFill>
                  <a:srgbClr val="FFFFFF"/>
                </a:solidFill>
                <a:latin typeface="맑은 고딕"/>
              </a:rPr>
              <a:t>코디네이터</a:t>
            </a:r>
            <a:endParaRPr sz="108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080" b="1" dirty="0">
                <a:solidFill>
                  <a:srgbClr val="FFFFFF"/>
                </a:solidFill>
                <a:latin typeface="맑은 고딕"/>
              </a:rPr>
              <a:t>dep ≤ </a:t>
            </a:r>
            <a:r>
              <a:rPr sz="1080" b="1" dirty="0" err="1">
                <a:solidFill>
                  <a:srgbClr val="FFFFFF"/>
                </a:solidFill>
                <a:latin typeface="맑은 고딕"/>
              </a:rPr>
              <a:t>slave_committed_seq</a:t>
            </a:r>
            <a:r>
              <a:rPr sz="1080" b="1" dirty="0">
                <a:solidFill>
                  <a:srgbClr val="FFFFFF"/>
                </a:solidFill>
                <a:latin typeface="맑은 고딕"/>
              </a:rPr>
              <a:t> ?</a:t>
            </a:r>
          </a:p>
        </p:txBody>
      </p:sp>
      <p:sp>
        <p:nvSpPr>
          <p:cNvPr id="16" name="t"/>
          <p:cNvSpPr txBox="1"/>
          <p:nvPr/>
        </p:nvSpPr>
        <p:spPr>
          <a:xfrm>
            <a:off x="5340000" y="248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080" b="1">
                <a:solidFill>
                  <a:srgbClr val="1F6F8B"/>
                </a:solidFill>
                <a:latin typeface="맑은 고딕"/>
              </a:rPr>
              <a:t>예 ↗</a:t>
            </a:r>
          </a:p>
        </p:txBody>
      </p:sp>
      <p:sp>
        <p:nvSpPr>
          <p:cNvPr id="17" name="r"/>
          <p:cNvSpPr/>
          <p:nvPr/>
        </p:nvSpPr>
        <p:spPr>
          <a:xfrm>
            <a:off x="5980000" y="2280000"/>
            <a:ext cx="2520000" cy="60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5980000" y="2280000"/>
            <a:ext cx="2520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080" b="1">
                <a:solidFill>
                  <a:srgbClr val="FFFFFF"/>
                </a:solidFill>
                <a:latin typeface="맑은 고딕"/>
              </a:rPr>
              <a:t>워커 큐 (가용 워커)</a:t>
            </a:r>
          </a:p>
        </p:txBody>
      </p:sp>
      <p:sp>
        <p:nvSpPr>
          <p:cNvPr id="19" name="t"/>
          <p:cNvSpPr txBox="1"/>
          <p:nvPr/>
        </p:nvSpPr>
        <p:spPr>
          <a:xfrm>
            <a:off x="8540000" y="2440000"/>
            <a:ext cx="42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20"/>
              </a:spcAft>
            </a:pPr>
            <a:r>
              <a:rPr sz="14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20" name="r"/>
          <p:cNvSpPr/>
          <p:nvPr/>
        </p:nvSpPr>
        <p:spPr>
          <a:xfrm>
            <a:off x="8980000" y="2280000"/>
            <a:ext cx="1500000" cy="60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8980000" y="2280000"/>
            <a:ext cx="1500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워커</a:t>
            </a:r>
          </a:p>
        </p:txBody>
      </p:sp>
      <p:sp>
        <p:nvSpPr>
          <p:cNvPr id="22" name="t"/>
          <p:cNvSpPr txBox="1"/>
          <p:nvPr/>
        </p:nvSpPr>
        <p:spPr>
          <a:xfrm>
            <a:off x="5340000" y="376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아니오 ↘</a:t>
            </a:r>
          </a:p>
        </p:txBody>
      </p:sp>
      <p:sp>
        <p:nvSpPr>
          <p:cNvPr id="23" name="r"/>
          <p:cNvSpPr/>
          <p:nvPr/>
        </p:nvSpPr>
        <p:spPr>
          <a:xfrm>
            <a:off x="5980000" y="3640000"/>
            <a:ext cx="2520000" cy="60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"/>
          <p:cNvSpPr txBox="1"/>
          <p:nvPr/>
        </p:nvSpPr>
        <p:spPr>
          <a:xfrm>
            <a:off x="5980000" y="3640000"/>
            <a:ext cx="2520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  <a:spcAft>
                <a:spcPts val="20"/>
              </a:spcAft>
            </a:pPr>
            <a:r>
              <a:rPr sz="1080" b="1">
                <a:solidFill>
                  <a:srgbClr val="FFFFFF"/>
                </a:solidFill>
                <a:latin typeface="맑은 고딕"/>
              </a:rPr>
              <a:t>pending 큐 (대기)</a:t>
            </a:r>
          </a:p>
        </p:txBody>
      </p:sp>
      <p:sp>
        <p:nvSpPr>
          <p:cNvPr id="25" name="t"/>
          <p:cNvSpPr txBox="1"/>
          <p:nvPr/>
        </p:nvSpPr>
        <p:spPr>
          <a:xfrm>
            <a:off x="5980000" y="438000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050" b="1">
                <a:solidFill>
                  <a:srgbClr val="122A42"/>
                </a:solidFill>
                <a:latin typeface="맑은 고딕"/>
              </a:rPr>
              <a:t>◄── 워커 durable commit → scs 전진 → pending 큐 재평가</a:t>
            </a:r>
          </a:p>
        </p:txBody>
      </p:sp>
      <p:sp>
        <p:nvSpPr>
          <p:cNvPr id="26" name="r"/>
          <p:cNvSpPr/>
          <p:nvPr/>
        </p:nvSpPr>
        <p:spPr>
          <a:xfrm>
            <a:off x="640080" y="4900000"/>
            <a:ext cx="11050000" cy="12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"/>
          <p:cNvSpPr/>
          <p:nvPr/>
        </p:nvSpPr>
        <p:spPr>
          <a:xfrm>
            <a:off x="640080" y="4900000"/>
            <a:ext cx="11050000" cy="38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"/>
          <p:cNvSpPr txBox="1"/>
          <p:nvPr/>
        </p:nvSpPr>
        <p:spPr>
          <a:xfrm>
            <a:off x="780080" y="4900000"/>
            <a:ext cx="1077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PoC → 코디네이터, 바뀌는 4가지</a:t>
            </a:r>
          </a:p>
        </p:txBody>
      </p:sp>
      <p:sp>
        <p:nvSpPr>
          <p:cNvPr id="29" name="t"/>
          <p:cNvSpPr txBox="1"/>
          <p:nvPr/>
        </p:nvSpPr>
        <p:spPr>
          <a:xfrm>
            <a:off x="800000" y="5380000"/>
            <a:ext cx="10700000" cy="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20" b="1">
                <a:solidFill>
                  <a:srgbClr val="122A42"/>
                </a:solidFill>
                <a:latin typeface="맑은 고딕"/>
              </a:rPr>
              <a:t>① pending(대기) 큐 신설</a:t>
            </a:r>
            <a:r>
              <a:rPr sz="1120" b="0">
                <a:solidFill>
                  <a:srgbClr val="444B54"/>
                </a:solidFill>
                <a:latin typeface="맑은 고딕"/>
              </a:rPr>
              <a:t> — dep 미충족 tx는 워커큐가 아니라 여기   </a:t>
            </a:r>
            <a:r>
              <a:rPr sz="1120" b="1">
                <a:solidFill>
                  <a:srgbClr val="122A42"/>
                </a:solidFill>
                <a:latin typeface="맑은 고딕"/>
              </a:rPr>
              <a:t>② 조건부 분배</a:t>
            </a:r>
            <a:r>
              <a:rPr sz="1120" b="0">
                <a:solidFill>
                  <a:srgbClr val="444B54"/>
                </a:solidFill>
                <a:latin typeface="맑은 고딕"/>
              </a:rPr>
              <a:t> — dep ≤ scs 일 때만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>
                <a:solidFill>
                  <a:srgbClr val="122A42"/>
                </a:solidFill>
                <a:latin typeface="맑은 고딕"/>
              </a:rPr>
              <a:t>③ 가용(free) 워커 배정</a:t>
            </a:r>
            <a:r>
              <a:rPr sz="1120" b="0">
                <a:solidFill>
                  <a:srgbClr val="444B54"/>
                </a:solidFill>
                <a:latin typeface="맑은 고딕"/>
              </a:rPr>
              <a:t> — tranid%N 고정 아님   </a:t>
            </a:r>
            <a:r>
              <a:rPr sz="1120" b="1">
                <a:solidFill>
                  <a:srgbClr val="122A42"/>
                </a:solidFill>
                <a:latin typeface="맑은 고딕"/>
              </a:rPr>
              <a:t>④ 피드백 루프</a:t>
            </a:r>
            <a:r>
              <a:rPr sz="1120" b="0">
                <a:solidFill>
                  <a:srgbClr val="444B54"/>
                </a:solidFill>
                <a:latin typeface="맑은 고딕"/>
              </a:rPr>
              <a:t> — 워커 완료→scs 전진→pending 재평가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8-4b. SBR · DDL — barrier 처리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600" b="1">
                <a:solidFill>
                  <a:srgbClr val="122A42"/>
                </a:solidFill>
                <a:latin typeface="맑은 고딕"/>
              </a:rPr>
              <a:t>구조를 바꾸는 작업은 혼자 돌려야 한다 — 앞을 다 비우고 → 혼자 통과 → 뒤를 다시 연다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9" name="t"/>
          <p:cNvSpPr txBox="1"/>
          <p:nvPr/>
        </p:nvSpPr>
        <p:spPr>
          <a:xfrm>
            <a:off x="640080" y="147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■ 왜 따로 다루나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850000"/>
            <a:ext cx="11050000" cy="1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18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보통 트랜잭션은 '어떤 행을 바꿨나'로 충돌을 따져 독립이면 병렬로 돌린다. 그런데 </a:t>
            </a:r>
            <a:r>
              <a:rPr sz="1180" b="1">
                <a:solidFill>
                  <a:srgbClr val="122A42"/>
                </a:solidFill>
                <a:latin typeface="맑은 고딕"/>
              </a:rPr>
              <a:t>DDL(테이블 구조 변경)·SBR(문장 통째 복제)은 바꾸는 '행'이 정해져 있지 않아 충돌을 따질 수가 없다.</a:t>
            </a:r>
          </a:p>
          <a:p>
            <a:pPr algn="l">
              <a:lnSpc>
                <a:spcPct val="112000"/>
              </a:lnSpc>
              <a:spcAft>
                <a:spcPts val="18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게다가 DDL 은 </a:t>
            </a:r>
            <a:r>
              <a:rPr sz="1180" b="1">
                <a:solidFill>
                  <a:srgbClr val="E87A2B"/>
                </a:solidFill>
                <a:latin typeface="맑은 고딕"/>
              </a:rPr>
              <a:t>테이블 구조 자체를 바꾸기 때문에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, 다른 트랜잭션이 동시에 돌면 바뀌기 전/후 구조가 섞여 잘못 적용된다.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0">
                <a:solidFill>
                  <a:srgbClr val="444B54"/>
                </a:solidFill>
                <a:latin typeface="맑은 고딕"/>
              </a:rPr>
              <a:t>→ 그래서 이런 작업은 </a:t>
            </a:r>
            <a:r>
              <a:rPr sz="1180" b="1">
                <a:solidFill>
                  <a:srgbClr val="122A42"/>
                </a:solidFill>
                <a:latin typeface="맑은 고딕"/>
              </a:rPr>
              <a:t>다른 것과 섞지 말고 '혼자' 돌려야 한다</a:t>
            </a:r>
            <a:r>
              <a:rPr sz="1180" b="0">
                <a:solidFill>
                  <a:srgbClr val="444B54"/>
                </a:solidFill>
                <a:latin typeface="맑은 고딕"/>
              </a:rPr>
              <a:t> (이걸 barrier 라 부른다).</a:t>
            </a:r>
          </a:p>
        </p:txBody>
      </p:sp>
      <p:sp>
        <p:nvSpPr>
          <p:cNvPr id="11" name="t"/>
          <p:cNvSpPr txBox="1"/>
          <p:nvPr/>
        </p:nvSpPr>
        <p:spPr>
          <a:xfrm>
            <a:off x="640080" y="326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■ 어떻게 혼자 돌리나 (코디네이터가 잠깐 직렬로 전환)</a:t>
            </a:r>
          </a:p>
        </p:txBody>
      </p:sp>
      <p:sp>
        <p:nvSpPr>
          <p:cNvPr id="12" name="t"/>
          <p:cNvSpPr txBox="1"/>
          <p:nvPr/>
        </p:nvSpPr>
        <p:spPr>
          <a:xfrm>
            <a:off x="700000" y="3640000"/>
            <a:ext cx="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50" b="1">
                <a:solidFill>
                  <a:srgbClr val="E87A2B"/>
                </a:solidFill>
                <a:latin typeface="맑은 고딕"/>
              </a:rPr>
              <a:t>①</a:t>
            </a:r>
          </a:p>
        </p:txBody>
      </p:sp>
      <p:sp>
        <p:nvSpPr>
          <p:cNvPr id="13" name="t"/>
          <p:cNvSpPr txBox="1"/>
          <p:nvPr/>
        </p:nvSpPr>
        <p:spPr>
          <a:xfrm>
            <a:off x="1280000" y="3640000"/>
            <a:ext cx="103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이 작업이 오면, 코디네이터가 새 작업을 워커에 그만 내보낸다.</a:t>
            </a:r>
          </a:p>
        </p:txBody>
      </p:sp>
      <p:sp>
        <p:nvSpPr>
          <p:cNvPr id="14" name="t"/>
          <p:cNvSpPr txBox="1"/>
          <p:nvPr/>
        </p:nvSpPr>
        <p:spPr>
          <a:xfrm>
            <a:off x="700000" y="4060000"/>
            <a:ext cx="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50" b="1">
                <a:solidFill>
                  <a:srgbClr val="E87A2B"/>
                </a:solidFill>
                <a:latin typeface="맑은 고딕"/>
              </a:rPr>
              <a:t>②</a:t>
            </a:r>
          </a:p>
        </p:txBody>
      </p:sp>
      <p:sp>
        <p:nvSpPr>
          <p:cNvPr id="15" name="t"/>
          <p:cNvSpPr txBox="1"/>
          <p:nvPr/>
        </p:nvSpPr>
        <p:spPr>
          <a:xfrm>
            <a:off x="1280000" y="4060000"/>
            <a:ext cx="103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지금 워커들이 돌리던 앞 작업들이 전부 끝날(디스크에 commit) 때까지 기다린다 — 워커가 다 빌 때까지.</a:t>
            </a:r>
          </a:p>
        </p:txBody>
      </p:sp>
      <p:sp>
        <p:nvSpPr>
          <p:cNvPr id="16" name="t"/>
          <p:cNvSpPr txBox="1"/>
          <p:nvPr/>
        </p:nvSpPr>
        <p:spPr>
          <a:xfrm>
            <a:off x="700000" y="4480000"/>
            <a:ext cx="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50" b="1">
                <a:solidFill>
                  <a:srgbClr val="E87A2B"/>
                </a:solidFill>
                <a:latin typeface="맑은 고딕"/>
              </a:rPr>
              <a:t>③</a:t>
            </a:r>
          </a:p>
        </p:txBody>
      </p:sp>
      <p:sp>
        <p:nvSpPr>
          <p:cNvPr id="17" name="t"/>
          <p:cNvSpPr txBox="1"/>
          <p:nvPr/>
        </p:nvSpPr>
        <p:spPr>
          <a:xfrm>
            <a:off x="1280000" y="4480000"/>
            <a:ext cx="103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워커가 다 비었으니, 이 DDL/SBR 을 혼자 적용한다.</a:t>
            </a:r>
          </a:p>
        </p:txBody>
      </p:sp>
      <p:sp>
        <p:nvSpPr>
          <p:cNvPr id="18" name="t"/>
          <p:cNvSpPr txBox="1"/>
          <p:nvPr/>
        </p:nvSpPr>
        <p:spPr>
          <a:xfrm>
            <a:off x="700000" y="4900000"/>
            <a:ext cx="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50" b="1">
                <a:solidFill>
                  <a:srgbClr val="E87A2B"/>
                </a:solidFill>
                <a:latin typeface="맑은 고딕"/>
              </a:rPr>
              <a:t>④</a:t>
            </a:r>
          </a:p>
        </p:txBody>
      </p:sp>
      <p:sp>
        <p:nvSpPr>
          <p:cNvPr id="19" name="t"/>
          <p:cNvSpPr txBox="1"/>
          <p:nvPr/>
        </p:nvSpPr>
        <p:spPr>
          <a:xfrm>
            <a:off x="1280000" y="4900000"/>
            <a:ext cx="103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이 작업이 디스크에 commit 될 때까지 기다린다.</a:t>
            </a:r>
          </a:p>
        </p:txBody>
      </p:sp>
      <p:sp>
        <p:nvSpPr>
          <p:cNvPr id="20" name="t"/>
          <p:cNvSpPr txBox="1"/>
          <p:nvPr/>
        </p:nvSpPr>
        <p:spPr>
          <a:xfrm>
            <a:off x="700000" y="5320000"/>
            <a:ext cx="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250" b="1">
                <a:solidFill>
                  <a:srgbClr val="E87A2B"/>
                </a:solidFill>
                <a:latin typeface="맑은 고딕"/>
              </a:rPr>
              <a:t>⑤</a:t>
            </a:r>
          </a:p>
        </p:txBody>
      </p:sp>
      <p:sp>
        <p:nvSpPr>
          <p:cNvPr id="21" name="t"/>
          <p:cNvSpPr txBox="1"/>
          <p:nvPr/>
        </p:nvSpPr>
        <p:spPr>
          <a:xfrm>
            <a:off x="1280000" y="5320000"/>
            <a:ext cx="103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0">
                <a:solidFill>
                  <a:srgbClr val="444B54"/>
                </a:solidFill>
                <a:latin typeface="맑은 고딕"/>
              </a:rPr>
              <a:t>끝나면, 뒤에 밀려 있던 작업들을 다시 정상 병렬 분배한다.</a:t>
            </a:r>
          </a:p>
        </p:txBody>
      </p:sp>
      <p:sp>
        <p:nvSpPr>
          <p:cNvPr id="22" name="t"/>
          <p:cNvSpPr txBox="1"/>
          <p:nvPr/>
        </p:nvSpPr>
        <p:spPr>
          <a:xfrm>
            <a:off x="640080" y="5780000"/>
            <a:ext cx="1105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  <a:spcAft>
                <a:spcPts val="220"/>
              </a:spcAft>
            </a:pPr>
            <a:r>
              <a:rPr sz="1150" b="1">
                <a:solidFill>
                  <a:srgbClr val="122A42"/>
                </a:solidFill>
                <a:latin typeface="맑은 고딕"/>
              </a:rPr>
              <a:t>비유 : </a:t>
            </a:r>
            <a:r>
              <a:rPr sz="1150" b="0">
                <a:solidFill>
                  <a:srgbClr val="444B54"/>
                </a:solidFill>
                <a:latin typeface="맑은 고딕"/>
              </a:rPr>
              <a:t>톨게이트에서 전용 차선을 비우고 그 차 하나만 통과시킨 뒤 다시 모든 차선을 여는 것과 같다.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3CE1-285E-CC7F-EFC1-CBDEFE8A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7B086A67-78EA-C555-0686-425E40901434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724492D9-1FE5-E345-96E0-B25C50C2F983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BBD351E2-E26E-487F-455C-8C32F7D4B19A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B58CB161-B7F9-2B7B-E3DB-0C8A51BFDAC8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187281C4-D0FB-DDDA-0BBC-F2C6584645C3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602A4C37-B1A2-E186-9C44-7C9D1BEA4168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E07CCE0F-3ACD-6BE2-70AF-7C9BF1B5C3A4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280AF434-0025-DF17-B6F8-1A8317E312B6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95A6B75C-B15F-9942-30EF-FB9A2BC1A946}"/>
              </a:ext>
            </a:extLst>
          </p:cNvPr>
          <p:cNvSpPr/>
          <p:nvPr/>
        </p:nvSpPr>
        <p:spPr>
          <a:xfrm>
            <a:off x="210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A92B6029-0805-1726-15C1-E27E0CE6A8EE}"/>
              </a:ext>
            </a:extLst>
          </p:cNvPr>
          <p:cNvSpPr txBox="1"/>
          <p:nvPr/>
        </p:nvSpPr>
        <p:spPr>
          <a:xfrm>
            <a:off x="21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T1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>
                <a:solidFill>
                  <a:srgbClr val="FFFFFF"/>
                </a:solidFill>
                <a:latin typeface="맑은 고딕"/>
              </a:rPr>
              <a:t>dep=0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A7F5B20B-0F30-5997-9FE7-084058FDF33A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0278CEE3-0A1B-D07E-0E1F-20F2F1D949FB}"/>
              </a:ext>
            </a:extLst>
          </p:cNvPr>
          <p:cNvSpPr/>
          <p:nvPr/>
        </p:nvSpPr>
        <p:spPr>
          <a:xfrm>
            <a:off x="358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28D42564-C0B6-40DE-A4D7-A5B644E24D93}"/>
              </a:ext>
            </a:extLst>
          </p:cNvPr>
          <p:cNvSpPr txBox="1"/>
          <p:nvPr/>
        </p:nvSpPr>
        <p:spPr>
          <a:xfrm>
            <a:off x="358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T2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>
                <a:solidFill>
                  <a:srgbClr val="FFFFFF"/>
                </a:solidFill>
                <a:latin typeface="맑은 고딕"/>
              </a:rPr>
              <a:t>dep=1</a:t>
            </a: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35A89BCE-BE89-F464-C021-FCB5E5ABCB29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B5C170-BB6B-2577-7CF0-309E4F455D2C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2C80A713-02A4-416A-841E-57DA86E6A2E8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F87B368D-2B9D-981B-F2C2-E9E6A49E4374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5480C7E-3AD2-7224-9AE5-3FB54863A7A1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9468DF23-7AC4-555A-8DAA-CF07558BEE6F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A060417D-0986-60C1-42C2-D0AFC5327A72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698B2AC-120C-EE3F-776A-7F16C8745719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EA28B808-8523-DE23-7D0F-A2C4F780A459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1F9A33AA-3CD1-5FFD-601F-8851C7702632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5F5339A6-39A1-B4EF-D070-E1BC74627253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95F87105-7D80-DEA5-1609-6F5D2BBC08B7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C62A6493-5668-EF65-C3F0-FD88AAD657C6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5152386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1BA2533-AED0-CCE1-C08C-C61D221FC379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/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/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/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39BEA09-1B25-8C04-1F44-D58C6FDF77C1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/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/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/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5ADF15D-6513-048C-E22A-4CC507CAA292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/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/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4CE399B-BF99-A513-2A29-6BD6B99FD18C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/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/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404A2A7-0F27-0D92-6FC9-55160A0124CF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/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/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/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F784727B-BAA5-959E-E398-A38914C86CB8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1C32F571-856D-CA27-4AFD-CE1B9B139710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EC84BCC7-6AEF-3F3A-7EF0-108E65C07DA4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=0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BFC06895-69D5-B2C6-4996-6D19CA8AEB37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0860F50A-5DD2-CF02-D0BF-FB16B63462A9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5099A570-8670-A8E1-87B2-A2E564395509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5BD99714-C379-3B0C-8AEC-F5EB5673C2A6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C7629D0-7F0D-92EF-4C75-608AFFD1CF4B}"/>
              </a:ext>
            </a:extLst>
          </p:cNvPr>
          <p:cNvCxnSpPr/>
          <p:nvPr/>
        </p:nvCxnSpPr>
        <p:spPr>
          <a:xfrm flipV="1">
            <a:off x="1128045" y="1830000"/>
            <a:ext cx="1256232" cy="323540"/>
          </a:xfrm>
          <a:prstGeom prst="straightConnector1">
            <a:avLst/>
          </a:prstGeom>
          <a:ln>
            <a:headEnd type="arrow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ADBC011-0373-2E44-621A-B9DB36E81467}"/>
              </a:ext>
            </a:extLst>
          </p:cNvPr>
          <p:cNvSpPr txBox="1"/>
          <p:nvPr/>
        </p:nvSpPr>
        <p:spPr>
          <a:xfrm>
            <a:off x="1756161" y="1990991"/>
            <a:ext cx="6122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If dep(0) ≤ </a:t>
            </a:r>
            <a:r>
              <a:rPr lang="en-US" altLang="ko-KR" sz="1200" b="1" dirty="0" err="1">
                <a:solidFill>
                  <a:srgbClr val="C00000"/>
                </a:solidFill>
                <a:latin typeface="Consolas"/>
              </a:rPr>
              <a:t>scs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(0)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=&gt;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true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1E60-B34C-AC1F-C166-0AF41FBD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645FD7CD-1259-A96A-219F-72EA1ED785EC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3946DBEB-7B5F-0376-28BD-F87057AB39D8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43BC2097-EC02-1EF4-E7F2-47BBDCA88190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44A1F1F8-071D-4AD6-3C32-50133F4612ED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 dirty="0" err="1">
                <a:solidFill>
                  <a:srgbClr val="122A42"/>
                </a:solidFill>
                <a:latin typeface="맑은 고딕"/>
              </a:rPr>
              <a:t>앞은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직렬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사슬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(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워커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2개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놀음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),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뒤는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3</a:t>
            </a:r>
            <a:r>
              <a:rPr lang="en-US" altLang="ko-KR" sz="1650" b="1" dirty="0">
                <a:solidFill>
                  <a:srgbClr val="122A42"/>
                </a:solidFill>
                <a:latin typeface="맑은 고딕"/>
              </a:rPr>
              <a:t>-</a:t>
            </a:r>
            <a:r>
              <a:rPr lang="en-US" sz="1650" b="1" dirty="0">
                <a:solidFill>
                  <a:srgbClr val="122A42"/>
                </a:solidFill>
                <a:latin typeface="맑은 고딕"/>
              </a:rPr>
              <a:t>fan</a:t>
            </a:r>
            <a:r>
              <a:rPr lang="en-US" altLang="ko-KR" sz="1650" b="1" dirty="0">
                <a:solidFill>
                  <a:srgbClr val="122A42"/>
                </a:solidFill>
                <a:latin typeface="맑은 고딕"/>
              </a:rPr>
              <a:t>-</a:t>
            </a:r>
            <a:r>
              <a:rPr lang="en-US" sz="1650" b="1" dirty="0">
                <a:solidFill>
                  <a:srgbClr val="122A42"/>
                </a:solidFill>
                <a:latin typeface="맑은 고딕"/>
              </a:rPr>
              <a:t>out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(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풀가동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) ·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병렬도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=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마스터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commit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동시성</a:t>
            </a:r>
            <a:endParaRPr sz="165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54BE1ADF-0EBF-73E3-88EB-DC24FFF9EB22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FE26EB1E-25B4-D679-55DF-3FB3ED6A37B2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B5F9E585-B781-7159-9F86-167446659D44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75DFE50C-6EF0-D9B6-44B0-379C230D1AB0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CEEAD65-148D-92BF-B35A-D13F03659B74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23292408-9359-AE52-C191-8B5FA4899473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499A031E-2623-E06F-CC33-EA8CC58D4047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DC6DED77-46AD-C551-2969-0292670EE15E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3D9882B-E674-88AF-CC5A-C25730E7C425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A037885B-D89E-09BE-B931-E0AFDB175ED3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35321169-3036-F1F3-96BA-C83CE7275BB0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52A66773-BDDF-AC34-22AB-5B9A334F51F0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12E5F5E-6CE8-1051-A4AC-C79DA611BDBF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3814F6E7-4C98-32F5-D555-9393E0CEBFA1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127466F2-2CA3-4414-1975-C0DEF285285C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8AF5BEA-DE58-0FED-2BC0-8DAFA3B6F771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682E724E-44CF-A288-1BA2-80D62AD86087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D94F9467-7E5F-1BC5-467F-4493153420CB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1B3DE20-0479-8B97-100B-523A7B61BFFA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43BA6658-3CCE-338C-45BE-9DCC5EC04DEC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17E00B69-44B9-4E49-9248-6503FFB16F1D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B89B5FD6-C354-840F-1305-9563D31A8075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6321133E-ABC4-5A07-DFC4-90A4B8F15F35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49E52E96-132B-5B39-9AB8-20E2EBF2C068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72E68916-A809-67C5-73E2-1007AB96EB3E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=0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29B18F55-7791-BBF2-67A4-D5D5A7E1227A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7FFBCB00-7140-CF9E-A99C-E5EE30471651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54283FFC-0D25-3CE4-97BE-30A5CFD996E2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03862671-77CF-A0A6-8E1C-092CA254FAD4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BDBCCEDF-BD2E-CC7C-AAEA-FD9C02F526C8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BF8D7A12-854B-88DF-3883-1095C4CB2C0E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C4CA145-58E8-2581-D741-DE11DC145A93}"/>
              </a:ext>
            </a:extLst>
          </p:cNvPr>
          <p:cNvCxnSpPr>
            <a:cxnSpLocks/>
            <a:stCxn id="76" idx="0"/>
            <a:endCxn id="12" idx="2"/>
          </p:cNvCxnSpPr>
          <p:nvPr/>
        </p:nvCxnSpPr>
        <p:spPr>
          <a:xfrm flipV="1">
            <a:off x="2442568" y="1900000"/>
            <a:ext cx="197432" cy="87946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41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96A48-87AB-520F-D45C-334AD6D6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7A1CD259-ACD3-195C-5908-2087D078270D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CA97C666-2F55-2025-9E4A-FAD49B33848A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10172AAF-062B-4A8E-4815-CAF4FB5797D2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74DB2D16-88FE-9D88-FE7A-61977DEB5ECD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225C519F-E73F-A59D-694E-91D41E6F155A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88A77214-3C1C-A920-2901-BDC135DCC5D4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EE5FAAD4-CDFC-E1D7-DCE9-35E0AB677BD3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09D2E069-D4E2-C46A-70F0-3D04D912DD8D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15082B6-3004-B66D-A23E-B05C5F79C34F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9F35DA8F-BAD4-7066-DBE4-BC96579ACCCD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17ECE445-CBD8-A45E-8E79-2C14480E7412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7367480C-B5B8-41EF-0C9D-8FAC38CB6B13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96ED085-2763-816D-A889-E02E4EEB2145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8629F925-258C-3881-3B14-F4E038389271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A7F82744-8B0D-C5E1-BBD0-F7EDD6D63450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D2F75499-1BD3-2E8F-B791-FDF5A5BB1FB5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C8FBD6C-CAB9-7363-448C-D87EF3DFE4BE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AA5FFBA9-8CA5-06FF-0157-D17DCDF46B91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4CC3EFFD-32B2-75D5-FD4F-4FF024EEEC65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AC58A41-4BA3-3A9C-8013-EFDFF3897733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0B166D5F-D338-9645-87E8-585742D0D9C7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F947BAC0-D403-4292-20E1-05E5F6409831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7B7EB0B-5CE5-3879-C1FA-4BFC81D5E803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1DC8F9C2-C408-2182-9417-2D2B34324351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4211DD5C-2327-B7D6-0D81-21444C28089C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2A6E7C0D-4314-659B-3C86-7C24A458AB5D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8C9A82B3-028F-6812-654F-6C0696132A1D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2D4019A6-2DE1-CDC0-951B-C31C66C09953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5053FD0F-2A02-2278-DBF7-8FAF9893ED01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=0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2EFE456B-94FA-F8D3-1BBF-2D0F70B4850E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A81924DD-B32E-23A9-4646-8D2B083EE63D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B3987237-D88E-948E-B467-0F4B0802E8B3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AE66C261-2D35-2890-9542-6134AA453EBF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98B802A0-44FD-DAB5-0158-79EB2668578C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15E0DAA0-FDD4-FF92-6B24-3F4567704371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711837D-C186-395B-D6F8-6187506C85A1}"/>
              </a:ext>
            </a:extLst>
          </p:cNvPr>
          <p:cNvCxnSpPr>
            <a:cxnSpLocks/>
          </p:cNvCxnSpPr>
          <p:nvPr/>
        </p:nvCxnSpPr>
        <p:spPr>
          <a:xfrm flipV="1">
            <a:off x="3380000" y="2569464"/>
            <a:ext cx="0" cy="73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">
            <a:extLst>
              <a:ext uri="{FF2B5EF4-FFF2-40B4-BE49-F238E27FC236}">
                <a16:creationId xmlns:a16="http://schemas.microsoft.com/office/drawing/2014/main" id="{CE912E1B-E280-CC5F-475E-63F0B44A97DF}"/>
              </a:ext>
            </a:extLst>
          </p:cNvPr>
          <p:cNvSpPr txBox="1"/>
          <p:nvPr/>
        </p:nvSpPr>
        <p:spPr>
          <a:xfrm>
            <a:off x="3025648" y="2153799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50" b="1" dirty="0">
                <a:solidFill>
                  <a:srgbClr val="1F6F8B"/>
                </a:solidFill>
                <a:latin typeface="맑은 고딕"/>
              </a:rPr>
              <a:t>Commit!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 = t1.seq</a:t>
            </a:r>
          </a:p>
        </p:txBody>
      </p:sp>
    </p:spTree>
    <p:extLst>
      <p:ext uri="{BB962C8B-B14F-4D97-AF65-F5344CB8AC3E}">
        <p14:creationId xmlns:p14="http://schemas.microsoft.com/office/powerpoint/2010/main" val="34218177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A45E-5AB9-9D18-135A-393D25E4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2493B87B-C45C-D00B-F1D2-596DB6B4ED51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AECD55E2-E353-4C06-8463-93131BFAFC49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516F119C-4EB4-5F1D-474F-2A0F643953A1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A0AFB51E-C016-6635-1249-A2346A1BA47E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201BDA46-278E-C6C2-D089-E2107659765E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5B3F1C94-AA74-80A0-0E71-B8217AE7242F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B099DF7E-BAC7-C837-94FD-6538D31A1808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33DAA268-5832-7AD4-A64B-909B431EBC61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EF54BE8-4EE7-1EE6-8BFF-9ED515F671DF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E7A7834D-CD16-DDBC-FD57-9D19A60FE31C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190B8E5D-08A0-322C-006D-89F3F1CA10BD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921C8ED9-61C9-D0A8-BD1A-56AE4D131A74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7CCF557-F306-921D-D316-FDE2C7508896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C889076A-1CAE-2B3E-FBFE-9BD6B4D2356A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42C89FEC-C64F-C885-268F-3CA29CF57F5A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B4016C85-29D7-F736-E90E-D50950CAEEA8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6D9A124-0287-098B-3049-EE3E08B6DAE3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A7A07F94-9E44-C7D8-81AC-8EF0E1BFE32C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AFC4A452-3600-6715-8CFD-9A489B72EE4B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8DC6808-EA13-6794-EB00-833354FDABC6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92A83583-7E49-150B-1601-62644EB666D6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1DC377C5-056F-5133-1BF3-DCC77A43FC48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5731493-92F5-7C12-7DC7-9D18FF0FEE40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FE320576-0970-082B-59D6-4EF022A24B73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D4230F43-8783-9077-1E21-E8E6A25BF5FE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B3F415DA-C3D0-4A7F-9C66-FAA6BF84BF0F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A8F7A816-8CCB-C191-25BE-79CB6C5D59A9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1B81CE61-5AD0-68D0-E571-F74A65451757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AF976EE5-FDF8-D2A2-25CE-05D0CA5DF29C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=1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C6AF2D7C-ED1A-76AC-B051-6D48C6B8AD4B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56A4D0B8-203F-DAB4-187A-5D968AB3FBDF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C6B971AB-2517-45BA-5C8B-93C43B29FBC0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55634BA8-A0A4-D4F2-8C5D-3A677A641936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BF398E6-0F42-2500-53E5-6434BD2D45E9}"/>
              </a:ext>
            </a:extLst>
          </p:cNvPr>
          <p:cNvCxnSpPr>
            <a:cxnSpLocks/>
          </p:cNvCxnSpPr>
          <p:nvPr/>
        </p:nvCxnSpPr>
        <p:spPr>
          <a:xfrm flipV="1">
            <a:off x="1128045" y="1909064"/>
            <a:ext cx="2834355" cy="244476"/>
          </a:xfrm>
          <a:prstGeom prst="straightConnector1">
            <a:avLst/>
          </a:prstGeom>
          <a:ln>
            <a:headEnd type="arrow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BD05379-DC07-886B-843E-31BA820115F8}"/>
              </a:ext>
            </a:extLst>
          </p:cNvPr>
          <p:cNvSpPr txBox="1"/>
          <p:nvPr/>
        </p:nvSpPr>
        <p:spPr>
          <a:xfrm>
            <a:off x="1756161" y="1990991"/>
            <a:ext cx="6122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If dep(1) ≤ </a:t>
            </a:r>
            <a:r>
              <a:rPr lang="en-US" altLang="ko-KR" sz="1200" b="1" dirty="0" err="1">
                <a:solidFill>
                  <a:srgbClr val="C00000"/>
                </a:solidFill>
                <a:latin typeface="Consolas"/>
              </a:rPr>
              <a:t>scs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(1)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=&gt;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true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2345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1871-5018-D002-AB3F-B14D86A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50817D28-6399-48D0-078C-C98EC9538347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904995F8-4A0D-CAF3-0781-8CB82F7437AB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7DE25108-DFB3-CAF2-54D1-9C7C365EFE7D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9C54E562-0C6D-D6E3-AAC1-D7DD58793ECF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5BA7D7A7-BC5F-ADB7-4C4A-BDB1B5C596FF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0E49DEA5-2050-DB28-705A-443DBC0F0501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F6142208-B386-6C48-344D-AA033EC4F1C4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1B6F714B-3A48-8D0E-1252-2F9E9CD29F34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2C89DCF-33BB-C272-78B3-9A05AC59825F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8E4C38BD-CC22-1E3F-AFDB-64D94D9CEF25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B8633974-D2FA-17E0-1594-B1FB85E08E85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A8B9675A-CC23-4B60-88E1-40A6FCE81CE1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D21641C-68F6-69EB-C789-AA3D137E6453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923D9596-0853-FFA7-4A71-F415A54DC88B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73DF5EFD-77DD-DE3E-D657-77423DAF972D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D60B9B36-F04B-CDA9-D32F-924CB270647B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1A54D41-AF28-7AC9-C84A-21534A88193C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BC734BF6-E779-22E7-0026-921185CC6B82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C5D30149-EBCB-F11C-08B9-1762F6C5B5E9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36930E7-F21E-B836-2300-85E2E1388EB8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97FD29CD-F355-BA78-6895-B362C5441B81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6B82856C-E272-D8C9-5E35-CE7A6856AA89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9A6E06-F83F-89DC-26B9-B458CC3B14C0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8C1495CC-1227-B5C1-BC37-D12EA17A94E9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B7B3EFE8-7630-8F58-DDD1-F3D13A20DE1E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BAB6F172-9AE3-E96F-60B0-4453FB5752BE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58E0655C-8FF4-FB35-D42D-F92A0219EA87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C2CA8643-845A-FBCD-6A9B-AFC595B8EE9A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1776A53C-3C0D-EAB3-57DA-E7887FCF357E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=1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4E02BCDA-4CD7-A374-C418-6D250A77EC9A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8D3352D7-68C3-9936-60EA-E517C61BAEA0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E32A9831-9A25-F657-395E-CA22F383A653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E46B0BAA-B28C-C58B-1332-256759780AF1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0FEB61C2-F89A-6B53-6285-18C6F70EAC92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96EF023D-59F1-4291-1B28-F44483EC5033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4A1249D-1CC6-0A7F-7C5B-ABA46D27C5A6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4218716" y="1909064"/>
            <a:ext cx="173852" cy="8704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r">
            <a:extLst>
              <a:ext uri="{FF2B5EF4-FFF2-40B4-BE49-F238E27FC236}">
                <a16:creationId xmlns:a16="http://schemas.microsoft.com/office/drawing/2014/main" id="{1C27606C-F493-0F01-D986-38B90C90C48A}"/>
              </a:ext>
            </a:extLst>
          </p:cNvPr>
          <p:cNvSpPr/>
          <p:nvPr/>
        </p:nvSpPr>
        <p:spPr>
          <a:xfrm>
            <a:off x="344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81307376-B2AE-9D5C-9202-BF978F992434}"/>
              </a:ext>
            </a:extLst>
          </p:cNvPr>
          <p:cNvSpPr txBox="1"/>
          <p:nvPr/>
        </p:nvSpPr>
        <p:spPr>
          <a:xfrm>
            <a:off x="344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T2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720493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48DA-2B31-18D4-E1ED-2C7A17D6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48BDB080-965E-053C-2D25-245DAD5701FF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A348B175-D099-A1DB-8D67-AAB78D7CC82C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DE1D567E-3236-85C2-D360-54EB48E784AA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7DC89493-48F4-EB0D-BDEA-6CA2621B0FA9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510FF945-E538-0B13-D165-07A79E4EDA13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019ECCA3-823E-B042-A3C0-D33ED0B10BA0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CC3C128E-CB6F-5A17-842B-909EF731EF57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9AF288E8-303C-191D-A64F-F6C02B2D6918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9A133D7-7576-C04E-A28A-BA018E9A40E4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BFFFDF68-CC28-ECE0-BE20-25DD032D2EDF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4BC9B986-F53D-86F1-A192-EAFB495C06C7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72FEB7CD-D6EC-8080-3158-6E1B20AF82B8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141FCA1F-8886-E1D9-25ED-3E58EADBBDAB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4CFAF998-B7FE-213F-4E35-4961B719AC17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D4BEA9D7-B91B-4A56-833D-7F49151B9588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47A6ACB5-D982-1C17-8ADA-E29D7E325360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FD44A3-E323-CE08-5374-837A7F8E7D49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643DF29A-F394-9938-C232-EA1937AD4FE0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3BF13E65-4692-A744-2F1E-8D5E4383B416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040AAF6-ECFF-D3EE-866D-F6926C95462F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F9A2C6D5-852D-CD63-E8EA-CEC9272D61EE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B3BAC37E-F193-82A2-0E8C-DD841F0E3BB6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7146DD-CE2A-8A83-4039-69FF40774B4D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B0E60F0F-0DA1-A919-3478-A53EA0C2F318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AE4EE5EC-D6E1-9519-985A-AD69B0F63199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E5B08DE6-F98A-06C7-E6E6-C96DFBE55F7C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F4867A51-4346-917B-5853-DB2062AB39AF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5EEBD1FE-9749-2EDA-2DE3-D2C0C4AADD42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1D06C6B6-2C3B-447F-A5A1-6CD09820B15E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=1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FFEA9891-4085-4260-2752-D0A259F92684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F94A7431-EA9C-0C25-89A6-3B33D9F15BA2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FA65747E-4FA7-9020-CDEE-0B075A952B54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83A07F83-1E2D-3DAC-8EE7-59DABA4F1A51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2BEA9B65-5A0C-3B0E-996B-7AD30523604C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8CB0838E-FCA1-502B-9F84-4C06E3C7FD7F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35F47B9-CDCD-E9DC-807D-8820DCFB57BB}"/>
              </a:ext>
            </a:extLst>
          </p:cNvPr>
          <p:cNvCxnSpPr>
            <a:cxnSpLocks/>
          </p:cNvCxnSpPr>
          <p:nvPr/>
        </p:nvCxnSpPr>
        <p:spPr>
          <a:xfrm flipV="1">
            <a:off x="5342568" y="2569464"/>
            <a:ext cx="0" cy="73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">
            <a:extLst>
              <a:ext uri="{FF2B5EF4-FFF2-40B4-BE49-F238E27FC236}">
                <a16:creationId xmlns:a16="http://schemas.microsoft.com/office/drawing/2014/main" id="{0B7E2691-FD31-380F-F86D-125BC68F9F33}"/>
              </a:ext>
            </a:extLst>
          </p:cNvPr>
          <p:cNvSpPr txBox="1"/>
          <p:nvPr/>
        </p:nvSpPr>
        <p:spPr>
          <a:xfrm>
            <a:off x="4898941" y="215744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50" b="1" dirty="0">
                <a:solidFill>
                  <a:srgbClr val="1F6F8B"/>
                </a:solidFill>
                <a:latin typeface="맑은 고딕"/>
              </a:rPr>
              <a:t>Commit!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 = t2.seq</a:t>
            </a:r>
          </a:p>
        </p:txBody>
      </p:sp>
      <p:sp>
        <p:nvSpPr>
          <p:cNvPr id="26" name="r">
            <a:extLst>
              <a:ext uri="{FF2B5EF4-FFF2-40B4-BE49-F238E27FC236}">
                <a16:creationId xmlns:a16="http://schemas.microsoft.com/office/drawing/2014/main" id="{C4CB66D4-AABF-0C17-648C-34C04D22D39A}"/>
              </a:ext>
            </a:extLst>
          </p:cNvPr>
          <p:cNvSpPr/>
          <p:nvPr/>
        </p:nvSpPr>
        <p:spPr>
          <a:xfrm>
            <a:off x="344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96D5707A-9BBC-325E-E56C-2D204F0B9904}"/>
              </a:ext>
            </a:extLst>
          </p:cNvPr>
          <p:cNvSpPr txBox="1"/>
          <p:nvPr/>
        </p:nvSpPr>
        <p:spPr>
          <a:xfrm>
            <a:off x="344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T2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825372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F639-F004-A31C-9B78-6DC2F4E0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09A9BCEF-051D-BC74-29D7-E7748C946124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AD8A2442-B3E8-98B6-2E26-F99E696156C2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514D8348-A275-FA60-9949-52DE54B6559C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2B2A5296-F643-11FC-A615-6F4988386FB7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1A6A19FB-9938-DC88-E4CF-A9F0C219CF67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878551DD-DBC3-6AFA-38B5-98D8768D7D27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8F578216-413F-8DA4-C624-0544C10E7539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609683F0-8A3A-D340-72C9-46C0992907B4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1FD04CA-EE32-81CA-014B-2657C6606C4A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36A2B9F1-E270-DD02-89B5-A0FD1D32D14F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09787945-7DC4-7E75-93C9-1D54FFE32D5E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91FB690A-9B49-22D6-3225-71C21C783506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F44FF12-6787-9353-67A7-F8B46EE82293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61FC9B8C-AE36-49DF-7BAF-D9DE191B50F3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F662A4FA-AD44-A06F-AF6F-1A2B98D852C5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63FD4B3B-9033-1AFF-8DD4-23D0E33BED67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419E95F-1C54-B01D-3DCD-FC667A422132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29D75E6B-8E19-BFA2-6A9B-0748224197F3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6CFD59F7-E34F-6D9A-A7C8-0F313D3D8588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6F6F846-EFDF-01ED-EE83-B612C70C2A38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7D8597E8-4BBF-761B-4820-D5895A991066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31047670-28AC-6116-C660-BFD91928691B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6DF449A-4C9F-768B-C242-70BDC724F777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9EBB1F53-64AF-2BA5-54F0-F00B8A9DFA8C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51C1C597-F60E-FBDF-052D-9B2309B1E7EA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B0A69406-2ABE-61DA-5009-5C7367C57D70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EC7778DC-96DC-06B0-EA87-903D0DA4CFDE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31E46325-A81C-C906-6EC4-0143FA42007D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43ACA9F2-2AAD-68C1-CA2A-EDAF38D0D0EF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=2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208941AD-2CD2-A626-F86B-67A0556EC581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89828CF4-B99A-D7DD-BE7D-C0DAC1A58828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156D899A-DD88-2FCF-95F1-3A4586B85DCB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89C7A214-C3DF-301C-945B-D2F637026297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5D79918-8BCB-AD53-5A1E-8B4E715179BF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1128045" y="1900000"/>
            <a:ext cx="4471955" cy="253540"/>
          </a:xfrm>
          <a:prstGeom prst="straightConnector1">
            <a:avLst/>
          </a:prstGeom>
          <a:ln>
            <a:headEnd type="arrow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994861C-4749-1EDA-2671-9FE881CBE2F6}"/>
              </a:ext>
            </a:extLst>
          </p:cNvPr>
          <p:cNvSpPr txBox="1"/>
          <p:nvPr/>
        </p:nvSpPr>
        <p:spPr>
          <a:xfrm>
            <a:off x="3580000" y="2049913"/>
            <a:ext cx="237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If dep(2) ≤ </a:t>
            </a:r>
            <a:r>
              <a:rPr lang="en-US" altLang="ko-KR" sz="1200" b="1" dirty="0" err="1">
                <a:solidFill>
                  <a:srgbClr val="C00000"/>
                </a:solidFill>
                <a:latin typeface="Consolas"/>
              </a:rPr>
              <a:t>scs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(2)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=&gt;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true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189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57B15-1BC6-EFB7-5E09-2B5B48ED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E7A7C4BD-EC9A-5169-990D-F401A60B7175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DD268418-67F7-1F17-6AB4-17C5AB0B71D8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D96DF6AF-273E-5A22-6632-7EC3E584B3C2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4993F26B-AA3B-F01D-E6A7-2193A07582A1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01CD4AB2-E851-8364-8A44-1E04BEEE09E9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CDEA7282-CABB-6B9F-697B-6FC4DE87D33F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6EA23CB7-7669-D9B8-B95D-3235CC4478FF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53FD73E1-144A-0613-8BCB-E5B3D8B7E7FC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0244373-69AF-5E59-A2BB-C3F92A73287F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44B2D454-3A69-4A3F-791E-931375823D0A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CF084FC3-1968-327F-E6F9-EEC7B94BA287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40CCEC82-61E4-9CBA-90DF-B414F1F08CD4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BB412A8-B9F6-824D-D8A4-E10C31F59594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A14F7EE8-2952-AEA0-6B00-4ED1AAF4DB0B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9AD2BA4F-FB55-F55A-F481-ED96FAB3B555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AC61DCA9-679C-A8F9-6CA0-0DED881DCE9F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B818FB5-FF2F-A116-95F7-BE547D04B7E3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91106FB0-0112-FB42-22D3-B40FE657F81E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48CBD2F2-86DB-72D0-292E-211DE53E486A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0F81C14-A80A-270A-34E0-797761B7A29F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65280613-79E0-2B68-AC6E-9C369F8BD640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E8FC4E6A-E51E-77AD-DFDA-6CD617A3729D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CE6A109-7A3F-F680-8DF0-19B5EED3267E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55E66E37-84A8-E5E3-5CF7-47FCAD5981C8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EDA348E8-ECC6-6118-ADCF-AC37B709C39F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F2D69241-1715-B025-8DE4-EBF9D30DDD68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86E9CDAB-3588-1444-EA32-F84F5142EC03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45EB136A-123F-8009-0214-EB7E4E2E9306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A20D2A61-C078-DA20-70C0-F461167C0B30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</a:t>
            </a:r>
            <a:r>
              <a:rPr lang="en-US" altLang="ko-KR" sz="1150" b="1" dirty="0">
                <a:solidFill>
                  <a:srgbClr val="1F6F8B"/>
                </a:solidFill>
                <a:latin typeface="맑은 고딕"/>
              </a:rPr>
              <a:t>2</a:t>
            </a:r>
            <a:endParaRPr lang="en-US" sz="11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BA058F80-A39E-47FD-7A39-22AF5A86B88D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5E01A00D-62F0-E707-E9AD-99A1FA0F3A3D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B48165CB-E525-B08A-7F93-66043A15B39C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A90A0EC6-F212-6CA4-A2F0-1F388F58772A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BFFB4CFA-AEF9-D172-B06C-B316B34DD399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06C0B8CD-09EB-DE91-E3A9-3872099B3FA0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B0C3CB6-0FDF-200D-E3CA-5057A0F86270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5641284" y="1892650"/>
            <a:ext cx="701284" cy="88681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r">
            <a:extLst>
              <a:ext uri="{FF2B5EF4-FFF2-40B4-BE49-F238E27FC236}">
                <a16:creationId xmlns:a16="http://schemas.microsoft.com/office/drawing/2014/main" id="{BD580FA0-F641-FB0C-E58F-4727DFE973AD}"/>
              </a:ext>
            </a:extLst>
          </p:cNvPr>
          <p:cNvSpPr/>
          <p:nvPr/>
        </p:nvSpPr>
        <p:spPr>
          <a:xfrm>
            <a:off x="344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3074C802-B685-4F98-CB2C-094CB4617163}"/>
              </a:ext>
            </a:extLst>
          </p:cNvPr>
          <p:cNvSpPr txBox="1"/>
          <p:nvPr/>
        </p:nvSpPr>
        <p:spPr>
          <a:xfrm>
            <a:off x="344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T2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585EC0B-0109-44EA-9678-22E52EA43381}"/>
              </a:ext>
            </a:extLst>
          </p:cNvPr>
          <p:cNvGrpSpPr/>
          <p:nvPr/>
        </p:nvGrpSpPr>
        <p:grpSpPr>
          <a:xfrm>
            <a:off x="5392568" y="2779464"/>
            <a:ext cx="1900000" cy="520000"/>
            <a:chOff x="5420000" y="2520000"/>
            <a:chExt cx="1900000" cy="520000"/>
          </a:xfrm>
        </p:grpSpPr>
        <p:sp>
          <p:nvSpPr>
            <p:cNvPr id="28" name="r">
              <a:extLst>
                <a:ext uri="{FF2B5EF4-FFF2-40B4-BE49-F238E27FC236}">
                  <a16:creationId xmlns:a16="http://schemas.microsoft.com/office/drawing/2014/main" id="{EC5D644D-75EF-04F7-4901-C5A0E5AF73F8}"/>
                </a:ext>
              </a:extLst>
            </p:cNvPr>
            <p:cNvSpPr/>
            <p:nvPr/>
          </p:nvSpPr>
          <p:spPr>
            <a:xfrm>
              <a:off x="5420000" y="252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">
              <a:extLst>
                <a:ext uri="{FF2B5EF4-FFF2-40B4-BE49-F238E27FC236}">
                  <a16:creationId xmlns:a16="http://schemas.microsoft.com/office/drawing/2014/main" id="{324FC06D-6535-61DD-DEDB-9A7795F456B9}"/>
                </a:ext>
              </a:extLst>
            </p:cNvPr>
            <p:cNvSpPr txBox="1"/>
            <p:nvPr/>
          </p:nvSpPr>
          <p:spPr>
            <a:xfrm>
              <a:off x="5420000" y="252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0209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3505-5853-F3AC-54D5-C9F1D20B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DD878855-AA61-580F-2D65-D2EEE50F713C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F21F363C-13F7-53E3-3250-2FA2EA810C0D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B383BEBC-E3CD-1D89-F28A-42467BB55C8B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1FB75785-5995-6EBA-5A12-0ACC3C427512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87D41B2F-9A7C-DA05-E9CE-C81BF7820E3F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4793AD2A-5684-C43F-9865-5C15D3779F3C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A0CBA989-A308-8A91-5BC7-F7777B75E336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0DE7519B-E8D8-D2A5-3540-BEE4785261DF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7D15531-811E-9FB7-20BD-2F289486DEEB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5B964957-0986-D63E-64D4-ACEA4629569F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885B8CF7-B309-990C-7FAB-E3F8AB87DDFA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9B6EA17E-761B-61D4-162B-A51FF8613A44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38BE401-BD6A-A20B-D08E-90752A888B2B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085B0B40-E3A8-07DA-FCD4-8FF5265225D4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7B0E99A0-36D4-A986-72A5-54FD5DE95F1C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0A910E89-8066-6A03-5FB7-6A19ED400EFD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856BD3F-AC61-ADF4-CDE8-D99C1CD411F2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146C21CF-49A9-45C7-9C92-2D0638F032C2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80922CA8-CA58-50AE-6F66-0083C87C7C40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EF1C429-F8EE-CB07-594D-3FFCC3E19014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0A48347C-B46F-905E-D3B6-5D9878012A7B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0F79BBB6-D929-9FCC-4260-90B450AA6DFA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0263B3E-593A-8A20-44BD-EEA612D81E08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40300820-8670-B83D-9E03-673D7CE2E40F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A5620350-C063-89A6-3836-B996273D5C01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75306637-B799-17E4-B453-F88EF7749F81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51E166E3-A836-3181-353C-A1C1E0B21EBC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9190B278-9BDB-49BF-6706-9144C630C36F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3385EC57-DA63-1165-A170-0DA906D046B5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=2</a:t>
            </a: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DDB348DA-9912-4C72-2164-5F752C4DA9AF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0A10AE5E-0C8F-3918-00BC-8F37F245A970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9A12F3AE-A6F3-D51B-8195-2384F5A26687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47FCFF5E-B7DB-F2AF-72DC-9262766CE3D6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B8D28BA-8E45-1CD2-7C82-2A9677EB28D6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128045" y="1909064"/>
            <a:ext cx="5951955" cy="244476"/>
          </a:xfrm>
          <a:prstGeom prst="straightConnector1">
            <a:avLst/>
          </a:prstGeom>
          <a:ln>
            <a:headEnd type="arrow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8332427-730D-5340-899C-C2F0673D5CC9}"/>
              </a:ext>
            </a:extLst>
          </p:cNvPr>
          <p:cNvSpPr txBox="1"/>
          <p:nvPr/>
        </p:nvSpPr>
        <p:spPr>
          <a:xfrm>
            <a:off x="3580000" y="2049913"/>
            <a:ext cx="237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If dep(2) ≤ </a:t>
            </a:r>
            <a:r>
              <a:rPr lang="en-US" altLang="ko-KR" sz="1200" b="1" dirty="0" err="1">
                <a:solidFill>
                  <a:srgbClr val="C00000"/>
                </a:solidFill>
                <a:latin typeface="Consolas"/>
              </a:rPr>
              <a:t>scs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(2)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=&gt;</a:t>
            </a:r>
            <a:r>
              <a:rPr lang="ko-KR" altLang="en-US" sz="1200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Consolas"/>
              </a:rPr>
              <a:t>true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976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B5B8-DB02-C70D-94A6-DCDEF1E5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B715D491-00F5-3B90-0666-BAE1E2BB7888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0CF886FA-4171-7B6A-C58A-2C901E109D9E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18DD54F0-29C6-3187-58F8-DE8FBF3A46D2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F5B88E2E-9F51-51B4-DC6F-78BFE5EF3BB0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1F1F6B53-EE72-4FE3-E829-46F3EE239824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AD895ABF-06D5-546B-CC9B-DDD2A4DAC012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1E1DEC26-AE65-E87C-C548-ADE36C3F9474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078DF4FF-B78E-3063-B4B7-D4A90C2879BC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50" b="1" dirty="0">
                <a:solidFill>
                  <a:srgbClr val="1F6F8B"/>
                </a:solidFill>
                <a:latin typeface="맑은 고딕"/>
              </a:rPr>
              <a:t>의존 그래프</a:t>
            </a:r>
            <a:endParaRPr sz="1150" b="1" dirty="0">
              <a:solidFill>
                <a:srgbClr val="1F6F8B"/>
              </a:solidFill>
              <a:latin typeface="맑은 고딕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1040E48-F68A-2087-1FFE-66B1CDD69022}"/>
              </a:ext>
            </a:extLst>
          </p:cNvPr>
          <p:cNvGrpSpPr/>
          <p:nvPr/>
        </p:nvGrpSpPr>
        <p:grpSpPr>
          <a:xfrm>
            <a:off x="2100000" y="1460000"/>
            <a:ext cx="1080000" cy="440000"/>
            <a:chOff x="2100000" y="1460000"/>
            <a:chExt cx="1080000" cy="440000"/>
          </a:xfrm>
        </p:grpSpPr>
        <p:sp>
          <p:nvSpPr>
            <p:cNvPr id="11" name="r">
              <a:extLst>
                <a:ext uri="{FF2B5EF4-FFF2-40B4-BE49-F238E27FC236}">
                  <a16:creationId xmlns:a16="http://schemas.microsoft.com/office/drawing/2014/main" id="{B6339BD4-9BF1-751A-81B4-B7F20069D379}"/>
                </a:ext>
              </a:extLst>
            </p:cNvPr>
            <p:cNvSpPr/>
            <p:nvPr/>
          </p:nvSpPr>
          <p:spPr>
            <a:xfrm>
              <a:off x="210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">
              <a:extLst>
                <a:ext uri="{FF2B5EF4-FFF2-40B4-BE49-F238E27FC236}">
                  <a16:creationId xmlns:a16="http://schemas.microsoft.com/office/drawing/2014/main" id="{B2C07EB0-926D-ED37-7DC8-46C2682EF40C}"/>
                </a:ext>
              </a:extLst>
            </p:cNvPr>
            <p:cNvSpPr txBox="1"/>
            <p:nvPr/>
          </p:nvSpPr>
          <p:spPr>
            <a:xfrm>
              <a:off x="21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T1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dep=0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,</a:t>
              </a:r>
              <a:r>
                <a:rPr lang="ko-KR" altLang="en-US" sz="92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lang="en-US" altLang="ko-KR" sz="920" b="0" dirty="0">
                  <a:solidFill>
                    <a:srgbClr val="FFFFFF"/>
                  </a:solidFill>
                  <a:latin typeface="맑은 고딕"/>
                </a:rPr>
                <a:t>seq=1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3" name="t">
            <a:extLst>
              <a:ext uri="{FF2B5EF4-FFF2-40B4-BE49-F238E27FC236}">
                <a16:creationId xmlns:a16="http://schemas.microsoft.com/office/drawing/2014/main" id="{35E06A05-E23C-F621-72FF-2F6BF49D12C0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B569E9C-64E3-F4D5-81AD-66F8A3A0B7D1}"/>
              </a:ext>
            </a:extLst>
          </p:cNvPr>
          <p:cNvGrpSpPr/>
          <p:nvPr/>
        </p:nvGrpSpPr>
        <p:grpSpPr>
          <a:xfrm>
            <a:off x="3580000" y="1460000"/>
            <a:ext cx="1080000" cy="440000"/>
            <a:chOff x="3580000" y="1460000"/>
            <a:chExt cx="1080000" cy="440000"/>
          </a:xfrm>
        </p:grpSpPr>
        <p:sp>
          <p:nvSpPr>
            <p:cNvPr id="14" name="r">
              <a:extLst>
                <a:ext uri="{FF2B5EF4-FFF2-40B4-BE49-F238E27FC236}">
                  <a16:creationId xmlns:a16="http://schemas.microsoft.com/office/drawing/2014/main" id="{D4130278-3095-D7B6-A68B-2C9E5CB0407D}"/>
                </a:ext>
              </a:extLst>
            </p:cNvPr>
            <p:cNvSpPr/>
            <p:nvPr/>
          </p:nvSpPr>
          <p:spPr>
            <a:xfrm>
              <a:off x="3580000" y="1460000"/>
              <a:ext cx="1080000" cy="440000"/>
            </a:xfrm>
            <a:prstGeom prst="roundRect">
              <a:avLst/>
            </a:prstGeom>
            <a:solidFill>
              <a:srgbClr val="1F6F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ACD89AF4-3466-76C1-39F2-FCFBFA6301B1}"/>
                </a:ext>
              </a:extLst>
            </p:cNvPr>
            <p:cNvSpPr txBox="1"/>
            <p:nvPr/>
          </p:nvSpPr>
          <p:spPr>
            <a:xfrm>
              <a:off x="358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T2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dep=1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seq=2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16" name="t">
            <a:extLst>
              <a:ext uri="{FF2B5EF4-FFF2-40B4-BE49-F238E27FC236}">
                <a16:creationId xmlns:a16="http://schemas.microsoft.com/office/drawing/2014/main" id="{ED521317-80F6-DFFF-9CBF-077C4F316648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034F9B8-9E6D-32F2-8AC5-66AFEF8FFE53}"/>
              </a:ext>
            </a:extLst>
          </p:cNvPr>
          <p:cNvGrpSpPr/>
          <p:nvPr/>
        </p:nvGrpSpPr>
        <p:grpSpPr>
          <a:xfrm>
            <a:off x="5060000" y="1460000"/>
            <a:ext cx="1080000" cy="440000"/>
            <a:chOff x="5060000" y="1460000"/>
            <a:chExt cx="1080000" cy="440000"/>
          </a:xfrm>
        </p:grpSpPr>
        <p:sp>
          <p:nvSpPr>
            <p:cNvPr id="17" name="r">
              <a:extLst>
                <a:ext uri="{FF2B5EF4-FFF2-40B4-BE49-F238E27FC236}">
                  <a16:creationId xmlns:a16="http://schemas.microsoft.com/office/drawing/2014/main" id="{E6CAB9DC-A51B-4241-B441-51FD17943EC8}"/>
                </a:ext>
              </a:extLst>
            </p:cNvPr>
            <p:cNvSpPr/>
            <p:nvPr/>
          </p:nvSpPr>
          <p:spPr>
            <a:xfrm>
              <a:off x="506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D7A0DF2F-4641-BD07-044E-32AF77AF851D}"/>
                </a:ext>
              </a:extLst>
            </p:cNvPr>
            <p:cNvSpPr txBox="1"/>
            <p:nvPr/>
          </p:nvSpPr>
          <p:spPr>
            <a:xfrm>
              <a:off x="506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seq=3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AC11465-D006-5CB9-D96C-99119C675F7C}"/>
              </a:ext>
            </a:extLst>
          </p:cNvPr>
          <p:cNvGrpSpPr/>
          <p:nvPr/>
        </p:nvGrpSpPr>
        <p:grpSpPr>
          <a:xfrm>
            <a:off x="6540000" y="1469064"/>
            <a:ext cx="1080000" cy="440000"/>
            <a:chOff x="6200000" y="1460000"/>
            <a:chExt cx="1080000" cy="440000"/>
          </a:xfrm>
        </p:grpSpPr>
        <p:sp>
          <p:nvSpPr>
            <p:cNvPr id="19" name="r">
              <a:extLst>
                <a:ext uri="{FF2B5EF4-FFF2-40B4-BE49-F238E27FC236}">
                  <a16:creationId xmlns:a16="http://schemas.microsoft.com/office/drawing/2014/main" id="{65DCC344-7F34-C386-972C-1682668CCE6D}"/>
                </a:ext>
              </a:extLst>
            </p:cNvPr>
            <p:cNvSpPr/>
            <p:nvPr/>
          </p:nvSpPr>
          <p:spPr>
            <a:xfrm>
              <a:off x="620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4E7A7602-D20A-680A-4E81-25335A96307C}"/>
                </a:ext>
              </a:extLst>
            </p:cNvPr>
            <p:cNvSpPr txBox="1"/>
            <p:nvPr/>
          </p:nvSpPr>
          <p:spPr>
            <a:xfrm>
              <a:off x="620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T4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seq=4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60F7ED6-E19B-9A86-EA0E-1E582FF6F26A}"/>
              </a:ext>
            </a:extLst>
          </p:cNvPr>
          <p:cNvGrpSpPr/>
          <p:nvPr/>
        </p:nvGrpSpPr>
        <p:grpSpPr>
          <a:xfrm>
            <a:off x="8020000" y="1469064"/>
            <a:ext cx="1080000" cy="440000"/>
            <a:chOff x="7340000" y="1460000"/>
            <a:chExt cx="1080000" cy="440000"/>
          </a:xfrm>
        </p:grpSpPr>
        <p:sp>
          <p:nvSpPr>
            <p:cNvPr id="21" name="r">
              <a:extLst>
                <a:ext uri="{FF2B5EF4-FFF2-40B4-BE49-F238E27FC236}">
                  <a16:creationId xmlns:a16="http://schemas.microsoft.com/office/drawing/2014/main" id="{7327647A-8B52-F66B-DA2D-8FAC4E2FD347}"/>
                </a:ext>
              </a:extLst>
            </p:cNvPr>
            <p:cNvSpPr/>
            <p:nvPr/>
          </p:nvSpPr>
          <p:spPr>
            <a:xfrm>
              <a:off x="7340000" y="1460000"/>
              <a:ext cx="1080000" cy="44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">
              <a:extLst>
                <a:ext uri="{FF2B5EF4-FFF2-40B4-BE49-F238E27FC236}">
                  <a16:creationId xmlns:a16="http://schemas.microsoft.com/office/drawing/2014/main" id="{3B98467F-8A6D-C20D-2C75-1FB285E11B8B}"/>
                </a:ext>
              </a:extLst>
            </p:cNvPr>
            <p:cNvSpPr txBox="1"/>
            <p:nvPr/>
          </p:nvSpPr>
          <p:spPr>
            <a:xfrm>
              <a:off x="7340000" y="1460000"/>
              <a:ext cx="1080000" cy="44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20"/>
                </a:spcAft>
              </a:pPr>
              <a:r>
                <a:rPr sz="1100" b="1" dirty="0">
                  <a:solidFill>
                    <a:srgbClr val="FFFFFF"/>
                  </a:solidFill>
                  <a:latin typeface="맑은 고딕"/>
                </a:rPr>
                <a:t>T5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sz="920" b="0" dirty="0">
                  <a:solidFill>
                    <a:srgbClr val="FFFFFF"/>
                  </a:solidFill>
                  <a:latin typeface="맑은 고딕"/>
                </a:rPr>
                <a:t>dep=2</a:t>
              </a:r>
              <a:r>
                <a:rPr lang="en-US" sz="920" b="0" dirty="0">
                  <a:solidFill>
                    <a:srgbClr val="FFFFFF"/>
                  </a:solidFill>
                  <a:latin typeface="맑은 고딕"/>
                </a:rPr>
                <a:t>, seq=5</a:t>
              </a:r>
              <a:endParaRPr sz="920" b="0" dirty="0">
                <a:solidFill>
                  <a:srgbClr val="FFFFFF"/>
                </a:solidFill>
                <a:latin typeface="맑은 고딕"/>
              </a:endParaRPr>
            </a:p>
          </p:txBody>
        </p:sp>
      </p:grpSp>
      <p:sp>
        <p:nvSpPr>
          <p:cNvPr id="23" name="t">
            <a:extLst>
              <a:ext uri="{FF2B5EF4-FFF2-40B4-BE49-F238E27FC236}">
                <a16:creationId xmlns:a16="http://schemas.microsoft.com/office/drawing/2014/main" id="{86FDDB62-5A18-5BE0-44E9-367E02237B52}"/>
              </a:ext>
            </a:extLst>
          </p:cNvPr>
          <p:cNvSpPr txBox="1"/>
          <p:nvPr/>
        </p:nvSpPr>
        <p:spPr>
          <a:xfrm>
            <a:off x="9340426" y="1469064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 dirty="0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→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병렬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후보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)</a:t>
            </a:r>
          </a:p>
        </p:txBody>
      </p:sp>
      <p:sp>
        <p:nvSpPr>
          <p:cNvPr id="52" name="t">
            <a:extLst>
              <a:ext uri="{FF2B5EF4-FFF2-40B4-BE49-F238E27FC236}">
                <a16:creationId xmlns:a16="http://schemas.microsoft.com/office/drawing/2014/main" id="{3830EC01-02E1-76B5-8BC4-B3476748C914}"/>
              </a:ext>
            </a:extLst>
          </p:cNvPr>
          <p:cNvSpPr txBox="1"/>
          <p:nvPr/>
        </p:nvSpPr>
        <p:spPr>
          <a:xfrm>
            <a:off x="617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3" name="t">
            <a:extLst>
              <a:ext uri="{FF2B5EF4-FFF2-40B4-BE49-F238E27FC236}">
                <a16:creationId xmlns:a16="http://schemas.microsoft.com/office/drawing/2014/main" id="{45B10691-A5D8-52AE-3C0B-6194E9F2ED4D}"/>
              </a:ext>
            </a:extLst>
          </p:cNvPr>
          <p:cNvSpPr txBox="1"/>
          <p:nvPr/>
        </p:nvSpPr>
        <p:spPr>
          <a:xfrm>
            <a:off x="765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54" name="t">
            <a:extLst>
              <a:ext uri="{FF2B5EF4-FFF2-40B4-BE49-F238E27FC236}">
                <a16:creationId xmlns:a16="http://schemas.microsoft.com/office/drawing/2014/main" id="{DEE9ED9D-8EAA-D194-ED8D-8202784E6D89}"/>
              </a:ext>
            </a:extLst>
          </p:cNvPr>
          <p:cNvSpPr txBox="1"/>
          <p:nvPr/>
        </p:nvSpPr>
        <p:spPr>
          <a:xfrm>
            <a:off x="650000" y="1909491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lang="en-US" sz="1150" b="1" dirty="0">
                <a:solidFill>
                  <a:srgbClr val="1F6F8B"/>
                </a:solidFill>
                <a:latin typeface="맑은 고딕"/>
              </a:rPr>
              <a:t>=</a:t>
            </a:r>
            <a:r>
              <a:rPr lang="en-US" altLang="ko-KR" sz="1150" b="1" dirty="0">
                <a:solidFill>
                  <a:srgbClr val="1F6F8B"/>
                </a:solidFill>
                <a:latin typeface="맑은 고딕"/>
              </a:rPr>
              <a:t>2</a:t>
            </a:r>
            <a:endParaRPr lang="en-US" sz="11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5" name="t">
            <a:extLst>
              <a:ext uri="{FF2B5EF4-FFF2-40B4-BE49-F238E27FC236}">
                <a16:creationId xmlns:a16="http://schemas.microsoft.com/office/drawing/2014/main" id="{9C32B4BA-D6F7-BE38-7352-5B7EB62BE54A}"/>
              </a:ext>
            </a:extLst>
          </p:cNvPr>
          <p:cNvSpPr txBox="1"/>
          <p:nvPr/>
        </p:nvSpPr>
        <p:spPr>
          <a:xfrm>
            <a:off x="612648" y="2419464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6593D369-761E-B88A-E0B1-813EC98542B3}"/>
              </a:ext>
            </a:extLst>
          </p:cNvPr>
          <p:cNvSpPr txBox="1"/>
          <p:nvPr/>
        </p:nvSpPr>
        <p:spPr>
          <a:xfrm>
            <a:off x="692568" y="277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59" name="t">
            <a:extLst>
              <a:ext uri="{FF2B5EF4-FFF2-40B4-BE49-F238E27FC236}">
                <a16:creationId xmlns:a16="http://schemas.microsoft.com/office/drawing/2014/main" id="{A358B01B-FE76-25B9-D7D1-C4A92AFB8046}"/>
              </a:ext>
            </a:extLst>
          </p:cNvPr>
          <p:cNvSpPr txBox="1"/>
          <p:nvPr/>
        </p:nvSpPr>
        <p:spPr>
          <a:xfrm>
            <a:off x="692568" y="339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60" name="t">
            <a:extLst>
              <a:ext uri="{FF2B5EF4-FFF2-40B4-BE49-F238E27FC236}">
                <a16:creationId xmlns:a16="http://schemas.microsoft.com/office/drawing/2014/main" id="{1A19F970-58AE-D6E8-EB2A-457B1D9E0A92}"/>
              </a:ext>
            </a:extLst>
          </p:cNvPr>
          <p:cNvSpPr txBox="1"/>
          <p:nvPr/>
        </p:nvSpPr>
        <p:spPr>
          <a:xfrm>
            <a:off x="692568" y="4019464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75" name="r">
            <a:extLst>
              <a:ext uri="{FF2B5EF4-FFF2-40B4-BE49-F238E27FC236}">
                <a16:creationId xmlns:a16="http://schemas.microsoft.com/office/drawing/2014/main" id="{B9E0E185-115B-F351-5CD1-054065DADA72}"/>
              </a:ext>
            </a:extLst>
          </p:cNvPr>
          <p:cNvSpPr/>
          <p:nvPr/>
        </p:nvSpPr>
        <p:spPr>
          <a:xfrm>
            <a:off x="149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">
            <a:extLst>
              <a:ext uri="{FF2B5EF4-FFF2-40B4-BE49-F238E27FC236}">
                <a16:creationId xmlns:a16="http://schemas.microsoft.com/office/drawing/2014/main" id="{0AAE6112-9CF2-4753-3A0D-C2DF76B94C37}"/>
              </a:ext>
            </a:extLst>
          </p:cNvPr>
          <p:cNvSpPr txBox="1"/>
          <p:nvPr/>
        </p:nvSpPr>
        <p:spPr>
          <a:xfrm>
            <a:off x="149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C2798F2-EFA8-B031-7E54-52440F139138}"/>
              </a:ext>
            </a:extLst>
          </p:cNvPr>
          <p:cNvCxnSpPr>
            <a:cxnSpLocks/>
            <a:stCxn id="29" idx="0"/>
            <a:endCxn id="20" idx="2"/>
          </p:cNvCxnSpPr>
          <p:nvPr/>
        </p:nvCxnSpPr>
        <p:spPr>
          <a:xfrm flipV="1">
            <a:off x="6342568" y="1909064"/>
            <a:ext cx="737432" cy="8704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r">
            <a:extLst>
              <a:ext uri="{FF2B5EF4-FFF2-40B4-BE49-F238E27FC236}">
                <a16:creationId xmlns:a16="http://schemas.microsoft.com/office/drawing/2014/main" id="{72D2B98F-4F08-4863-FEB3-A6411DCCD240}"/>
              </a:ext>
            </a:extLst>
          </p:cNvPr>
          <p:cNvSpPr/>
          <p:nvPr/>
        </p:nvSpPr>
        <p:spPr>
          <a:xfrm>
            <a:off x="3442568" y="2779464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2CBA4900-2EAB-1473-136F-69EB394476D5}"/>
              </a:ext>
            </a:extLst>
          </p:cNvPr>
          <p:cNvSpPr txBox="1"/>
          <p:nvPr/>
        </p:nvSpPr>
        <p:spPr>
          <a:xfrm>
            <a:off x="3442568" y="2779464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T2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6674F17-9B87-7BA1-C582-3CAD52EFA895}"/>
              </a:ext>
            </a:extLst>
          </p:cNvPr>
          <p:cNvGrpSpPr/>
          <p:nvPr/>
        </p:nvGrpSpPr>
        <p:grpSpPr>
          <a:xfrm>
            <a:off x="5392568" y="2779464"/>
            <a:ext cx="1900000" cy="520000"/>
            <a:chOff x="5420000" y="2520000"/>
            <a:chExt cx="1900000" cy="520000"/>
          </a:xfrm>
        </p:grpSpPr>
        <p:sp>
          <p:nvSpPr>
            <p:cNvPr id="28" name="r">
              <a:extLst>
                <a:ext uri="{FF2B5EF4-FFF2-40B4-BE49-F238E27FC236}">
                  <a16:creationId xmlns:a16="http://schemas.microsoft.com/office/drawing/2014/main" id="{FA65C2ED-6D3D-4642-C531-0C55455F8599}"/>
                </a:ext>
              </a:extLst>
            </p:cNvPr>
            <p:cNvSpPr/>
            <p:nvPr/>
          </p:nvSpPr>
          <p:spPr>
            <a:xfrm>
              <a:off x="5420000" y="252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">
              <a:extLst>
                <a:ext uri="{FF2B5EF4-FFF2-40B4-BE49-F238E27FC236}">
                  <a16:creationId xmlns:a16="http://schemas.microsoft.com/office/drawing/2014/main" id="{ECD53AF4-41CC-11C0-5AC0-EE7F1C134F32}"/>
                </a:ext>
              </a:extLst>
            </p:cNvPr>
            <p:cNvSpPr txBox="1"/>
            <p:nvPr/>
          </p:nvSpPr>
          <p:spPr>
            <a:xfrm>
              <a:off x="5420000" y="252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78459D-3D0F-A458-4E09-DECBEC7B960D}"/>
              </a:ext>
            </a:extLst>
          </p:cNvPr>
          <p:cNvGrpSpPr/>
          <p:nvPr/>
        </p:nvGrpSpPr>
        <p:grpSpPr>
          <a:xfrm>
            <a:off x="5392568" y="3400248"/>
            <a:ext cx="1900000" cy="520000"/>
            <a:chOff x="5420000" y="3140000"/>
            <a:chExt cx="1900000" cy="520000"/>
          </a:xfrm>
        </p:grpSpPr>
        <p:sp>
          <p:nvSpPr>
            <p:cNvPr id="31" name="r">
              <a:extLst>
                <a:ext uri="{FF2B5EF4-FFF2-40B4-BE49-F238E27FC236}">
                  <a16:creationId xmlns:a16="http://schemas.microsoft.com/office/drawing/2014/main" id="{C6A88A06-D99B-23C1-B570-121E4AEA21EA}"/>
                </a:ext>
              </a:extLst>
            </p:cNvPr>
            <p:cNvSpPr/>
            <p:nvPr/>
          </p:nvSpPr>
          <p:spPr>
            <a:xfrm>
              <a:off x="5420000" y="314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">
              <a:extLst>
                <a:ext uri="{FF2B5EF4-FFF2-40B4-BE49-F238E27FC236}">
                  <a16:creationId xmlns:a16="http://schemas.microsoft.com/office/drawing/2014/main" id="{27710DDE-C9B1-8B28-E264-FF89A060305E}"/>
                </a:ext>
              </a:extLst>
            </p:cNvPr>
            <p:cNvSpPr txBox="1"/>
            <p:nvPr/>
          </p:nvSpPr>
          <p:spPr>
            <a:xfrm>
              <a:off x="5420000" y="314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76623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6082-807D-1A11-17B1-D44AE55B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BEBE8BD8-0295-E25A-8D39-CD2073D69BB7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C03049C2-2A55-774F-5125-B5E5A94DF951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98CEA55A-FB14-95B7-5E97-491C80A0FD50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33D0F21D-CFDB-24D6-9D0F-870821254CF7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7738892D-213F-A68B-12C0-070DD494364A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8149AE03-33B2-8736-2A16-CF0C056C7436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3E440728-1935-EA80-10C1-0CF9678A6B95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8B2B0CA3-3986-D1F0-4C0F-E5F3C4F8CB36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의존 그래프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743C85ED-5DB5-6970-C3D8-F5ECEA2BC496}"/>
              </a:ext>
            </a:extLst>
          </p:cNvPr>
          <p:cNvSpPr/>
          <p:nvPr/>
        </p:nvSpPr>
        <p:spPr>
          <a:xfrm>
            <a:off x="210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49FFB6C8-B995-3D9D-A342-AF2DDB332832}"/>
              </a:ext>
            </a:extLst>
          </p:cNvPr>
          <p:cNvSpPr txBox="1"/>
          <p:nvPr/>
        </p:nvSpPr>
        <p:spPr>
          <a:xfrm>
            <a:off x="21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dep=0</a:t>
            </a:r>
            <a:r>
              <a:rPr lang="en-US" altLang="ko-KR" sz="920" b="0" dirty="0">
                <a:solidFill>
                  <a:srgbClr val="FFFFFF"/>
                </a:solidFill>
                <a:latin typeface="맑은 고딕"/>
              </a:rPr>
              <a:t>,</a:t>
            </a:r>
            <a:r>
              <a:rPr lang="ko-KR" altLang="en-US" sz="92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en-US" altLang="ko-KR" sz="920" b="0" dirty="0">
                <a:solidFill>
                  <a:srgbClr val="FFFFFF"/>
                </a:solidFill>
                <a:latin typeface="맑은 고딕"/>
              </a:rPr>
              <a:t>seq=1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57E668EF-D553-6091-F6CE-05948AFC85A4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EE9EC240-EC9A-B78D-7DC6-38A8FABA4CE8}"/>
              </a:ext>
            </a:extLst>
          </p:cNvPr>
          <p:cNvSpPr/>
          <p:nvPr/>
        </p:nvSpPr>
        <p:spPr>
          <a:xfrm>
            <a:off x="358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77EEE450-EB06-DCE3-F62D-770020AFE49A}"/>
              </a:ext>
            </a:extLst>
          </p:cNvPr>
          <p:cNvSpPr txBox="1"/>
          <p:nvPr/>
        </p:nvSpPr>
        <p:spPr>
          <a:xfrm>
            <a:off x="358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dep=1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seq=2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15EAFA99-244A-55FB-0F94-9D968D4CE073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04950F54-AD96-A8CF-5D85-F2C21A145C30}"/>
              </a:ext>
            </a:extLst>
          </p:cNvPr>
          <p:cNvSpPr/>
          <p:nvPr/>
        </p:nvSpPr>
        <p:spPr>
          <a:xfrm>
            <a:off x="506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A72337D0-C6B5-2B7B-51AA-D62C2E93CF1E}"/>
              </a:ext>
            </a:extLst>
          </p:cNvPr>
          <p:cNvSpPr txBox="1"/>
          <p:nvPr/>
        </p:nvSpPr>
        <p:spPr>
          <a:xfrm>
            <a:off x="506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seq=3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9CA1A06D-687E-E920-FCE5-6D5D869BDA30}"/>
              </a:ext>
            </a:extLst>
          </p:cNvPr>
          <p:cNvSpPr/>
          <p:nvPr/>
        </p:nvSpPr>
        <p:spPr>
          <a:xfrm>
            <a:off x="620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7193FABB-E98F-22CD-02B9-9E6AB5DD5D56}"/>
              </a:ext>
            </a:extLst>
          </p:cNvPr>
          <p:cNvSpPr txBox="1"/>
          <p:nvPr/>
        </p:nvSpPr>
        <p:spPr>
          <a:xfrm>
            <a:off x="62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seq=4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r">
            <a:extLst>
              <a:ext uri="{FF2B5EF4-FFF2-40B4-BE49-F238E27FC236}">
                <a16:creationId xmlns:a16="http://schemas.microsoft.com/office/drawing/2014/main" id="{15165454-3138-2205-B070-6A3575EABC99}"/>
              </a:ext>
            </a:extLst>
          </p:cNvPr>
          <p:cNvSpPr/>
          <p:nvPr/>
        </p:nvSpPr>
        <p:spPr>
          <a:xfrm>
            <a:off x="734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">
            <a:extLst>
              <a:ext uri="{FF2B5EF4-FFF2-40B4-BE49-F238E27FC236}">
                <a16:creationId xmlns:a16="http://schemas.microsoft.com/office/drawing/2014/main" id="{B0A0EE84-50AB-8E3A-2AFD-6A0BD5CF5C6A}"/>
              </a:ext>
            </a:extLst>
          </p:cNvPr>
          <p:cNvSpPr txBox="1"/>
          <p:nvPr/>
        </p:nvSpPr>
        <p:spPr>
          <a:xfrm>
            <a:off x="734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seq=5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56D90160-F512-8BCC-B646-312358CFA5D5}"/>
              </a:ext>
            </a:extLst>
          </p:cNvPr>
          <p:cNvSpPr txBox="1"/>
          <p:nvPr/>
        </p:nvSpPr>
        <p:spPr>
          <a:xfrm>
            <a:off x="8520000" y="1460000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→ 독립(병렬 후보)</a:t>
            </a:r>
          </a:p>
        </p:txBody>
      </p:sp>
      <p:sp>
        <p:nvSpPr>
          <p:cNvPr id="24" name="t">
            <a:extLst>
              <a:ext uri="{FF2B5EF4-FFF2-40B4-BE49-F238E27FC236}">
                <a16:creationId xmlns:a16="http://schemas.microsoft.com/office/drawing/2014/main" id="{69142E1E-0B9E-16EC-D38E-D483875913F3}"/>
              </a:ext>
            </a:extLst>
          </p:cNvPr>
          <p:cNvSpPr txBox="1"/>
          <p:nvPr/>
        </p:nvSpPr>
        <p:spPr>
          <a:xfrm>
            <a:off x="640080" y="21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25" name="t">
            <a:extLst>
              <a:ext uri="{FF2B5EF4-FFF2-40B4-BE49-F238E27FC236}">
                <a16:creationId xmlns:a16="http://schemas.microsoft.com/office/drawing/2014/main" id="{F50AF791-57C3-E7A2-98AE-028BCE751902}"/>
              </a:ext>
            </a:extLst>
          </p:cNvPr>
          <p:cNvSpPr txBox="1"/>
          <p:nvPr/>
        </p:nvSpPr>
        <p:spPr>
          <a:xfrm>
            <a:off x="15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① T1 적용</a:t>
            </a:r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F766AB75-217E-9CBA-E9B8-98D0ABEDC7C2}"/>
              </a:ext>
            </a:extLst>
          </p:cNvPr>
          <p:cNvSpPr txBox="1"/>
          <p:nvPr/>
        </p:nvSpPr>
        <p:spPr>
          <a:xfrm>
            <a:off x="347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② T2 적용</a:t>
            </a:r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D7E6CD5B-31AD-D522-D507-4E4FE57E8C20}"/>
              </a:ext>
            </a:extLst>
          </p:cNvPr>
          <p:cNvSpPr txBox="1"/>
          <p:nvPr/>
        </p:nvSpPr>
        <p:spPr>
          <a:xfrm>
            <a:off x="54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E87A2B"/>
                </a:solidFill>
                <a:latin typeface="맑은 고딕"/>
              </a:rPr>
              <a:t>③ T3·T4·T5 동시</a:t>
            </a:r>
          </a:p>
        </p:txBody>
      </p:sp>
      <p:sp>
        <p:nvSpPr>
          <p:cNvPr id="28" name="t">
            <a:extLst>
              <a:ext uri="{FF2B5EF4-FFF2-40B4-BE49-F238E27FC236}">
                <a16:creationId xmlns:a16="http://schemas.microsoft.com/office/drawing/2014/main" id="{49412E13-7A13-A8DB-8B58-87C7EA2DFE08}"/>
              </a:ext>
            </a:extLst>
          </p:cNvPr>
          <p:cNvSpPr txBox="1"/>
          <p:nvPr/>
        </p:nvSpPr>
        <p:spPr>
          <a:xfrm>
            <a:off x="720000" y="252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29" name="t">
            <a:extLst>
              <a:ext uri="{FF2B5EF4-FFF2-40B4-BE49-F238E27FC236}">
                <a16:creationId xmlns:a16="http://schemas.microsoft.com/office/drawing/2014/main" id="{866B7050-1517-BADF-9ADC-3EA4A8D71C2A}"/>
              </a:ext>
            </a:extLst>
          </p:cNvPr>
          <p:cNvSpPr txBox="1"/>
          <p:nvPr/>
        </p:nvSpPr>
        <p:spPr>
          <a:xfrm>
            <a:off x="720000" y="314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FF9356AC-9F96-91BC-4AB2-FD86E640D508}"/>
              </a:ext>
            </a:extLst>
          </p:cNvPr>
          <p:cNvSpPr txBox="1"/>
          <p:nvPr/>
        </p:nvSpPr>
        <p:spPr>
          <a:xfrm>
            <a:off x="720000" y="376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31" name="r">
            <a:extLst>
              <a:ext uri="{FF2B5EF4-FFF2-40B4-BE49-F238E27FC236}">
                <a16:creationId xmlns:a16="http://schemas.microsoft.com/office/drawing/2014/main" id="{27AA610F-A2A5-ABC2-D5E0-DD28547AFF63}"/>
              </a:ext>
            </a:extLst>
          </p:cNvPr>
          <p:cNvSpPr/>
          <p:nvPr/>
        </p:nvSpPr>
        <p:spPr>
          <a:xfrm>
            <a:off x="152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118B39B3-C236-DC91-FD42-AE008CF83D46}"/>
              </a:ext>
            </a:extLst>
          </p:cNvPr>
          <p:cNvSpPr txBox="1"/>
          <p:nvPr/>
        </p:nvSpPr>
        <p:spPr>
          <a:xfrm>
            <a:off x="152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sp>
        <p:nvSpPr>
          <p:cNvPr id="33" name="r">
            <a:extLst>
              <a:ext uri="{FF2B5EF4-FFF2-40B4-BE49-F238E27FC236}">
                <a16:creationId xmlns:a16="http://schemas.microsoft.com/office/drawing/2014/main" id="{12EACA92-28AA-9AD0-E833-BC1D85C3EB35}"/>
              </a:ext>
            </a:extLst>
          </p:cNvPr>
          <p:cNvSpPr/>
          <p:nvPr/>
        </p:nvSpPr>
        <p:spPr>
          <a:xfrm>
            <a:off x="347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2223E64D-A124-9ABC-A3FB-A162D0D49F27}"/>
              </a:ext>
            </a:extLst>
          </p:cNvPr>
          <p:cNvSpPr txBox="1"/>
          <p:nvPr/>
        </p:nvSpPr>
        <p:spPr>
          <a:xfrm>
            <a:off x="347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T2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8AFF3CA-D9AD-2F8B-ED17-8CB94E789AD3}"/>
              </a:ext>
            </a:extLst>
          </p:cNvPr>
          <p:cNvGrpSpPr/>
          <p:nvPr/>
        </p:nvGrpSpPr>
        <p:grpSpPr>
          <a:xfrm>
            <a:off x="5420000" y="2520000"/>
            <a:ext cx="1900000" cy="520000"/>
            <a:chOff x="5420000" y="2520000"/>
            <a:chExt cx="1900000" cy="520000"/>
          </a:xfrm>
        </p:grpSpPr>
        <p:sp>
          <p:nvSpPr>
            <p:cNvPr id="35" name="r">
              <a:extLst>
                <a:ext uri="{FF2B5EF4-FFF2-40B4-BE49-F238E27FC236}">
                  <a16:creationId xmlns:a16="http://schemas.microsoft.com/office/drawing/2014/main" id="{61F5871F-646A-45A6-1F38-365BB65C7CEA}"/>
                </a:ext>
              </a:extLst>
            </p:cNvPr>
            <p:cNvSpPr/>
            <p:nvPr/>
          </p:nvSpPr>
          <p:spPr>
            <a:xfrm>
              <a:off x="5420000" y="252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">
              <a:extLst>
                <a:ext uri="{FF2B5EF4-FFF2-40B4-BE49-F238E27FC236}">
                  <a16:creationId xmlns:a16="http://schemas.microsoft.com/office/drawing/2014/main" id="{78ECB978-ECD9-529B-26D5-96D7FD980AA3}"/>
                </a:ext>
              </a:extLst>
            </p:cNvPr>
            <p:cNvSpPr txBox="1"/>
            <p:nvPr/>
          </p:nvSpPr>
          <p:spPr>
            <a:xfrm>
              <a:off x="5420000" y="252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</p:txBody>
        </p:sp>
      </p:grpSp>
      <p:sp>
        <p:nvSpPr>
          <p:cNvPr id="37" name="r">
            <a:extLst>
              <a:ext uri="{FF2B5EF4-FFF2-40B4-BE49-F238E27FC236}">
                <a16:creationId xmlns:a16="http://schemas.microsoft.com/office/drawing/2014/main" id="{496F1A21-B1E7-2312-5DF0-C1366D684AC1}"/>
              </a:ext>
            </a:extLst>
          </p:cNvPr>
          <p:cNvSpPr/>
          <p:nvPr/>
        </p:nvSpPr>
        <p:spPr>
          <a:xfrm>
            <a:off x="1520000" y="314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5FDC7493-8937-05D5-DF92-4EFBB250A70C}"/>
              </a:ext>
            </a:extLst>
          </p:cNvPr>
          <p:cNvSpPr txBox="1"/>
          <p:nvPr/>
        </p:nvSpPr>
        <p:spPr>
          <a:xfrm>
            <a:off x="1520000" y="314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75BE507-01BB-5D6A-DEF0-BB58AC74962A}"/>
              </a:ext>
            </a:extLst>
          </p:cNvPr>
          <p:cNvGrpSpPr/>
          <p:nvPr/>
        </p:nvGrpSpPr>
        <p:grpSpPr>
          <a:xfrm>
            <a:off x="5420000" y="3140000"/>
            <a:ext cx="1900000" cy="520000"/>
            <a:chOff x="5420000" y="3140000"/>
            <a:chExt cx="1900000" cy="520000"/>
          </a:xfrm>
        </p:grpSpPr>
        <p:sp>
          <p:nvSpPr>
            <p:cNvPr id="39" name="r">
              <a:extLst>
                <a:ext uri="{FF2B5EF4-FFF2-40B4-BE49-F238E27FC236}">
                  <a16:creationId xmlns:a16="http://schemas.microsoft.com/office/drawing/2014/main" id="{EFC557B4-9544-0C9D-CB9F-298AE3D0E120}"/>
                </a:ext>
              </a:extLst>
            </p:cNvPr>
            <p:cNvSpPr/>
            <p:nvPr/>
          </p:nvSpPr>
          <p:spPr>
            <a:xfrm>
              <a:off x="5420000" y="314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">
              <a:extLst>
                <a:ext uri="{FF2B5EF4-FFF2-40B4-BE49-F238E27FC236}">
                  <a16:creationId xmlns:a16="http://schemas.microsoft.com/office/drawing/2014/main" id="{50BF67C5-3F22-7A39-568B-A47C8DC1AEBA}"/>
                </a:ext>
              </a:extLst>
            </p:cNvPr>
            <p:cNvSpPr txBox="1"/>
            <p:nvPr/>
          </p:nvSpPr>
          <p:spPr>
            <a:xfrm>
              <a:off x="5420000" y="314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T4</a:t>
              </a:r>
            </a:p>
          </p:txBody>
        </p:sp>
      </p:grpSp>
      <p:sp>
        <p:nvSpPr>
          <p:cNvPr id="41" name="r">
            <a:extLst>
              <a:ext uri="{FF2B5EF4-FFF2-40B4-BE49-F238E27FC236}">
                <a16:creationId xmlns:a16="http://schemas.microsoft.com/office/drawing/2014/main" id="{9E7991E5-1DE5-B34F-6BCC-7E3D2986457C}"/>
              </a:ext>
            </a:extLst>
          </p:cNvPr>
          <p:cNvSpPr/>
          <p:nvPr/>
        </p:nvSpPr>
        <p:spPr>
          <a:xfrm>
            <a:off x="1520000" y="376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">
            <a:extLst>
              <a:ext uri="{FF2B5EF4-FFF2-40B4-BE49-F238E27FC236}">
                <a16:creationId xmlns:a16="http://schemas.microsoft.com/office/drawing/2014/main" id="{1AEAD2F7-4409-6AD6-FD2A-9F207718F9B5}"/>
              </a:ext>
            </a:extLst>
          </p:cNvPr>
          <p:cNvSpPr txBox="1"/>
          <p:nvPr/>
        </p:nvSpPr>
        <p:spPr>
          <a:xfrm>
            <a:off x="1520000" y="376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A55EB56-83B5-9F65-6DE4-938F88AC26E9}"/>
              </a:ext>
            </a:extLst>
          </p:cNvPr>
          <p:cNvGrpSpPr/>
          <p:nvPr/>
        </p:nvGrpSpPr>
        <p:grpSpPr>
          <a:xfrm>
            <a:off x="5420000" y="3760000"/>
            <a:ext cx="1900000" cy="520000"/>
            <a:chOff x="5420000" y="3760000"/>
            <a:chExt cx="1900000" cy="520000"/>
          </a:xfrm>
        </p:grpSpPr>
        <p:sp>
          <p:nvSpPr>
            <p:cNvPr id="43" name="r">
              <a:extLst>
                <a:ext uri="{FF2B5EF4-FFF2-40B4-BE49-F238E27FC236}">
                  <a16:creationId xmlns:a16="http://schemas.microsoft.com/office/drawing/2014/main" id="{189B2675-4B05-FA2A-4D3A-4EB1F357A41F}"/>
                </a:ext>
              </a:extLst>
            </p:cNvPr>
            <p:cNvSpPr/>
            <p:nvPr/>
          </p:nvSpPr>
          <p:spPr>
            <a:xfrm>
              <a:off x="5420000" y="376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">
              <a:extLst>
                <a:ext uri="{FF2B5EF4-FFF2-40B4-BE49-F238E27FC236}">
                  <a16:creationId xmlns:a16="http://schemas.microsoft.com/office/drawing/2014/main" id="{1DF6ADF7-69A5-0204-C88E-533D78EA5408}"/>
                </a:ext>
              </a:extLst>
            </p:cNvPr>
            <p:cNvSpPr txBox="1"/>
            <p:nvPr/>
          </p:nvSpPr>
          <p:spPr>
            <a:xfrm>
              <a:off x="5420000" y="376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T5</a:t>
              </a:r>
            </a:p>
          </p:txBody>
        </p:sp>
      </p:grpSp>
      <p:sp>
        <p:nvSpPr>
          <p:cNvPr id="45" name="t">
            <a:extLst>
              <a:ext uri="{FF2B5EF4-FFF2-40B4-BE49-F238E27FC236}">
                <a16:creationId xmlns:a16="http://schemas.microsoft.com/office/drawing/2014/main" id="{D2EB30F5-C1AB-B382-F87A-55B11F44DB92}"/>
              </a:ext>
            </a:extLst>
          </p:cNvPr>
          <p:cNvSpPr txBox="1"/>
          <p:nvPr/>
        </p:nvSpPr>
        <p:spPr>
          <a:xfrm>
            <a:off x="1520000" y="436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8A939E"/>
                </a:solidFill>
                <a:latin typeface="맑은 고딕"/>
              </a:rPr>
              <a:t>병렬도 1 (사슬)</a:t>
            </a:r>
          </a:p>
        </p:txBody>
      </p:sp>
      <p:sp>
        <p:nvSpPr>
          <p:cNvPr id="46" name="t">
            <a:extLst>
              <a:ext uri="{FF2B5EF4-FFF2-40B4-BE49-F238E27FC236}">
                <a16:creationId xmlns:a16="http://schemas.microsoft.com/office/drawing/2014/main" id="{8A1F09ED-F123-2F92-FDD9-0137E4E3DA68}"/>
              </a:ext>
            </a:extLst>
          </p:cNvPr>
          <p:cNvSpPr txBox="1"/>
          <p:nvPr/>
        </p:nvSpPr>
        <p:spPr>
          <a:xfrm>
            <a:off x="5420000" y="436000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</a:rPr>
              <a:t>병렬도 3 (풀가동)</a:t>
            </a:r>
          </a:p>
        </p:txBody>
      </p:sp>
      <p:sp>
        <p:nvSpPr>
          <p:cNvPr id="47" name="t">
            <a:extLst>
              <a:ext uri="{FF2B5EF4-FFF2-40B4-BE49-F238E27FC236}">
                <a16:creationId xmlns:a16="http://schemas.microsoft.com/office/drawing/2014/main" id="{5A8441F4-AA9E-FA1A-E37E-30285265DDEF}"/>
              </a:ext>
            </a:extLst>
          </p:cNvPr>
          <p:cNvSpPr txBox="1"/>
          <p:nvPr/>
        </p:nvSpPr>
        <p:spPr>
          <a:xfrm>
            <a:off x="640080" y="476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slave_committed_seq :  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0 → 1(T1) → 2(T2) → 3 → 4 → 5  </a:t>
            </a:r>
            <a:r>
              <a:rPr sz="1100" b="0">
                <a:solidFill>
                  <a:srgbClr val="8A939E"/>
                </a:solidFill>
                <a:latin typeface="맑은 고딕"/>
              </a:rPr>
              <a:t>(T3·T4·T5 는 commit_seq 순서로 durable, gap-free)</a:t>
            </a:r>
          </a:p>
        </p:txBody>
      </p:sp>
      <p:sp>
        <p:nvSpPr>
          <p:cNvPr id="48" name="t">
            <a:extLst>
              <a:ext uri="{FF2B5EF4-FFF2-40B4-BE49-F238E27FC236}">
                <a16:creationId xmlns:a16="http://schemas.microsoft.com/office/drawing/2014/main" id="{3CAE8065-3B19-59FC-F9E5-5BD8B2EF934D}"/>
              </a:ext>
            </a:extLst>
          </p:cNvPr>
          <p:cNvSpPr txBox="1"/>
          <p:nvPr/>
        </p:nvSpPr>
        <p:spPr>
          <a:xfrm>
            <a:off x="640080" y="5260000"/>
            <a:ext cx="1105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· 앞 구간(T1→T2): dep 사슬이라 한 번에 하나 →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워커 2개 놀고 병렬도 1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· 뒤 구간(T3·T4·T5): 셋 다 dep=2 → T2 끝나면 동시 dispatch → </a:t>
            </a:r>
            <a:r>
              <a:rPr sz="1250" b="1">
                <a:solidFill>
                  <a:srgbClr val="E87A2B"/>
                </a:solidFill>
                <a:latin typeface="맑은 고딕"/>
              </a:rPr>
              <a:t>워커 풀가동(병렬도 3)</a:t>
            </a:r>
          </a:p>
        </p:txBody>
      </p:sp>
    </p:spTree>
    <p:extLst>
      <p:ext uri="{BB962C8B-B14F-4D97-AF65-F5344CB8AC3E}">
        <p14:creationId xmlns:p14="http://schemas.microsoft.com/office/powerpoint/2010/main" val="30508489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95C4-9B13-99A3-B5C7-15F886F6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FBB76546-E6DA-161C-D618-5FF07B1FA97D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2D5C0100-8A85-2401-328D-4B1B1AAD9A94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568C7FF7-1F0B-402A-EDFB-A3348C5702BA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5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5A74E52F-79C7-689F-665D-068EE3C8397E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FE9EEC22-4DA7-7E4A-AB08-63789D37861C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13D586B0-58A8-831E-C5F4-33BD776B6715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140B01D7-B737-CBF6-6AF1-8342B787C73D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54E19C0D-AA45-4473-C54C-533B0429941C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의존 그래프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61F680A6-32E7-94DE-77A5-371C5EB5F812}"/>
              </a:ext>
            </a:extLst>
          </p:cNvPr>
          <p:cNvSpPr/>
          <p:nvPr/>
        </p:nvSpPr>
        <p:spPr>
          <a:xfrm>
            <a:off x="210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2B2469F7-59F6-EA3D-760B-C2DAC790815E}"/>
              </a:ext>
            </a:extLst>
          </p:cNvPr>
          <p:cNvSpPr txBox="1"/>
          <p:nvPr/>
        </p:nvSpPr>
        <p:spPr>
          <a:xfrm>
            <a:off x="21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dep=0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seq=1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EA938EAC-23C0-5DD2-6D4F-7EF148FBF9FA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7EDF0CF9-03BE-284A-F5DD-2FAF8AAD6684}"/>
              </a:ext>
            </a:extLst>
          </p:cNvPr>
          <p:cNvSpPr/>
          <p:nvPr/>
        </p:nvSpPr>
        <p:spPr>
          <a:xfrm>
            <a:off x="358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DBAC5894-967D-71A3-A509-8093FBF15B2C}"/>
              </a:ext>
            </a:extLst>
          </p:cNvPr>
          <p:cNvSpPr txBox="1"/>
          <p:nvPr/>
        </p:nvSpPr>
        <p:spPr>
          <a:xfrm>
            <a:off x="358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dep=1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seq=2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FC982BAB-D447-7B6A-D057-8B77186ADF33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056F0F05-B8EF-EB98-E9AD-7C2F334EF1F3}"/>
              </a:ext>
            </a:extLst>
          </p:cNvPr>
          <p:cNvSpPr/>
          <p:nvPr/>
        </p:nvSpPr>
        <p:spPr>
          <a:xfrm>
            <a:off x="506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CFA6C5E5-D40F-5FFF-C72C-36C09A6E843C}"/>
              </a:ext>
            </a:extLst>
          </p:cNvPr>
          <p:cNvSpPr txBox="1"/>
          <p:nvPr/>
        </p:nvSpPr>
        <p:spPr>
          <a:xfrm>
            <a:off x="506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seq=3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58FCF13C-A3DE-7527-8896-55CD318F4AA4}"/>
              </a:ext>
            </a:extLst>
          </p:cNvPr>
          <p:cNvSpPr/>
          <p:nvPr/>
        </p:nvSpPr>
        <p:spPr>
          <a:xfrm>
            <a:off x="620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045BE674-4FE0-F7CD-5A44-63307240A47F}"/>
              </a:ext>
            </a:extLst>
          </p:cNvPr>
          <p:cNvSpPr txBox="1"/>
          <p:nvPr/>
        </p:nvSpPr>
        <p:spPr>
          <a:xfrm>
            <a:off x="62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dirty="0">
                <a:solidFill>
                  <a:srgbClr val="FFFFFF"/>
                </a:solidFill>
                <a:latin typeface="맑은 고딕"/>
              </a:rPr>
              <a:t>, seq=4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r">
            <a:extLst>
              <a:ext uri="{FF2B5EF4-FFF2-40B4-BE49-F238E27FC236}">
                <a16:creationId xmlns:a16="http://schemas.microsoft.com/office/drawing/2014/main" id="{EB47DA31-1816-E008-82C3-4A20C557A8A2}"/>
              </a:ext>
            </a:extLst>
          </p:cNvPr>
          <p:cNvSpPr/>
          <p:nvPr/>
        </p:nvSpPr>
        <p:spPr>
          <a:xfrm>
            <a:off x="734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">
            <a:extLst>
              <a:ext uri="{FF2B5EF4-FFF2-40B4-BE49-F238E27FC236}">
                <a16:creationId xmlns:a16="http://schemas.microsoft.com/office/drawing/2014/main" id="{C49B82A1-5496-674D-4A62-FD068A1C01F8}"/>
              </a:ext>
            </a:extLst>
          </p:cNvPr>
          <p:cNvSpPr txBox="1"/>
          <p:nvPr/>
        </p:nvSpPr>
        <p:spPr>
          <a:xfrm>
            <a:off x="734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seq=5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BFFDD069-97DA-91B8-1C17-65B9AB016C64}"/>
              </a:ext>
            </a:extLst>
          </p:cNvPr>
          <p:cNvSpPr txBox="1"/>
          <p:nvPr/>
        </p:nvSpPr>
        <p:spPr>
          <a:xfrm>
            <a:off x="8520000" y="1460000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→ 독립(병렬 후보)</a:t>
            </a:r>
          </a:p>
        </p:txBody>
      </p:sp>
      <p:sp>
        <p:nvSpPr>
          <p:cNvPr id="24" name="t">
            <a:extLst>
              <a:ext uri="{FF2B5EF4-FFF2-40B4-BE49-F238E27FC236}">
                <a16:creationId xmlns:a16="http://schemas.microsoft.com/office/drawing/2014/main" id="{35E328F6-6D34-6F7B-529C-CB77ACBAE49E}"/>
              </a:ext>
            </a:extLst>
          </p:cNvPr>
          <p:cNvSpPr txBox="1"/>
          <p:nvPr/>
        </p:nvSpPr>
        <p:spPr>
          <a:xfrm>
            <a:off x="640080" y="21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25" name="t">
            <a:extLst>
              <a:ext uri="{FF2B5EF4-FFF2-40B4-BE49-F238E27FC236}">
                <a16:creationId xmlns:a16="http://schemas.microsoft.com/office/drawing/2014/main" id="{6D6592D9-98F8-3D87-9F96-CDE92F4DEB29}"/>
              </a:ext>
            </a:extLst>
          </p:cNvPr>
          <p:cNvSpPr txBox="1"/>
          <p:nvPr/>
        </p:nvSpPr>
        <p:spPr>
          <a:xfrm>
            <a:off x="15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① T1 적용</a:t>
            </a:r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18D5B298-EAB4-7514-D869-0F011D5E08B0}"/>
              </a:ext>
            </a:extLst>
          </p:cNvPr>
          <p:cNvSpPr txBox="1"/>
          <p:nvPr/>
        </p:nvSpPr>
        <p:spPr>
          <a:xfrm>
            <a:off x="347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② T2 적용</a:t>
            </a:r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08B56178-6B1C-19D1-2394-4C9D5A37487B}"/>
              </a:ext>
            </a:extLst>
          </p:cNvPr>
          <p:cNvSpPr txBox="1"/>
          <p:nvPr/>
        </p:nvSpPr>
        <p:spPr>
          <a:xfrm>
            <a:off x="54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E87A2B"/>
                </a:solidFill>
                <a:latin typeface="맑은 고딕"/>
              </a:rPr>
              <a:t>③ T3·T4·T5 동시</a:t>
            </a:r>
          </a:p>
        </p:txBody>
      </p:sp>
      <p:sp>
        <p:nvSpPr>
          <p:cNvPr id="28" name="t">
            <a:extLst>
              <a:ext uri="{FF2B5EF4-FFF2-40B4-BE49-F238E27FC236}">
                <a16:creationId xmlns:a16="http://schemas.microsoft.com/office/drawing/2014/main" id="{87B39D32-5112-C851-F556-E9FEB07E046F}"/>
              </a:ext>
            </a:extLst>
          </p:cNvPr>
          <p:cNvSpPr txBox="1"/>
          <p:nvPr/>
        </p:nvSpPr>
        <p:spPr>
          <a:xfrm>
            <a:off x="720000" y="252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29" name="t">
            <a:extLst>
              <a:ext uri="{FF2B5EF4-FFF2-40B4-BE49-F238E27FC236}">
                <a16:creationId xmlns:a16="http://schemas.microsoft.com/office/drawing/2014/main" id="{1D6D0C8B-5DD0-7093-3C61-C06FE3D2F20E}"/>
              </a:ext>
            </a:extLst>
          </p:cNvPr>
          <p:cNvSpPr txBox="1"/>
          <p:nvPr/>
        </p:nvSpPr>
        <p:spPr>
          <a:xfrm>
            <a:off x="720000" y="314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767B0ED9-A7F0-63E4-032C-0F7EA18E8EAF}"/>
              </a:ext>
            </a:extLst>
          </p:cNvPr>
          <p:cNvSpPr txBox="1"/>
          <p:nvPr/>
        </p:nvSpPr>
        <p:spPr>
          <a:xfrm>
            <a:off x="720000" y="376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31" name="r">
            <a:extLst>
              <a:ext uri="{FF2B5EF4-FFF2-40B4-BE49-F238E27FC236}">
                <a16:creationId xmlns:a16="http://schemas.microsoft.com/office/drawing/2014/main" id="{4EB4B51B-C017-4B1D-5FEA-B3691C503DE2}"/>
              </a:ext>
            </a:extLst>
          </p:cNvPr>
          <p:cNvSpPr/>
          <p:nvPr/>
        </p:nvSpPr>
        <p:spPr>
          <a:xfrm>
            <a:off x="152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44B5FF7-E6D1-C966-838A-251433F8DD35}"/>
              </a:ext>
            </a:extLst>
          </p:cNvPr>
          <p:cNvSpPr txBox="1"/>
          <p:nvPr/>
        </p:nvSpPr>
        <p:spPr>
          <a:xfrm>
            <a:off x="152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sp>
        <p:nvSpPr>
          <p:cNvPr id="33" name="r">
            <a:extLst>
              <a:ext uri="{FF2B5EF4-FFF2-40B4-BE49-F238E27FC236}">
                <a16:creationId xmlns:a16="http://schemas.microsoft.com/office/drawing/2014/main" id="{A02E7F6D-DF5E-AB97-E9FA-2B88B3EBDA7D}"/>
              </a:ext>
            </a:extLst>
          </p:cNvPr>
          <p:cNvSpPr/>
          <p:nvPr/>
        </p:nvSpPr>
        <p:spPr>
          <a:xfrm>
            <a:off x="347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624A7AD4-0913-0DDE-3D1F-3956F81D45BD}"/>
              </a:ext>
            </a:extLst>
          </p:cNvPr>
          <p:cNvSpPr txBox="1"/>
          <p:nvPr/>
        </p:nvSpPr>
        <p:spPr>
          <a:xfrm>
            <a:off x="347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T2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BA5186C-E3A0-312F-F3CE-D9406E9EB597}"/>
              </a:ext>
            </a:extLst>
          </p:cNvPr>
          <p:cNvGrpSpPr/>
          <p:nvPr/>
        </p:nvGrpSpPr>
        <p:grpSpPr>
          <a:xfrm>
            <a:off x="5420000" y="2520000"/>
            <a:ext cx="1900000" cy="520000"/>
            <a:chOff x="5420000" y="2520000"/>
            <a:chExt cx="1900000" cy="520000"/>
          </a:xfrm>
        </p:grpSpPr>
        <p:sp>
          <p:nvSpPr>
            <p:cNvPr id="35" name="r">
              <a:extLst>
                <a:ext uri="{FF2B5EF4-FFF2-40B4-BE49-F238E27FC236}">
                  <a16:creationId xmlns:a16="http://schemas.microsoft.com/office/drawing/2014/main" id="{CEDB7849-34D5-88F1-C402-979D180A093C}"/>
                </a:ext>
              </a:extLst>
            </p:cNvPr>
            <p:cNvSpPr/>
            <p:nvPr/>
          </p:nvSpPr>
          <p:spPr>
            <a:xfrm>
              <a:off x="5420000" y="252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">
              <a:extLst>
                <a:ext uri="{FF2B5EF4-FFF2-40B4-BE49-F238E27FC236}">
                  <a16:creationId xmlns:a16="http://schemas.microsoft.com/office/drawing/2014/main" id="{0DD6CF6E-64A5-0F01-8580-CB4AFAF14416}"/>
                </a:ext>
              </a:extLst>
            </p:cNvPr>
            <p:cNvSpPr txBox="1"/>
            <p:nvPr/>
          </p:nvSpPr>
          <p:spPr>
            <a:xfrm>
              <a:off x="5420000" y="252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</p:txBody>
        </p:sp>
      </p:grpSp>
      <p:sp>
        <p:nvSpPr>
          <p:cNvPr id="37" name="r">
            <a:extLst>
              <a:ext uri="{FF2B5EF4-FFF2-40B4-BE49-F238E27FC236}">
                <a16:creationId xmlns:a16="http://schemas.microsoft.com/office/drawing/2014/main" id="{391B343B-A137-5AD8-3289-D8E3651E4944}"/>
              </a:ext>
            </a:extLst>
          </p:cNvPr>
          <p:cNvSpPr/>
          <p:nvPr/>
        </p:nvSpPr>
        <p:spPr>
          <a:xfrm>
            <a:off x="1520000" y="314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D6AF9231-3CBE-39C9-0D77-4163FA8C639B}"/>
              </a:ext>
            </a:extLst>
          </p:cNvPr>
          <p:cNvSpPr txBox="1"/>
          <p:nvPr/>
        </p:nvSpPr>
        <p:spPr>
          <a:xfrm>
            <a:off x="1520000" y="314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55AF45-58AF-B4A6-DFCA-B9DCD8658A91}"/>
              </a:ext>
            </a:extLst>
          </p:cNvPr>
          <p:cNvGrpSpPr/>
          <p:nvPr/>
        </p:nvGrpSpPr>
        <p:grpSpPr>
          <a:xfrm>
            <a:off x="5420000" y="3140000"/>
            <a:ext cx="1900000" cy="520000"/>
            <a:chOff x="5420000" y="3140000"/>
            <a:chExt cx="1900000" cy="520000"/>
          </a:xfrm>
        </p:grpSpPr>
        <p:sp>
          <p:nvSpPr>
            <p:cNvPr id="39" name="r">
              <a:extLst>
                <a:ext uri="{FF2B5EF4-FFF2-40B4-BE49-F238E27FC236}">
                  <a16:creationId xmlns:a16="http://schemas.microsoft.com/office/drawing/2014/main" id="{932C2826-311C-676F-10E0-6150B4C81184}"/>
                </a:ext>
              </a:extLst>
            </p:cNvPr>
            <p:cNvSpPr/>
            <p:nvPr/>
          </p:nvSpPr>
          <p:spPr>
            <a:xfrm>
              <a:off x="5420000" y="314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">
              <a:extLst>
                <a:ext uri="{FF2B5EF4-FFF2-40B4-BE49-F238E27FC236}">
                  <a16:creationId xmlns:a16="http://schemas.microsoft.com/office/drawing/2014/main" id="{A59BEB2B-39A1-B836-065D-F77508D7645C}"/>
                </a:ext>
              </a:extLst>
            </p:cNvPr>
            <p:cNvSpPr txBox="1"/>
            <p:nvPr/>
          </p:nvSpPr>
          <p:spPr>
            <a:xfrm>
              <a:off x="5420000" y="314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T4</a:t>
              </a:r>
            </a:p>
          </p:txBody>
        </p:sp>
      </p:grpSp>
      <p:sp>
        <p:nvSpPr>
          <p:cNvPr id="41" name="r">
            <a:extLst>
              <a:ext uri="{FF2B5EF4-FFF2-40B4-BE49-F238E27FC236}">
                <a16:creationId xmlns:a16="http://schemas.microsoft.com/office/drawing/2014/main" id="{CC47C12A-6903-A9E1-7DCB-B84274802DEE}"/>
              </a:ext>
            </a:extLst>
          </p:cNvPr>
          <p:cNvSpPr/>
          <p:nvPr/>
        </p:nvSpPr>
        <p:spPr>
          <a:xfrm>
            <a:off x="1520000" y="376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">
            <a:extLst>
              <a:ext uri="{FF2B5EF4-FFF2-40B4-BE49-F238E27FC236}">
                <a16:creationId xmlns:a16="http://schemas.microsoft.com/office/drawing/2014/main" id="{5C90A680-3776-4459-1ECD-D70FA2D9DD0A}"/>
              </a:ext>
            </a:extLst>
          </p:cNvPr>
          <p:cNvSpPr txBox="1"/>
          <p:nvPr/>
        </p:nvSpPr>
        <p:spPr>
          <a:xfrm>
            <a:off x="1520000" y="376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03AEB7B-28C3-6131-ED27-0B63A49A9531}"/>
              </a:ext>
            </a:extLst>
          </p:cNvPr>
          <p:cNvGrpSpPr/>
          <p:nvPr/>
        </p:nvGrpSpPr>
        <p:grpSpPr>
          <a:xfrm>
            <a:off x="5420000" y="3760000"/>
            <a:ext cx="1900000" cy="520000"/>
            <a:chOff x="5420000" y="3760000"/>
            <a:chExt cx="1900000" cy="520000"/>
          </a:xfrm>
        </p:grpSpPr>
        <p:sp>
          <p:nvSpPr>
            <p:cNvPr id="43" name="r">
              <a:extLst>
                <a:ext uri="{FF2B5EF4-FFF2-40B4-BE49-F238E27FC236}">
                  <a16:creationId xmlns:a16="http://schemas.microsoft.com/office/drawing/2014/main" id="{7ABB75CF-A7DF-FECF-2CDD-77C439DCBB08}"/>
                </a:ext>
              </a:extLst>
            </p:cNvPr>
            <p:cNvSpPr/>
            <p:nvPr/>
          </p:nvSpPr>
          <p:spPr>
            <a:xfrm>
              <a:off x="5420000" y="376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">
              <a:extLst>
                <a:ext uri="{FF2B5EF4-FFF2-40B4-BE49-F238E27FC236}">
                  <a16:creationId xmlns:a16="http://schemas.microsoft.com/office/drawing/2014/main" id="{C8221FA2-CA5F-454F-AC0D-DF3CD1859015}"/>
                </a:ext>
              </a:extLst>
            </p:cNvPr>
            <p:cNvSpPr txBox="1"/>
            <p:nvPr/>
          </p:nvSpPr>
          <p:spPr>
            <a:xfrm>
              <a:off x="5420000" y="376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T5</a:t>
              </a:r>
            </a:p>
          </p:txBody>
        </p:sp>
      </p:grpSp>
      <p:sp>
        <p:nvSpPr>
          <p:cNvPr id="45" name="t">
            <a:extLst>
              <a:ext uri="{FF2B5EF4-FFF2-40B4-BE49-F238E27FC236}">
                <a16:creationId xmlns:a16="http://schemas.microsoft.com/office/drawing/2014/main" id="{DDF932B9-6F9B-68D9-1FD1-6C460F4BB7F3}"/>
              </a:ext>
            </a:extLst>
          </p:cNvPr>
          <p:cNvSpPr txBox="1"/>
          <p:nvPr/>
        </p:nvSpPr>
        <p:spPr>
          <a:xfrm>
            <a:off x="1520000" y="436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8A939E"/>
                </a:solidFill>
                <a:latin typeface="맑은 고딕"/>
              </a:rPr>
              <a:t>병렬도 1 (사슬)</a:t>
            </a:r>
          </a:p>
        </p:txBody>
      </p:sp>
      <p:sp>
        <p:nvSpPr>
          <p:cNvPr id="46" name="t">
            <a:extLst>
              <a:ext uri="{FF2B5EF4-FFF2-40B4-BE49-F238E27FC236}">
                <a16:creationId xmlns:a16="http://schemas.microsoft.com/office/drawing/2014/main" id="{51E16892-BB8A-2247-A46B-B0A168A675EF}"/>
              </a:ext>
            </a:extLst>
          </p:cNvPr>
          <p:cNvSpPr txBox="1"/>
          <p:nvPr/>
        </p:nvSpPr>
        <p:spPr>
          <a:xfrm>
            <a:off x="5420000" y="436000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</a:rPr>
              <a:t>병렬도 3 (풀가동)</a:t>
            </a:r>
          </a:p>
        </p:txBody>
      </p:sp>
      <p:sp>
        <p:nvSpPr>
          <p:cNvPr id="48" name="t">
            <a:extLst>
              <a:ext uri="{FF2B5EF4-FFF2-40B4-BE49-F238E27FC236}">
                <a16:creationId xmlns:a16="http://schemas.microsoft.com/office/drawing/2014/main" id="{E7E1425A-5322-538F-4CDD-2FFA73A6E86D}"/>
              </a:ext>
            </a:extLst>
          </p:cNvPr>
          <p:cNvSpPr txBox="1"/>
          <p:nvPr/>
        </p:nvSpPr>
        <p:spPr>
          <a:xfrm>
            <a:off x="640080" y="5260000"/>
            <a:ext cx="1105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끝나는 시점의 </a:t>
            </a:r>
            <a:r>
              <a:rPr lang="en-US" altLang="ko-KR" sz="1250" b="0" dirty="0" err="1">
                <a:solidFill>
                  <a:srgbClr val="444B54"/>
                </a:solidFill>
                <a:latin typeface="맑은 고딕"/>
              </a:rPr>
              <a:t>scs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는 어떻게 </a:t>
            </a:r>
            <a:r>
              <a:rPr lang="ko-KR" altLang="en-US" sz="1250" b="0" dirty="0" err="1">
                <a:solidFill>
                  <a:srgbClr val="444B54"/>
                </a:solidFill>
                <a:latin typeface="맑은 고딕"/>
              </a:rPr>
              <a:t>결정되어야할까</a:t>
            </a:r>
            <a:r>
              <a:rPr lang="en-US" altLang="ko-KR" sz="1250" b="0" dirty="0">
                <a:solidFill>
                  <a:srgbClr val="444B54"/>
                </a:solidFill>
                <a:latin typeface="맑은 고딕"/>
              </a:rPr>
              <a:t>???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서버에서는 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T5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가장 늦게 끝났는데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,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ko-KR" altLang="en-US" sz="1250" dirty="0" err="1">
                <a:solidFill>
                  <a:srgbClr val="444B54"/>
                </a:solidFill>
                <a:latin typeface="맑은 고딕"/>
              </a:rPr>
              <a:t>슬레이브에서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T3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가 가장 늦게 끝나면 어떻게 될까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?</a:t>
            </a:r>
            <a:endParaRPr sz="1250" b="1" dirty="0">
              <a:solidFill>
                <a:srgbClr val="122A42"/>
              </a:solidFill>
              <a:latin typeface="맑은 고딕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06E4429-C0EF-9DF7-5A3A-DB7D8D984269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7320000" y="2410000"/>
            <a:ext cx="0" cy="210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4802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305" y="710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6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커밋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순서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대기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commit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게이트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122A42"/>
                </a:solidFill>
                <a:latin typeface="맑은 고딕"/>
              </a:rPr>
              <a:t>병렬 실행해도 durable commit 은 master commit 순서대로 (D.4)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27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80000"/>
            <a:ext cx="53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맑은 고딕"/>
              </a:rPr>
              <a:t>■ 왜 순서를 강제하나</a:t>
            </a:r>
          </a:p>
        </p:txBody>
      </p:sp>
      <p:sp>
        <p:nvSpPr>
          <p:cNvPr id="11" name="t"/>
          <p:cNvSpPr txBox="1"/>
          <p:nvPr/>
        </p:nvSpPr>
        <p:spPr>
          <a:xfrm>
            <a:off x="640080" y="1900000"/>
            <a:ext cx="5350000" cy="1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60"/>
              </a:spcAft>
            </a:pPr>
            <a:r>
              <a:rPr sz="1250" b="1" dirty="0">
                <a:solidFill>
                  <a:srgbClr val="E87A2B"/>
                </a:solidFill>
                <a:latin typeface="맑은 고딕"/>
              </a:rPr>
              <a:t>①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외부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일관성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— source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에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없던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중간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상태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뒤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먼저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보이는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gap)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를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노출하지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않는다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dirty="0">
                <a:solidFill>
                  <a:srgbClr val="E87A2B"/>
                </a:solidFill>
                <a:latin typeface="맑은 고딕"/>
              </a:rPr>
              <a:t>② </a:t>
            </a:r>
            <a:r>
              <a:rPr sz="1250" b="1" dirty="0">
                <a:solidFill>
                  <a:srgbClr val="122A42"/>
                </a:solidFill>
                <a:latin typeface="맑은 고딕"/>
              </a:rPr>
              <a:t>gap-free </a:t>
            </a:r>
            <a:r>
              <a:rPr sz="1250" b="1" dirty="0" err="1">
                <a:solidFill>
                  <a:srgbClr val="122A42"/>
                </a:solidFill>
                <a:latin typeface="맑은 고딕"/>
              </a:rPr>
              <a:t>복구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— out-of-order durable commit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은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재시작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정합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(Act G)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을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444B54"/>
                </a:solidFill>
                <a:latin typeface="맑은 고딕"/>
              </a:rPr>
              <a:t>깬다</a:t>
            </a:r>
            <a:r>
              <a:rPr sz="1250" b="0" dirty="0">
                <a:solidFill>
                  <a:srgbClr val="444B54"/>
                </a:solidFill>
                <a:latin typeface="맑은 고딕"/>
              </a:rPr>
              <a:t>.</a:t>
            </a:r>
          </a:p>
        </p:txBody>
      </p:sp>
      <p:sp>
        <p:nvSpPr>
          <p:cNvPr id="12" name="r"/>
          <p:cNvSpPr/>
          <p:nvPr/>
        </p:nvSpPr>
        <p:spPr>
          <a:xfrm>
            <a:off x="640080" y="3500000"/>
            <a:ext cx="5350000" cy="223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810080" y="3630000"/>
            <a:ext cx="5010000" cy="197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80" b="1">
                <a:solidFill>
                  <a:srgbClr val="E87A2B"/>
                </a:solidFill>
                <a:latin typeface="Consolas"/>
              </a:rPr>
              <a:t>워커 commit 경로 (게이트)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① 등록      내 commit_seq 를 순서 큐에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② 차례 대기  앞 순번이 전부 durable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            commit 될 때까지 대기 (HOL)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③ commit    durable commit 실행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④ grant     다음 순번 깨움 +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20" b="0">
                <a:solidFill>
                  <a:srgbClr val="D8E6EE"/>
                </a:solidFill>
                <a:latin typeface="Consolas"/>
              </a:rPr>
              <a:t>            slave_committed_seq 전진</a:t>
            </a:r>
          </a:p>
        </p:txBody>
      </p:sp>
      <p:sp>
        <p:nvSpPr>
          <p:cNvPr id="14" name="r"/>
          <p:cNvSpPr/>
          <p:nvPr/>
        </p:nvSpPr>
        <p:spPr>
          <a:xfrm>
            <a:off x="6260000" y="1500000"/>
            <a:ext cx="5430000" cy="20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"/>
          <p:cNvSpPr/>
          <p:nvPr/>
        </p:nvSpPr>
        <p:spPr>
          <a:xfrm>
            <a:off x="6260000" y="1500000"/>
            <a:ext cx="543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"/>
          <p:cNvSpPr txBox="1"/>
          <p:nvPr/>
        </p:nvSpPr>
        <p:spPr>
          <a:xfrm>
            <a:off x="6410000" y="1500000"/>
            <a:ext cx="51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게이트가 보장하는 것</a:t>
            </a:r>
          </a:p>
        </p:txBody>
      </p:sp>
      <p:sp>
        <p:nvSpPr>
          <p:cNvPr id="17" name="t"/>
          <p:cNvSpPr txBox="1"/>
          <p:nvPr/>
        </p:nvSpPr>
        <p:spPr>
          <a:xfrm>
            <a:off x="6420000" y="2080000"/>
            <a:ext cx="511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gap 없이 durable commit 된 </a:t>
            </a:r>
            <a:r>
              <a:rPr sz="1200" b="1">
                <a:solidFill>
                  <a:srgbClr val="1F6F8B"/>
                </a:solidFill>
                <a:latin typeface="Consolas"/>
              </a:rPr>
              <a:t>연속 prefix 의 끝 = slave_committed_seq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이 gap-free 진도가 8-4 dispatch 비교(dep ≤ scs)의 전제이자 재시작 정합의 근거.</a:t>
            </a:r>
          </a:p>
        </p:txBody>
      </p:sp>
      <p:sp>
        <p:nvSpPr>
          <p:cNvPr id="18" name="r"/>
          <p:cNvSpPr/>
          <p:nvPr/>
        </p:nvSpPr>
        <p:spPr>
          <a:xfrm>
            <a:off x="6260000" y="3700000"/>
            <a:ext cx="5430000" cy="203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"/>
          <p:cNvSpPr/>
          <p:nvPr/>
        </p:nvSpPr>
        <p:spPr>
          <a:xfrm>
            <a:off x="6260000" y="3700000"/>
            <a:ext cx="5430000" cy="40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/>
          <p:cNvSpPr txBox="1"/>
          <p:nvPr/>
        </p:nvSpPr>
        <p:spPr>
          <a:xfrm>
            <a:off x="6410000" y="3700000"/>
            <a:ext cx="513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순서 보존 ≠ 순차 실행</a:t>
            </a:r>
          </a:p>
        </p:txBody>
      </p:sp>
      <p:sp>
        <p:nvSpPr>
          <p:cNvPr id="21" name="t"/>
          <p:cNvSpPr txBox="1"/>
          <p:nvPr/>
        </p:nvSpPr>
        <p:spPr>
          <a:xfrm>
            <a:off x="6420000" y="4280000"/>
            <a:ext cx="5110000" cy="13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8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무거운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적용은 병렬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, 가벼운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commit 도장만 순서대로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직렬이 강제되는 건 FK·같은 행처럼 순서가 중요한 쌍뿐, 나머지 독립 tx 는 온전히 병렬.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7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병렬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플러시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122A42"/>
                </a:solidFill>
                <a:latin typeface="맑은 고딕"/>
              </a:rPr>
              <a:t>워커들이 cub_server 에 동시에 적용·flush — 병렬화의 실효 구간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26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80000"/>
            <a:ext cx="5350000" cy="3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각 워커는 자기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작업 큐 · workspace · cub_server 세션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을 갖는다.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배정된 tx 를 적용해 워커별 리스트에 모았다가 </a:t>
            </a:r>
            <a:r>
              <a:rPr sz="1250" b="1">
                <a:solidFill>
                  <a:srgbClr val="E87A2B"/>
                </a:solidFill>
                <a:latin typeface="맑은 고딕"/>
              </a:rPr>
              <a:t>일괄 flush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(locator_repl_flush_all).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무거운 </a:t>
            </a:r>
            <a:r>
              <a:rPr sz="1250" b="1">
                <a:solidFill>
                  <a:srgbClr val="1F6F8B"/>
                </a:solidFill>
                <a:latin typeface="맑은 고딕"/>
              </a:rPr>
              <a:t>on-CPU apply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(로그 생성 prior_lsa · lock · page/space 할당) 가 워커마다 동시에 진행 — 여기서 슬레이브 멀티코어가 쓰인다.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PoC 에서 반영 시간 약 </a:t>
            </a:r>
            <a:r>
              <a:rPr sz="1250" b="1">
                <a:solidFill>
                  <a:srgbClr val="E87A2B"/>
                </a:solidFill>
                <a:latin typeface="맑은 고딕"/>
              </a:rPr>
              <a:t>3.4 배 단축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된 실제 구간이 바로 이 병렬 적용/flush 다.</a:t>
            </a:r>
          </a:p>
        </p:txBody>
      </p:sp>
      <p:sp>
        <p:nvSpPr>
          <p:cNvPr id="11" name="r"/>
          <p:cNvSpPr/>
          <p:nvPr/>
        </p:nvSpPr>
        <p:spPr>
          <a:xfrm>
            <a:off x="6260000" y="1700000"/>
            <a:ext cx="5430000" cy="240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6430000" y="1830000"/>
            <a:ext cx="5090000" cy="21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140" b="1">
                <a:solidFill>
                  <a:srgbClr val="E87A2B"/>
                </a:solidFill>
                <a:latin typeface="Consolas"/>
              </a:rPr>
              <a:t>병렬 적용 / flush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W1 ─ apply ─ flush ─┐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W2 ─ apply ─ flush ─┼─► cub_server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W3 ─ apply ─ flush ─┘   (동시 적용)</a:t>
            </a:r>
          </a:p>
          <a:p>
            <a:endParaRPr sz="540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· flush 까지만 병렬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· commit 은 아직 — 차례 게이트(8-6)</a:t>
            </a:r>
          </a:p>
        </p:txBody>
      </p:sp>
      <p:sp>
        <p:nvSpPr>
          <p:cNvPr id="13" name="t"/>
          <p:cNvSpPr txBox="1"/>
          <p:nvPr/>
        </p:nvSpPr>
        <p:spPr>
          <a:xfrm>
            <a:off x="6260000" y="4320000"/>
            <a:ext cx="543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flush 와 commit 은 분리된다 — 무거운 적용은 병렬, durable commit 만 다음 단계에서 순서대로.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5649C63-2546-9496-281B-E4F0CA70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040376"/>
            <a:ext cx="4199952" cy="1528129"/>
          </a:xfrm>
          <a:prstGeom prst="rect">
            <a:avLst/>
          </a:prstGeom>
        </p:spPr>
      </p:pic>
      <p:sp>
        <p:nvSpPr>
          <p:cNvPr id="15" name="t">
            <a:extLst>
              <a:ext uri="{FF2B5EF4-FFF2-40B4-BE49-F238E27FC236}">
                <a16:creationId xmlns:a16="http://schemas.microsoft.com/office/drawing/2014/main" id="{3CCE5470-6A1E-F171-3502-4DC4EEB263F1}"/>
              </a:ext>
            </a:extLst>
          </p:cNvPr>
          <p:cNvSpPr txBox="1"/>
          <p:nvPr/>
        </p:nvSpPr>
        <p:spPr>
          <a:xfrm>
            <a:off x="612648" y="3743702"/>
            <a:ext cx="2568442" cy="285107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altLang="en-US" sz="1200" b="0" dirty="0">
                <a:solidFill>
                  <a:srgbClr val="444B54"/>
                </a:solidFill>
                <a:latin typeface="맑은 고딕"/>
              </a:rPr>
              <a:t>병렬 전 주요 함수의 소요 시간</a:t>
            </a:r>
            <a:endParaRPr sz="1200" b="0" dirty="0">
              <a:solidFill>
                <a:srgbClr val="444B5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01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8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commit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순서를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지켜도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병렬인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이유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순서 보존 ≠ 순차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</a:rPr>
              <a:t>● "commit 순서를 지킬 거면 순차 적용과 뭐가 다른가?"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444B54"/>
                </a:solidFill>
                <a:latin typeface="맑은 고딕"/>
              </a:rPr>
              <a:t>– "실행"과 "commit 순서 보존"은 서로 다른 층이다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444B54"/>
                </a:solidFill>
                <a:latin typeface="맑은 고딕"/>
              </a:rPr>
              <a:t>– 비유: 여러 일꾼이 일은 동시에 하되(병렬 적용), "완료 도장"은 접수 순서대로 찍는다(commit 순서)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444B54"/>
                </a:solidFill>
                <a:latin typeface="맑은 고딕"/>
              </a:rPr>
              <a:t>– 무거운 적용은 워커들이 동시에 처리, 가벼운 commit·진도(committed_lsa)만 마스터 순서로 맞춘다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394960" cy="2286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9496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89534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직렬이 강제되는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07408"/>
            <a:ext cx="5065776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FK · 같은 행 처럼 순서가 실제로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중요한 쌍뿐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394960" cy="2286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9496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389534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병렬로 흐르는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07408"/>
            <a:ext cx="5065776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그 외 대다수 독립 트랜잭션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→ 병렬 적용의 이득은 그대로,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  외부에서는 항상 마스터와 같은 순서로만 보임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9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게이트는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둘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dispatch vs commit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순서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650" b="1" dirty="0">
                <a:solidFill>
                  <a:srgbClr val="122A42"/>
                </a:solidFill>
                <a:latin typeface="맑은 고딕"/>
              </a:rPr>
              <a:t>Slave</a:t>
            </a:r>
            <a:r>
              <a:rPr lang="ko-KR" altLang="en-US" sz="1650" b="1" dirty="0">
                <a:solidFill>
                  <a:srgbClr val="122A42"/>
                </a:solidFill>
                <a:latin typeface="맑은 고딕"/>
              </a:rPr>
              <a:t>는 </a:t>
            </a:r>
            <a:endParaRPr sz="165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28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80000" y="1640000"/>
            <a:ext cx="1400000" cy="6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"/>
          <p:cNvSpPr txBox="1"/>
          <p:nvPr/>
        </p:nvSpPr>
        <p:spPr>
          <a:xfrm>
            <a:off x="680000" y="1640000"/>
            <a:ext cx="140000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리더</a:t>
            </a:r>
          </a:p>
        </p:txBody>
      </p:sp>
      <p:sp>
        <p:nvSpPr>
          <p:cNvPr id="12" name="t"/>
          <p:cNvSpPr txBox="1"/>
          <p:nvPr/>
        </p:nvSpPr>
        <p:spPr>
          <a:xfrm>
            <a:off x="2110000" y="179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3" name="r"/>
          <p:cNvSpPr/>
          <p:nvPr/>
        </p:nvSpPr>
        <p:spPr>
          <a:xfrm>
            <a:off x="2480000" y="1640000"/>
            <a:ext cx="1650000" cy="6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"/>
          <p:cNvSpPr txBox="1"/>
          <p:nvPr/>
        </p:nvSpPr>
        <p:spPr>
          <a:xfrm>
            <a:off x="2480000" y="1640000"/>
            <a:ext cx="165000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코디네이터</a:t>
            </a:r>
          </a:p>
        </p:txBody>
      </p:sp>
      <p:sp>
        <p:nvSpPr>
          <p:cNvPr id="15" name="t"/>
          <p:cNvSpPr txBox="1"/>
          <p:nvPr/>
        </p:nvSpPr>
        <p:spPr>
          <a:xfrm>
            <a:off x="4150000" y="1390000"/>
            <a:ext cx="165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1" dirty="0" err="1">
                <a:solidFill>
                  <a:srgbClr val="1F6F8B"/>
                </a:solidFill>
                <a:latin typeface="맑은 고딕"/>
              </a:rPr>
              <a:t>게이트</a:t>
            </a:r>
            <a:r>
              <a:rPr sz="1000" b="1" dirty="0">
                <a:solidFill>
                  <a:srgbClr val="1F6F8B"/>
                </a:solidFill>
                <a:latin typeface="맑은 고딕"/>
              </a:rPr>
              <a:t>① </a:t>
            </a:r>
            <a:r>
              <a:rPr sz="1000" b="1" dirty="0" err="1">
                <a:solidFill>
                  <a:srgbClr val="1F6F8B"/>
                </a:solidFill>
                <a:latin typeface="맑은 고딕"/>
              </a:rPr>
              <a:t>dep≤scs</a:t>
            </a:r>
            <a:endParaRPr sz="10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16" name="t"/>
          <p:cNvSpPr txBox="1"/>
          <p:nvPr/>
        </p:nvSpPr>
        <p:spPr>
          <a:xfrm>
            <a:off x="4180000" y="1790000"/>
            <a:ext cx="148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7" name="r"/>
          <p:cNvSpPr/>
          <p:nvPr/>
        </p:nvSpPr>
        <p:spPr>
          <a:xfrm>
            <a:off x="5700000" y="1640000"/>
            <a:ext cx="1650000" cy="62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/>
          <p:cNvSpPr txBox="1"/>
          <p:nvPr/>
        </p:nvSpPr>
        <p:spPr>
          <a:xfrm>
            <a:off x="5700000" y="1640000"/>
            <a:ext cx="165000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워커 실행</a:t>
            </a:r>
          </a:p>
        </p:txBody>
      </p:sp>
      <p:sp>
        <p:nvSpPr>
          <p:cNvPr id="19" name="t"/>
          <p:cNvSpPr txBox="1"/>
          <p:nvPr/>
        </p:nvSpPr>
        <p:spPr>
          <a:xfrm>
            <a:off x="7370000" y="13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1" dirty="0" err="1">
                <a:solidFill>
                  <a:srgbClr val="E87A2B"/>
                </a:solidFill>
                <a:latin typeface="맑은 고딕"/>
              </a:rPr>
              <a:t>게이트</a:t>
            </a:r>
            <a:r>
              <a:rPr sz="1000" b="1" dirty="0">
                <a:solidFill>
                  <a:srgbClr val="E87A2B"/>
                </a:solidFill>
                <a:latin typeface="맑은 고딕"/>
              </a:rPr>
              <a:t>② </a:t>
            </a:r>
            <a:r>
              <a:rPr sz="1000" b="1" dirty="0" err="1">
                <a:solidFill>
                  <a:srgbClr val="E87A2B"/>
                </a:solidFill>
                <a:latin typeface="맑은 고딕"/>
              </a:rPr>
              <a:t>commit_seq</a:t>
            </a:r>
            <a:r>
              <a:rPr sz="10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E87A2B"/>
                </a:solidFill>
                <a:latin typeface="맑은 고딕"/>
              </a:rPr>
              <a:t>차례</a:t>
            </a:r>
            <a:endParaRPr sz="1000" b="1" dirty="0">
              <a:solidFill>
                <a:srgbClr val="E87A2B"/>
              </a:solidFill>
              <a:latin typeface="맑은 고딕"/>
            </a:endParaRPr>
          </a:p>
        </p:txBody>
      </p:sp>
      <p:sp>
        <p:nvSpPr>
          <p:cNvPr id="20" name="t"/>
          <p:cNvSpPr txBox="1"/>
          <p:nvPr/>
        </p:nvSpPr>
        <p:spPr>
          <a:xfrm>
            <a:off x="7390000" y="1790000"/>
            <a:ext cx="148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21" name="r"/>
          <p:cNvSpPr/>
          <p:nvPr/>
        </p:nvSpPr>
        <p:spPr>
          <a:xfrm>
            <a:off x="8920000" y="1640000"/>
            <a:ext cx="2500000" cy="620000"/>
          </a:xfrm>
          <a:prstGeom prst="round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"/>
          <p:cNvSpPr txBox="1"/>
          <p:nvPr/>
        </p:nvSpPr>
        <p:spPr>
          <a:xfrm>
            <a:off x="8920000" y="1640000"/>
            <a:ext cx="250000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durable commit → scs↑</a:t>
            </a:r>
          </a:p>
        </p:txBody>
      </p:sp>
      <p:sp>
        <p:nvSpPr>
          <p:cNvPr id="23" name="r"/>
          <p:cNvSpPr/>
          <p:nvPr/>
        </p:nvSpPr>
        <p:spPr>
          <a:xfrm>
            <a:off x="640080" y="2840000"/>
            <a:ext cx="5430000" cy="20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"/>
          <p:cNvSpPr/>
          <p:nvPr/>
        </p:nvSpPr>
        <p:spPr>
          <a:xfrm>
            <a:off x="640080" y="2840000"/>
            <a:ext cx="5430000" cy="3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/>
          <p:cNvSpPr txBox="1"/>
          <p:nvPr/>
        </p:nvSpPr>
        <p:spPr>
          <a:xfrm>
            <a:off x="780080" y="2840000"/>
            <a:ext cx="515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게이트① dispatch — 코디네이터</a:t>
            </a:r>
          </a:p>
        </p:txBody>
      </p:sp>
      <p:sp>
        <p:nvSpPr>
          <p:cNvPr id="26" name="t"/>
          <p:cNvSpPr txBox="1"/>
          <p:nvPr/>
        </p:nvSpPr>
        <p:spPr>
          <a:xfrm>
            <a:off x="800000" y="3300000"/>
            <a:ext cx="5110000" cy="1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검사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dependency_seq ≤ slave_committed_seq</a:t>
            </a:r>
          </a:p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시점 : 워커에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주기 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거짓이면 → </a:t>
            </a:r>
            <a:r>
              <a:rPr sz="1200" b="1">
                <a:solidFill>
                  <a:srgbClr val="E87A2B"/>
                </a:solidFill>
                <a:latin typeface="맑은 고딕"/>
              </a:rPr>
              <a:t>pending 보류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(워커에 안 줌)</a:t>
            </a:r>
          </a:p>
        </p:txBody>
      </p:sp>
      <p:sp>
        <p:nvSpPr>
          <p:cNvPr id="27" name="r"/>
          <p:cNvSpPr/>
          <p:nvPr/>
        </p:nvSpPr>
        <p:spPr>
          <a:xfrm>
            <a:off x="6260000" y="2840000"/>
            <a:ext cx="5430000" cy="20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"/>
          <p:cNvSpPr/>
          <p:nvPr/>
        </p:nvSpPr>
        <p:spPr>
          <a:xfrm>
            <a:off x="6260000" y="2840000"/>
            <a:ext cx="5430000" cy="380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"/>
          <p:cNvSpPr txBox="1"/>
          <p:nvPr/>
        </p:nvSpPr>
        <p:spPr>
          <a:xfrm>
            <a:off x="6400000" y="2840000"/>
            <a:ext cx="515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게이트② commit 순서 (D.4) — 워커</a:t>
            </a:r>
          </a:p>
        </p:txBody>
      </p:sp>
      <p:sp>
        <p:nvSpPr>
          <p:cNvPr id="30" name="t"/>
          <p:cNvSpPr txBox="1"/>
          <p:nvPr/>
        </p:nvSpPr>
        <p:spPr>
          <a:xfrm>
            <a:off x="6420000" y="3300000"/>
            <a:ext cx="5110000" cy="1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검사 : </a:t>
            </a:r>
            <a:r>
              <a:rPr sz="1100" b="0">
                <a:solidFill>
                  <a:srgbClr val="444B54"/>
                </a:solidFill>
                <a:latin typeface="맑은 고딕"/>
              </a:rPr>
              <a:t>내 commit_seq 차례인가</a:t>
            </a:r>
          </a:p>
          <a:p>
            <a:pPr algn="l">
              <a:lnSpc>
                <a:spcPct val="110000"/>
              </a:lnSpc>
              <a:spcAft>
                <a:spcPts val="29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시점 : </a:t>
            </a:r>
            <a:r>
              <a:rPr sz="1200" b="1">
                <a:solidFill>
                  <a:srgbClr val="122A42"/>
                </a:solidFill>
                <a:latin typeface="맑은 고딕"/>
              </a:rPr>
              <a:t>durable commit 직전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차례 아니면 → </a:t>
            </a:r>
            <a:r>
              <a:rPr sz="1200" b="1">
                <a:solidFill>
                  <a:srgbClr val="E87A2B"/>
                </a:solidFill>
                <a:latin typeface="맑은 고딕"/>
              </a:rPr>
              <a:t>HOL 대기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→ 차례 오면 commit·scs↑</a:t>
            </a:r>
          </a:p>
        </p:txBody>
      </p:sp>
      <p:sp>
        <p:nvSpPr>
          <p:cNvPr id="31" name="t"/>
          <p:cNvSpPr txBox="1"/>
          <p:nvPr/>
        </p:nvSpPr>
        <p:spPr>
          <a:xfrm>
            <a:off x="640080" y="5040000"/>
            <a:ext cx="11050000" cy="11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350" b="1">
                <a:solidFill>
                  <a:srgbClr val="122A42"/>
                </a:solidFill>
                <a:latin typeface="맑은 고딕"/>
              </a:rPr>
              <a:t>● 워커는 dep·scs 를 다시 안 본다</a:t>
            </a:r>
            <a:r>
              <a:rPr sz="1280" b="0">
                <a:solidFill>
                  <a:srgbClr val="444B54"/>
                </a:solidFill>
                <a:latin typeface="맑은 고딕"/>
              </a:rPr>
              <a:t> — 일이 왔다는 건 코디네이터가 이미 게이트①을 통과시켰다는 뜻.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80" b="0">
                <a:solidFill>
                  <a:srgbClr val="444B54"/>
                </a:solidFill>
                <a:latin typeface="맑은 고딕"/>
              </a:rPr>
              <a:t>워커의 유일한 대기 = 게이트②(commit 순서 HOL)뿐, 그것도 </a:t>
            </a:r>
            <a:r>
              <a:rPr sz="1280" b="1">
                <a:solidFill>
                  <a:srgbClr val="122A42"/>
                </a:solidFill>
                <a:latin typeface="맑은 고딕"/>
              </a:rPr>
              <a:t>commit_seq 순번</a:t>
            </a:r>
            <a:r>
              <a:rPr sz="1280" b="0">
                <a:solidFill>
                  <a:srgbClr val="444B54"/>
                </a:solidFill>
                <a:latin typeface="맑은 고딕"/>
              </a:rPr>
              <a:t>만 본다.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DC44-D0BA-4AAB-E3E4-6E29F352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">
            <a:extLst>
              <a:ext uri="{FF2B5EF4-FFF2-40B4-BE49-F238E27FC236}">
                <a16:creationId xmlns:a16="http://schemas.microsoft.com/office/drawing/2014/main" id="{D82F84CA-1074-783F-465D-5199F3056EB9}"/>
              </a:ext>
            </a:extLst>
          </p:cNvPr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BD6D8602-EBD3-3C3C-CE9A-C2FB4C71AFCD}"/>
              </a:ext>
            </a:extLst>
          </p:cNvPr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ED2D3111-17A4-C5FF-F0D5-04397DC940B2}"/>
              </a:ext>
            </a:extLst>
          </p:cNvPr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10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예시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3개, T1→T2→{T3,T4,T5}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2CC2AA67-C7E1-86D2-0BA4-5D4DC8B6111D}"/>
              </a:ext>
            </a:extLst>
          </p:cNvPr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앞은 직렬 사슬(워커 2개 놀음), 뒤는 3-fan-out(풀가동) · 병렬도 = 마스터 commit 동시성</a:t>
            </a:r>
          </a:p>
        </p:txBody>
      </p:sp>
      <p:sp>
        <p:nvSpPr>
          <p:cNvPr id="7" name="r">
            <a:extLst>
              <a:ext uri="{FF2B5EF4-FFF2-40B4-BE49-F238E27FC236}">
                <a16:creationId xmlns:a16="http://schemas.microsoft.com/office/drawing/2014/main" id="{02AA92C4-B105-982B-180F-E5DAEEBA6C52}"/>
              </a:ext>
            </a:extLst>
          </p:cNvPr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>
            <a:extLst>
              <a:ext uri="{FF2B5EF4-FFF2-40B4-BE49-F238E27FC236}">
                <a16:creationId xmlns:a16="http://schemas.microsoft.com/office/drawing/2014/main" id="{E3C6F0E4-4359-629D-0D85-3ED846336764}"/>
              </a:ext>
            </a:extLst>
          </p:cNvPr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29</a:t>
            </a: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1983BF55-6591-0F9C-84F4-1D04F683AB82}"/>
              </a:ext>
            </a:extLst>
          </p:cNvPr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>
            <a:extLst>
              <a:ext uri="{FF2B5EF4-FFF2-40B4-BE49-F238E27FC236}">
                <a16:creationId xmlns:a16="http://schemas.microsoft.com/office/drawing/2014/main" id="{D81673C0-5515-EB2D-948E-5A2407EE11DA}"/>
              </a:ext>
            </a:extLst>
          </p:cNvPr>
          <p:cNvSpPr txBox="1"/>
          <p:nvPr/>
        </p:nvSpPr>
        <p:spPr>
          <a:xfrm>
            <a:off x="640080" y="1460000"/>
            <a:ext cx="14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F6F8B"/>
                </a:solidFill>
                <a:latin typeface="맑은 고딕"/>
              </a:rPr>
              <a:t>의존 그래프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535EA050-821B-D927-2DEE-8B96563BA2B4}"/>
              </a:ext>
            </a:extLst>
          </p:cNvPr>
          <p:cNvSpPr/>
          <p:nvPr/>
        </p:nvSpPr>
        <p:spPr>
          <a:xfrm>
            <a:off x="210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7D404F66-A501-5BE9-31EC-B42A37F33A72}"/>
              </a:ext>
            </a:extLst>
          </p:cNvPr>
          <p:cNvSpPr txBox="1"/>
          <p:nvPr/>
        </p:nvSpPr>
        <p:spPr>
          <a:xfrm>
            <a:off x="21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dep=0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seq=1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2B5BD10C-D2EA-14BB-A75D-35861BE8824C}"/>
              </a:ext>
            </a:extLst>
          </p:cNvPr>
          <p:cNvSpPr txBox="1"/>
          <p:nvPr/>
        </p:nvSpPr>
        <p:spPr>
          <a:xfrm>
            <a:off x="321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4" name="r">
            <a:extLst>
              <a:ext uri="{FF2B5EF4-FFF2-40B4-BE49-F238E27FC236}">
                <a16:creationId xmlns:a16="http://schemas.microsoft.com/office/drawing/2014/main" id="{30ABAD25-4F89-8243-06FC-CC9A000902EC}"/>
              </a:ext>
            </a:extLst>
          </p:cNvPr>
          <p:cNvSpPr/>
          <p:nvPr/>
        </p:nvSpPr>
        <p:spPr>
          <a:xfrm>
            <a:off x="3580000" y="1460000"/>
            <a:ext cx="1080000" cy="44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>
            <a:extLst>
              <a:ext uri="{FF2B5EF4-FFF2-40B4-BE49-F238E27FC236}">
                <a16:creationId xmlns:a16="http://schemas.microsoft.com/office/drawing/2014/main" id="{040583ED-E0E7-4BB0-F7A2-0D06BAC002FA}"/>
              </a:ext>
            </a:extLst>
          </p:cNvPr>
          <p:cNvSpPr txBox="1"/>
          <p:nvPr/>
        </p:nvSpPr>
        <p:spPr>
          <a:xfrm>
            <a:off x="358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dep=1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seq=2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5EA35628-7921-F620-5A13-E3559FE6674B}"/>
              </a:ext>
            </a:extLst>
          </p:cNvPr>
          <p:cNvSpPr txBox="1"/>
          <p:nvPr/>
        </p:nvSpPr>
        <p:spPr>
          <a:xfrm>
            <a:off x="4690000" y="1530000"/>
            <a:ext cx="34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8A939E"/>
                </a:solidFill>
                <a:latin typeface="맑은 고딕"/>
              </a:rPr>
              <a:t>→</a:t>
            </a:r>
          </a:p>
        </p:txBody>
      </p:sp>
      <p:sp>
        <p:nvSpPr>
          <p:cNvPr id="17" name="r">
            <a:extLst>
              <a:ext uri="{FF2B5EF4-FFF2-40B4-BE49-F238E27FC236}">
                <a16:creationId xmlns:a16="http://schemas.microsoft.com/office/drawing/2014/main" id="{39CFBEA2-9492-06E1-CCFD-DE45E4643494}"/>
              </a:ext>
            </a:extLst>
          </p:cNvPr>
          <p:cNvSpPr/>
          <p:nvPr/>
        </p:nvSpPr>
        <p:spPr>
          <a:xfrm>
            <a:off x="506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">
            <a:extLst>
              <a:ext uri="{FF2B5EF4-FFF2-40B4-BE49-F238E27FC236}">
                <a16:creationId xmlns:a16="http://schemas.microsoft.com/office/drawing/2014/main" id="{86C86F75-BFF9-B5B9-CE6F-88CA8F0C2529}"/>
              </a:ext>
            </a:extLst>
          </p:cNvPr>
          <p:cNvSpPr txBox="1"/>
          <p:nvPr/>
        </p:nvSpPr>
        <p:spPr>
          <a:xfrm>
            <a:off x="506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seq=3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" name="r">
            <a:extLst>
              <a:ext uri="{FF2B5EF4-FFF2-40B4-BE49-F238E27FC236}">
                <a16:creationId xmlns:a16="http://schemas.microsoft.com/office/drawing/2014/main" id="{2666955B-3D2C-5076-3858-0BB318F015C2}"/>
              </a:ext>
            </a:extLst>
          </p:cNvPr>
          <p:cNvSpPr/>
          <p:nvPr/>
        </p:nvSpPr>
        <p:spPr>
          <a:xfrm>
            <a:off x="620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4AA0501A-EB03-5168-42A1-D8CA92C8A9C6}"/>
              </a:ext>
            </a:extLst>
          </p:cNvPr>
          <p:cNvSpPr txBox="1"/>
          <p:nvPr/>
        </p:nvSpPr>
        <p:spPr>
          <a:xfrm>
            <a:off x="620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b="0" dirty="0">
                <a:solidFill>
                  <a:srgbClr val="FFFFFF"/>
                </a:solidFill>
                <a:latin typeface="맑은 고딕"/>
              </a:rPr>
              <a:t>, seq=4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r">
            <a:extLst>
              <a:ext uri="{FF2B5EF4-FFF2-40B4-BE49-F238E27FC236}">
                <a16:creationId xmlns:a16="http://schemas.microsoft.com/office/drawing/2014/main" id="{756BEEFA-DEFF-3837-A801-FEFE2921AC70}"/>
              </a:ext>
            </a:extLst>
          </p:cNvPr>
          <p:cNvSpPr/>
          <p:nvPr/>
        </p:nvSpPr>
        <p:spPr>
          <a:xfrm>
            <a:off x="7340000" y="1460000"/>
            <a:ext cx="1080000" cy="440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">
            <a:extLst>
              <a:ext uri="{FF2B5EF4-FFF2-40B4-BE49-F238E27FC236}">
                <a16:creationId xmlns:a16="http://schemas.microsoft.com/office/drawing/2014/main" id="{0CE9A3F5-F9A5-5A2E-A4F3-424A1A13372F}"/>
              </a:ext>
            </a:extLst>
          </p:cNvPr>
          <p:cNvSpPr txBox="1"/>
          <p:nvPr/>
        </p:nvSpPr>
        <p:spPr>
          <a:xfrm>
            <a:off x="7340000" y="1460000"/>
            <a:ext cx="108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</a:rPr>
              <a:t>T5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20" b="0" dirty="0">
                <a:solidFill>
                  <a:srgbClr val="FFFFFF"/>
                </a:solidFill>
                <a:latin typeface="맑은 고딕"/>
              </a:rPr>
              <a:t>dep=2</a:t>
            </a:r>
            <a:r>
              <a:rPr lang="en-US" sz="920" dirty="0">
                <a:solidFill>
                  <a:srgbClr val="FFFFFF"/>
                </a:solidFill>
                <a:latin typeface="맑은 고딕"/>
              </a:rPr>
              <a:t>, seq=5</a:t>
            </a:r>
            <a:endParaRPr sz="92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FF963EC0-CBE1-F1EC-4854-B1FBFEDB9900}"/>
              </a:ext>
            </a:extLst>
          </p:cNvPr>
          <p:cNvSpPr txBox="1"/>
          <p:nvPr/>
        </p:nvSpPr>
        <p:spPr>
          <a:xfrm>
            <a:off x="8520000" y="1460000"/>
            <a:ext cx="29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dep=2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→ 독립(병렬 후보)</a:t>
            </a:r>
          </a:p>
        </p:txBody>
      </p:sp>
      <p:sp>
        <p:nvSpPr>
          <p:cNvPr id="24" name="t">
            <a:extLst>
              <a:ext uri="{FF2B5EF4-FFF2-40B4-BE49-F238E27FC236}">
                <a16:creationId xmlns:a16="http://schemas.microsoft.com/office/drawing/2014/main" id="{2976F330-16A6-CA4E-3BD2-B491D3F5427E}"/>
              </a:ext>
            </a:extLst>
          </p:cNvPr>
          <p:cNvSpPr txBox="1"/>
          <p:nvPr/>
        </p:nvSpPr>
        <p:spPr>
          <a:xfrm>
            <a:off x="640080" y="21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dirty="0">
                <a:solidFill>
                  <a:srgbClr val="1F6F8B"/>
                </a:solidFill>
                <a:latin typeface="맑은 고딕"/>
              </a:rPr>
              <a:t>■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워커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점유</a:t>
            </a:r>
            <a:r>
              <a:rPr sz="125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6F8B"/>
                </a:solidFill>
                <a:latin typeface="맑은 고딕"/>
              </a:rPr>
              <a:t>타임라인</a:t>
            </a:r>
            <a:endParaRPr sz="125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25" name="t">
            <a:extLst>
              <a:ext uri="{FF2B5EF4-FFF2-40B4-BE49-F238E27FC236}">
                <a16:creationId xmlns:a16="http://schemas.microsoft.com/office/drawing/2014/main" id="{BFB95ACA-AF3F-8E71-4D69-5EC350CCBDFE}"/>
              </a:ext>
            </a:extLst>
          </p:cNvPr>
          <p:cNvSpPr txBox="1"/>
          <p:nvPr/>
        </p:nvSpPr>
        <p:spPr>
          <a:xfrm>
            <a:off x="15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① T1 적용</a:t>
            </a:r>
          </a:p>
        </p:txBody>
      </p:sp>
      <p:sp>
        <p:nvSpPr>
          <p:cNvPr id="26" name="t">
            <a:extLst>
              <a:ext uri="{FF2B5EF4-FFF2-40B4-BE49-F238E27FC236}">
                <a16:creationId xmlns:a16="http://schemas.microsoft.com/office/drawing/2014/main" id="{1FB651C8-0D46-ADB1-FCAA-661DF01B4E29}"/>
              </a:ext>
            </a:extLst>
          </p:cNvPr>
          <p:cNvSpPr txBox="1"/>
          <p:nvPr/>
        </p:nvSpPr>
        <p:spPr>
          <a:xfrm>
            <a:off x="347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0">
                <a:solidFill>
                  <a:srgbClr val="8A939E"/>
                </a:solidFill>
                <a:latin typeface="맑은 고딕"/>
              </a:rPr>
              <a:t>② T2 적용</a:t>
            </a:r>
          </a:p>
        </p:txBody>
      </p:sp>
      <p:sp>
        <p:nvSpPr>
          <p:cNvPr id="27" name="t">
            <a:extLst>
              <a:ext uri="{FF2B5EF4-FFF2-40B4-BE49-F238E27FC236}">
                <a16:creationId xmlns:a16="http://schemas.microsoft.com/office/drawing/2014/main" id="{9EDE3251-8FF3-504D-47C3-067D86F288F4}"/>
              </a:ext>
            </a:extLst>
          </p:cNvPr>
          <p:cNvSpPr txBox="1"/>
          <p:nvPr/>
        </p:nvSpPr>
        <p:spPr>
          <a:xfrm>
            <a:off x="5420000" y="218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E87A2B"/>
                </a:solidFill>
                <a:latin typeface="맑은 고딕"/>
              </a:rPr>
              <a:t>③ T3·T4·T5 동시</a:t>
            </a:r>
          </a:p>
        </p:txBody>
      </p:sp>
      <p:sp>
        <p:nvSpPr>
          <p:cNvPr id="28" name="t">
            <a:extLst>
              <a:ext uri="{FF2B5EF4-FFF2-40B4-BE49-F238E27FC236}">
                <a16:creationId xmlns:a16="http://schemas.microsoft.com/office/drawing/2014/main" id="{0F97F31E-68D7-BD2B-954F-7D568A017F9E}"/>
              </a:ext>
            </a:extLst>
          </p:cNvPr>
          <p:cNvSpPr txBox="1"/>
          <p:nvPr/>
        </p:nvSpPr>
        <p:spPr>
          <a:xfrm>
            <a:off x="720000" y="252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W1</a:t>
            </a:r>
          </a:p>
        </p:txBody>
      </p:sp>
      <p:sp>
        <p:nvSpPr>
          <p:cNvPr id="29" name="t">
            <a:extLst>
              <a:ext uri="{FF2B5EF4-FFF2-40B4-BE49-F238E27FC236}">
                <a16:creationId xmlns:a16="http://schemas.microsoft.com/office/drawing/2014/main" id="{7463CE83-ABE4-E795-4E7B-1572606DDE2C}"/>
              </a:ext>
            </a:extLst>
          </p:cNvPr>
          <p:cNvSpPr txBox="1"/>
          <p:nvPr/>
        </p:nvSpPr>
        <p:spPr>
          <a:xfrm>
            <a:off x="720000" y="314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W2</a:t>
            </a: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A094BB9A-0FF4-8C5B-0D55-35F6C7E79794}"/>
              </a:ext>
            </a:extLst>
          </p:cNvPr>
          <p:cNvSpPr txBox="1"/>
          <p:nvPr/>
        </p:nvSpPr>
        <p:spPr>
          <a:xfrm>
            <a:off x="720000" y="3760000"/>
            <a:ext cx="64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W3</a:t>
            </a:r>
          </a:p>
        </p:txBody>
      </p:sp>
      <p:sp>
        <p:nvSpPr>
          <p:cNvPr id="31" name="r">
            <a:extLst>
              <a:ext uri="{FF2B5EF4-FFF2-40B4-BE49-F238E27FC236}">
                <a16:creationId xmlns:a16="http://schemas.microsoft.com/office/drawing/2014/main" id="{33EE698F-C6F2-1A97-BCED-845DD8BC8AD3}"/>
              </a:ext>
            </a:extLst>
          </p:cNvPr>
          <p:cNvSpPr/>
          <p:nvPr/>
        </p:nvSpPr>
        <p:spPr>
          <a:xfrm>
            <a:off x="152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C9D5CBD-FD61-455B-AD2F-54019E148942}"/>
              </a:ext>
            </a:extLst>
          </p:cNvPr>
          <p:cNvSpPr txBox="1"/>
          <p:nvPr/>
        </p:nvSpPr>
        <p:spPr>
          <a:xfrm>
            <a:off x="152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T1</a:t>
            </a:r>
          </a:p>
        </p:txBody>
      </p:sp>
      <p:sp>
        <p:nvSpPr>
          <p:cNvPr id="33" name="r">
            <a:extLst>
              <a:ext uri="{FF2B5EF4-FFF2-40B4-BE49-F238E27FC236}">
                <a16:creationId xmlns:a16="http://schemas.microsoft.com/office/drawing/2014/main" id="{C21D6D86-A32A-7AF6-9166-1E74CE8F2327}"/>
              </a:ext>
            </a:extLst>
          </p:cNvPr>
          <p:cNvSpPr/>
          <p:nvPr/>
        </p:nvSpPr>
        <p:spPr>
          <a:xfrm>
            <a:off x="3470000" y="2520000"/>
            <a:ext cx="1900000" cy="52000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92E09C18-0F98-4778-A08A-BEF8CE7CB07A}"/>
              </a:ext>
            </a:extLst>
          </p:cNvPr>
          <p:cNvSpPr txBox="1"/>
          <p:nvPr/>
        </p:nvSpPr>
        <p:spPr>
          <a:xfrm>
            <a:off x="3470000" y="2520000"/>
            <a:ext cx="19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T2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EF594CB-8CF6-22AB-24DB-073F28CDF840}"/>
              </a:ext>
            </a:extLst>
          </p:cNvPr>
          <p:cNvGrpSpPr/>
          <p:nvPr/>
        </p:nvGrpSpPr>
        <p:grpSpPr>
          <a:xfrm>
            <a:off x="5420000" y="2520000"/>
            <a:ext cx="1900000" cy="520000"/>
            <a:chOff x="5420000" y="2520000"/>
            <a:chExt cx="1900000" cy="520000"/>
          </a:xfrm>
        </p:grpSpPr>
        <p:sp>
          <p:nvSpPr>
            <p:cNvPr id="35" name="r">
              <a:extLst>
                <a:ext uri="{FF2B5EF4-FFF2-40B4-BE49-F238E27FC236}">
                  <a16:creationId xmlns:a16="http://schemas.microsoft.com/office/drawing/2014/main" id="{FCCA4B98-18D2-6ED9-0575-CD210C2625E2}"/>
                </a:ext>
              </a:extLst>
            </p:cNvPr>
            <p:cNvSpPr/>
            <p:nvPr/>
          </p:nvSpPr>
          <p:spPr>
            <a:xfrm>
              <a:off x="5420000" y="252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">
              <a:extLst>
                <a:ext uri="{FF2B5EF4-FFF2-40B4-BE49-F238E27FC236}">
                  <a16:creationId xmlns:a16="http://schemas.microsoft.com/office/drawing/2014/main" id="{253919AA-89F1-2A23-672F-778396FDE0C4}"/>
                </a:ext>
              </a:extLst>
            </p:cNvPr>
            <p:cNvSpPr txBox="1"/>
            <p:nvPr/>
          </p:nvSpPr>
          <p:spPr>
            <a:xfrm>
              <a:off x="5420000" y="252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 dirty="0">
                  <a:solidFill>
                    <a:srgbClr val="FFFFFF"/>
                  </a:solidFill>
                  <a:latin typeface="맑은 고딕"/>
                </a:rPr>
                <a:t>T3</a:t>
              </a:r>
            </a:p>
          </p:txBody>
        </p:sp>
      </p:grpSp>
      <p:sp>
        <p:nvSpPr>
          <p:cNvPr id="37" name="r">
            <a:extLst>
              <a:ext uri="{FF2B5EF4-FFF2-40B4-BE49-F238E27FC236}">
                <a16:creationId xmlns:a16="http://schemas.microsoft.com/office/drawing/2014/main" id="{A2A4B8A1-453D-EEBA-3B3F-284BA11D13AC}"/>
              </a:ext>
            </a:extLst>
          </p:cNvPr>
          <p:cNvSpPr/>
          <p:nvPr/>
        </p:nvSpPr>
        <p:spPr>
          <a:xfrm>
            <a:off x="1520000" y="314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4EB0E922-CE73-5720-2ECA-D8D6DC11F1BA}"/>
              </a:ext>
            </a:extLst>
          </p:cNvPr>
          <p:cNvSpPr txBox="1"/>
          <p:nvPr/>
        </p:nvSpPr>
        <p:spPr>
          <a:xfrm>
            <a:off x="1520000" y="314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0EFC980-4199-9E38-F02C-D74A166613F7}"/>
              </a:ext>
            </a:extLst>
          </p:cNvPr>
          <p:cNvGrpSpPr/>
          <p:nvPr/>
        </p:nvGrpSpPr>
        <p:grpSpPr>
          <a:xfrm>
            <a:off x="5420000" y="3140000"/>
            <a:ext cx="1900000" cy="520000"/>
            <a:chOff x="5420000" y="3140000"/>
            <a:chExt cx="1900000" cy="520000"/>
          </a:xfrm>
        </p:grpSpPr>
        <p:sp>
          <p:nvSpPr>
            <p:cNvPr id="39" name="r">
              <a:extLst>
                <a:ext uri="{FF2B5EF4-FFF2-40B4-BE49-F238E27FC236}">
                  <a16:creationId xmlns:a16="http://schemas.microsoft.com/office/drawing/2014/main" id="{D13C2C20-42F0-0B8F-35F4-2C0209E649C0}"/>
                </a:ext>
              </a:extLst>
            </p:cNvPr>
            <p:cNvSpPr/>
            <p:nvPr/>
          </p:nvSpPr>
          <p:spPr>
            <a:xfrm>
              <a:off x="5420000" y="314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">
              <a:extLst>
                <a:ext uri="{FF2B5EF4-FFF2-40B4-BE49-F238E27FC236}">
                  <a16:creationId xmlns:a16="http://schemas.microsoft.com/office/drawing/2014/main" id="{2F19515A-F8D2-3353-2B51-CAD1FAC340B4}"/>
                </a:ext>
              </a:extLst>
            </p:cNvPr>
            <p:cNvSpPr txBox="1"/>
            <p:nvPr/>
          </p:nvSpPr>
          <p:spPr>
            <a:xfrm>
              <a:off x="5420000" y="314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T4</a:t>
              </a:r>
            </a:p>
          </p:txBody>
        </p:sp>
      </p:grpSp>
      <p:sp>
        <p:nvSpPr>
          <p:cNvPr id="41" name="r">
            <a:extLst>
              <a:ext uri="{FF2B5EF4-FFF2-40B4-BE49-F238E27FC236}">
                <a16:creationId xmlns:a16="http://schemas.microsoft.com/office/drawing/2014/main" id="{53AD8FC6-3653-89FE-1DF6-D2BCD72C5EB7}"/>
              </a:ext>
            </a:extLst>
          </p:cNvPr>
          <p:cNvSpPr/>
          <p:nvPr/>
        </p:nvSpPr>
        <p:spPr>
          <a:xfrm>
            <a:off x="1520000" y="3760000"/>
            <a:ext cx="3850000" cy="5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">
            <a:extLst>
              <a:ext uri="{FF2B5EF4-FFF2-40B4-BE49-F238E27FC236}">
                <a16:creationId xmlns:a16="http://schemas.microsoft.com/office/drawing/2014/main" id="{7A0DA06E-1343-ABA4-2DCB-66BC451F94C6}"/>
              </a:ext>
            </a:extLst>
          </p:cNvPr>
          <p:cNvSpPr txBox="1"/>
          <p:nvPr/>
        </p:nvSpPr>
        <p:spPr>
          <a:xfrm>
            <a:off x="1520000" y="3760000"/>
            <a:ext cx="385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8A939E"/>
                </a:solidFill>
                <a:latin typeface="맑은 고딕"/>
              </a:rPr>
              <a:t>idle (대기)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5B44B67-5BD4-41F0-E1DD-4B14C9314D13}"/>
              </a:ext>
            </a:extLst>
          </p:cNvPr>
          <p:cNvGrpSpPr/>
          <p:nvPr/>
        </p:nvGrpSpPr>
        <p:grpSpPr>
          <a:xfrm>
            <a:off x="5420000" y="3760000"/>
            <a:ext cx="1900000" cy="520000"/>
            <a:chOff x="5420000" y="3760000"/>
            <a:chExt cx="1900000" cy="520000"/>
          </a:xfrm>
        </p:grpSpPr>
        <p:sp>
          <p:nvSpPr>
            <p:cNvPr id="43" name="r">
              <a:extLst>
                <a:ext uri="{FF2B5EF4-FFF2-40B4-BE49-F238E27FC236}">
                  <a16:creationId xmlns:a16="http://schemas.microsoft.com/office/drawing/2014/main" id="{2AEECE5B-B1CF-C6EC-963C-3F24DE8E3F93}"/>
                </a:ext>
              </a:extLst>
            </p:cNvPr>
            <p:cNvSpPr/>
            <p:nvPr/>
          </p:nvSpPr>
          <p:spPr>
            <a:xfrm>
              <a:off x="5420000" y="3760000"/>
              <a:ext cx="1900000" cy="520000"/>
            </a:xfrm>
            <a:prstGeom prst="roundRect">
              <a:avLst/>
            </a:prstGeom>
            <a:solidFill>
              <a:srgbClr val="E87A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">
              <a:extLst>
                <a:ext uri="{FF2B5EF4-FFF2-40B4-BE49-F238E27FC236}">
                  <a16:creationId xmlns:a16="http://schemas.microsoft.com/office/drawing/2014/main" id="{6CCFD450-BBBF-DDD1-FFF8-6C98568FEAAA}"/>
                </a:ext>
              </a:extLst>
            </p:cNvPr>
            <p:cNvSpPr txBox="1"/>
            <p:nvPr/>
          </p:nvSpPr>
          <p:spPr>
            <a:xfrm>
              <a:off x="5420000" y="3760000"/>
              <a:ext cx="1900000" cy="52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r>
                <a:rPr sz="1200" b="1">
                  <a:solidFill>
                    <a:srgbClr val="FFFFFF"/>
                  </a:solidFill>
                  <a:latin typeface="맑은 고딕"/>
                </a:rPr>
                <a:t>T5</a:t>
              </a:r>
            </a:p>
          </p:txBody>
        </p:sp>
      </p:grpSp>
      <p:sp>
        <p:nvSpPr>
          <p:cNvPr id="45" name="t">
            <a:extLst>
              <a:ext uri="{FF2B5EF4-FFF2-40B4-BE49-F238E27FC236}">
                <a16:creationId xmlns:a16="http://schemas.microsoft.com/office/drawing/2014/main" id="{A52261B1-22A2-1167-5095-4DE238A699A0}"/>
              </a:ext>
            </a:extLst>
          </p:cNvPr>
          <p:cNvSpPr txBox="1"/>
          <p:nvPr/>
        </p:nvSpPr>
        <p:spPr>
          <a:xfrm>
            <a:off x="1520000" y="436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8A939E"/>
                </a:solidFill>
                <a:latin typeface="맑은 고딕"/>
              </a:rPr>
              <a:t>병렬도 1 (사슬)</a:t>
            </a:r>
          </a:p>
        </p:txBody>
      </p:sp>
      <p:sp>
        <p:nvSpPr>
          <p:cNvPr id="46" name="t">
            <a:extLst>
              <a:ext uri="{FF2B5EF4-FFF2-40B4-BE49-F238E27FC236}">
                <a16:creationId xmlns:a16="http://schemas.microsoft.com/office/drawing/2014/main" id="{B156C44E-B1E5-8639-D3C6-9488ED2F8F5C}"/>
              </a:ext>
            </a:extLst>
          </p:cNvPr>
          <p:cNvSpPr txBox="1"/>
          <p:nvPr/>
        </p:nvSpPr>
        <p:spPr>
          <a:xfrm>
            <a:off x="5420000" y="436000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E87A2B"/>
                </a:solidFill>
                <a:latin typeface="맑은 고딕"/>
              </a:rPr>
              <a:t>병렬도 3 (풀가동)</a:t>
            </a:r>
          </a:p>
        </p:txBody>
      </p:sp>
      <p:sp>
        <p:nvSpPr>
          <p:cNvPr id="48" name="t">
            <a:extLst>
              <a:ext uri="{FF2B5EF4-FFF2-40B4-BE49-F238E27FC236}">
                <a16:creationId xmlns:a16="http://schemas.microsoft.com/office/drawing/2014/main" id="{EFB69E99-9CFD-9ABD-98F5-F460FCB2BCFD}"/>
              </a:ext>
            </a:extLst>
          </p:cNvPr>
          <p:cNvSpPr txBox="1"/>
          <p:nvPr/>
        </p:nvSpPr>
        <p:spPr>
          <a:xfrm>
            <a:off x="640080" y="5260000"/>
            <a:ext cx="1105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25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끝나는 시점의 </a:t>
            </a:r>
            <a:r>
              <a:rPr lang="en-US" altLang="ko-KR" sz="1250" b="0" dirty="0" err="1">
                <a:solidFill>
                  <a:srgbClr val="444B54"/>
                </a:solidFill>
                <a:latin typeface="맑은 고딕"/>
              </a:rPr>
              <a:t>scs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는 어떻게 </a:t>
            </a:r>
            <a:r>
              <a:rPr lang="ko-KR" altLang="en-US" sz="1250" b="0" dirty="0" err="1">
                <a:solidFill>
                  <a:srgbClr val="444B54"/>
                </a:solidFill>
                <a:latin typeface="맑은 고딕"/>
              </a:rPr>
              <a:t>결정되어야할까</a:t>
            </a:r>
            <a:r>
              <a:rPr lang="en-US" altLang="ko-KR" sz="1250" b="0" dirty="0">
                <a:solidFill>
                  <a:srgbClr val="444B54"/>
                </a:solidFill>
                <a:latin typeface="맑은 고딕"/>
              </a:rPr>
              <a:t>???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en-US" altLang="ko-KR" sz="1250" b="0" dirty="0">
                <a:solidFill>
                  <a:srgbClr val="444B54"/>
                </a:solidFill>
                <a:latin typeface="맑은 고딕"/>
              </a:rPr>
              <a:t>-&gt;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 순서대로 </a:t>
            </a:r>
            <a:r>
              <a:rPr lang="ko-KR" altLang="en-US" sz="1250" b="0" dirty="0" err="1">
                <a:solidFill>
                  <a:srgbClr val="444B54"/>
                </a:solidFill>
                <a:latin typeface="맑은 고딕"/>
              </a:rPr>
              <a:t>커밋을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 강제하므로 순서데로 </a:t>
            </a:r>
            <a:r>
              <a:rPr lang="en-US" altLang="ko-KR" sz="1250" b="0" dirty="0" err="1">
                <a:solidFill>
                  <a:srgbClr val="444B54"/>
                </a:solidFill>
                <a:latin typeface="맑은 고딕"/>
              </a:rPr>
              <a:t>scs</a:t>
            </a:r>
            <a:r>
              <a:rPr lang="ko-KR" altLang="en-US" sz="1250" b="0" dirty="0">
                <a:solidFill>
                  <a:srgbClr val="444B54"/>
                </a:solidFill>
                <a:latin typeface="맑은 고딕"/>
              </a:rPr>
              <a:t> 갱신</a:t>
            </a:r>
            <a:endParaRPr lang="en-US" altLang="ko-KR" sz="1250" b="0" dirty="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10000"/>
              </a:lnSpc>
              <a:spcAft>
                <a:spcPts val="220"/>
              </a:spcAft>
            </a:pP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서버에서는 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T5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가장 늦게 끝났는데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,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ko-KR" altLang="en-US" sz="1250" dirty="0" err="1">
                <a:solidFill>
                  <a:srgbClr val="444B54"/>
                </a:solidFill>
                <a:latin typeface="맑은 고딕"/>
              </a:rPr>
              <a:t>슬레이브에서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 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T3</a:t>
            </a:r>
            <a:r>
              <a:rPr lang="ko-KR" altLang="en-US" sz="1250" dirty="0">
                <a:solidFill>
                  <a:srgbClr val="444B54"/>
                </a:solidFill>
                <a:latin typeface="맑은 고딕"/>
              </a:rPr>
              <a:t>가 가장 늦게 끝나면 어떻게 될까</a:t>
            </a:r>
            <a:r>
              <a:rPr lang="en-US" altLang="ko-KR" sz="1250" dirty="0">
                <a:solidFill>
                  <a:srgbClr val="444B54"/>
                </a:solidFill>
                <a:latin typeface="맑은 고딕"/>
              </a:rPr>
              <a:t>?</a:t>
            </a:r>
            <a:r>
              <a:rPr lang="ko-KR" altLang="en-US" sz="12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lang="en-US" altLang="ko-KR" sz="1250" dirty="0">
                <a:solidFill>
                  <a:srgbClr val="122A42"/>
                </a:solidFill>
                <a:latin typeface="맑은 고딕"/>
              </a:rPr>
              <a:t>T3</a:t>
            </a:r>
            <a:r>
              <a:rPr lang="ko-KR" altLang="en-US" sz="1250" dirty="0">
                <a:solidFill>
                  <a:srgbClr val="122A42"/>
                </a:solidFill>
                <a:latin typeface="맑은 고딕"/>
              </a:rPr>
              <a:t>가 </a:t>
            </a:r>
            <a:r>
              <a:rPr lang="ko-KR" altLang="en-US" sz="1250" dirty="0" err="1">
                <a:solidFill>
                  <a:srgbClr val="122A42"/>
                </a:solidFill>
                <a:latin typeface="맑은 고딕"/>
              </a:rPr>
              <a:t>끝날때까지</a:t>
            </a:r>
            <a:r>
              <a:rPr lang="ko-KR" altLang="en-US" sz="1250" dirty="0">
                <a:solidFill>
                  <a:srgbClr val="122A42"/>
                </a:solidFill>
                <a:latin typeface="맑은 고딕"/>
              </a:rPr>
              <a:t> </a:t>
            </a:r>
            <a:r>
              <a:rPr lang="en-US" altLang="ko-KR" sz="1250" dirty="0">
                <a:solidFill>
                  <a:srgbClr val="122A42"/>
                </a:solidFill>
                <a:latin typeface="맑은 고딕"/>
              </a:rPr>
              <a:t>T4</a:t>
            </a:r>
            <a:r>
              <a:rPr lang="ko-KR" altLang="en-US" sz="1250" dirty="0">
                <a:solidFill>
                  <a:srgbClr val="122A42"/>
                </a:solidFill>
                <a:latin typeface="맑은 고딕"/>
              </a:rPr>
              <a:t>와 </a:t>
            </a:r>
            <a:r>
              <a:rPr lang="en-US" altLang="ko-KR" sz="1250" dirty="0">
                <a:solidFill>
                  <a:srgbClr val="122A42"/>
                </a:solidFill>
                <a:latin typeface="맑은 고딕"/>
              </a:rPr>
              <a:t>T5</a:t>
            </a:r>
            <a:r>
              <a:rPr lang="ko-KR" altLang="en-US" sz="1250" dirty="0">
                <a:solidFill>
                  <a:srgbClr val="122A42"/>
                </a:solidFill>
                <a:latin typeface="맑은 고딕"/>
              </a:rPr>
              <a:t>는 대기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86CDA5E-9691-7BBB-9CDE-8C8222F7BA7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7320000" y="2410000"/>
            <a:ext cx="0" cy="210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t">
            <a:extLst>
              <a:ext uri="{FF2B5EF4-FFF2-40B4-BE49-F238E27FC236}">
                <a16:creationId xmlns:a16="http://schemas.microsoft.com/office/drawing/2014/main" id="{F29FA6F6-4C49-5F65-E4F0-32C1D88D66D0}"/>
              </a:ext>
            </a:extLst>
          </p:cNvPr>
          <p:cNvSpPr txBox="1"/>
          <p:nvPr/>
        </p:nvSpPr>
        <p:spPr>
          <a:xfrm>
            <a:off x="6869999" y="4685880"/>
            <a:ext cx="2220203" cy="3441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rgbClr val="1F6F8B"/>
                </a:solidFill>
                <a:latin typeface="맑은 고딕"/>
              </a:rPr>
              <a:t>워커 자신에게 할당 된 </a:t>
            </a:r>
            <a:r>
              <a:rPr lang="en-US" altLang="ko-KR" sz="1000" b="1" dirty="0" err="1">
                <a:solidFill>
                  <a:srgbClr val="1F6F8B"/>
                </a:solidFill>
                <a:latin typeface="맑은 고딕"/>
              </a:rPr>
              <a:t>commit_seq</a:t>
            </a:r>
            <a:r>
              <a:rPr lang="ko-KR" altLang="en-US" sz="1000" b="1" dirty="0" err="1">
                <a:solidFill>
                  <a:srgbClr val="1F6F8B"/>
                </a:solidFill>
                <a:latin typeface="맑은 고딕"/>
              </a:rPr>
              <a:t>를</a:t>
            </a:r>
            <a:r>
              <a:rPr lang="ko-KR" altLang="en-US" sz="1000" b="1" dirty="0">
                <a:solidFill>
                  <a:srgbClr val="1F6F8B"/>
                </a:solidFill>
                <a:latin typeface="맑은 고딕"/>
              </a:rPr>
              <a:t> 이용해 순서대로 </a:t>
            </a:r>
            <a:r>
              <a:rPr lang="ko-KR" altLang="en-US" sz="1000" b="1" dirty="0" err="1">
                <a:solidFill>
                  <a:srgbClr val="1F6F8B"/>
                </a:solidFill>
                <a:latin typeface="맑은 고딕"/>
              </a:rPr>
              <a:t>커밋</a:t>
            </a:r>
            <a:endParaRPr sz="1000" b="1" dirty="0">
              <a:solidFill>
                <a:srgbClr val="1F6F8B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098826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11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.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scs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=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줄줄이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다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끝난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마지막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번호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(gap-free)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22A42"/>
                </a:solidFill>
                <a:latin typeface="맑은 고딕"/>
              </a:rPr>
              <a:t>중간에 한 칸이라도 비면 거기서 멈춤 — 코디네이터는 scs 하나로 '선행 다 끝남'을 안다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30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"/>
          <p:cNvSpPr txBox="1"/>
          <p:nvPr/>
        </p:nvSpPr>
        <p:spPr>
          <a:xfrm>
            <a:off x="640080" y="1480000"/>
            <a:ext cx="1105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durable commit(디스크 저장) 완료 = </a:t>
            </a:r>
            <a:r>
              <a:rPr sz="1250" b="1">
                <a:solidFill>
                  <a:srgbClr val="2E8B57"/>
                </a:solidFill>
                <a:latin typeface="맑은 고딕"/>
              </a:rPr>
              <a:t>✓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  /  아직 = </a:t>
            </a:r>
            <a:r>
              <a:rPr sz="1250" b="1">
                <a:solidFill>
                  <a:srgbClr val="B23B3B"/>
                </a:solidFill>
                <a:latin typeface="맑은 고딕"/>
              </a:rPr>
              <a:t>✗</a:t>
            </a:r>
          </a:p>
        </p:txBody>
      </p:sp>
      <p:sp>
        <p:nvSpPr>
          <p:cNvPr id="11" name="t"/>
          <p:cNvSpPr txBox="1"/>
          <p:nvPr/>
        </p:nvSpPr>
        <p:spPr>
          <a:xfrm>
            <a:off x="640080" y="2050000"/>
            <a:ext cx="14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22A42"/>
                </a:solidFill>
                <a:latin typeface="맑은 고딕"/>
              </a:rPr>
              <a:t>(가)</a:t>
            </a:r>
          </a:p>
        </p:txBody>
      </p:sp>
      <p:sp>
        <p:nvSpPr>
          <p:cNvPr id="12" name="r"/>
          <p:cNvSpPr/>
          <p:nvPr/>
        </p:nvSpPr>
        <p:spPr>
          <a:xfrm>
            <a:off x="2150000" y="205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2150000" y="205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" name="r"/>
          <p:cNvSpPr/>
          <p:nvPr/>
        </p:nvSpPr>
        <p:spPr>
          <a:xfrm>
            <a:off x="3090000" y="205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3090000" y="205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6" name="r"/>
          <p:cNvSpPr/>
          <p:nvPr/>
        </p:nvSpPr>
        <p:spPr>
          <a:xfrm>
            <a:off x="4030000" y="205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"/>
          <p:cNvSpPr txBox="1"/>
          <p:nvPr/>
        </p:nvSpPr>
        <p:spPr>
          <a:xfrm>
            <a:off x="4030000" y="205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" name="r"/>
          <p:cNvSpPr/>
          <p:nvPr/>
        </p:nvSpPr>
        <p:spPr>
          <a:xfrm>
            <a:off x="4970000" y="2050000"/>
            <a:ext cx="820000" cy="820000"/>
          </a:xfrm>
          <a:prstGeom prst="roundRect">
            <a:avLst/>
          </a:prstGeom>
          <a:solidFill>
            <a:srgbClr val="D7D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"/>
          <p:cNvSpPr txBox="1"/>
          <p:nvPr/>
        </p:nvSpPr>
        <p:spPr>
          <a:xfrm>
            <a:off x="4970000" y="205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B23B3B"/>
                </a:solidFill>
                <a:latin typeface="맑은 고딕"/>
              </a:rPr>
              <a:t>✗</a:t>
            </a:r>
          </a:p>
        </p:txBody>
      </p:sp>
      <p:sp>
        <p:nvSpPr>
          <p:cNvPr id="20" name="r"/>
          <p:cNvSpPr/>
          <p:nvPr/>
        </p:nvSpPr>
        <p:spPr>
          <a:xfrm>
            <a:off x="5910000" y="205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"/>
          <p:cNvSpPr txBox="1"/>
          <p:nvPr/>
        </p:nvSpPr>
        <p:spPr>
          <a:xfrm>
            <a:off x="5910000" y="205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2" name="t"/>
          <p:cNvSpPr txBox="1"/>
          <p:nvPr/>
        </p:nvSpPr>
        <p:spPr>
          <a:xfrm>
            <a:off x="6950000" y="2050000"/>
            <a:ext cx="420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</a:rPr>
              <a:t>scs = 3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  4가 구멍 → 5는 끝나도 못 셈</a:t>
            </a:r>
          </a:p>
        </p:txBody>
      </p:sp>
      <p:sp>
        <p:nvSpPr>
          <p:cNvPr id="23" name="t"/>
          <p:cNvSpPr txBox="1"/>
          <p:nvPr/>
        </p:nvSpPr>
        <p:spPr>
          <a:xfrm>
            <a:off x="640080" y="3050000"/>
            <a:ext cx="1105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22A42"/>
                </a:solidFill>
                <a:latin typeface="맑은 고딕"/>
              </a:rPr>
              <a:t>↓  4번이 durable commit 되면</a:t>
            </a:r>
          </a:p>
        </p:txBody>
      </p:sp>
      <p:sp>
        <p:nvSpPr>
          <p:cNvPr id="24" name="t"/>
          <p:cNvSpPr txBox="1"/>
          <p:nvPr/>
        </p:nvSpPr>
        <p:spPr>
          <a:xfrm>
            <a:off x="640080" y="3500000"/>
            <a:ext cx="14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22A42"/>
                </a:solidFill>
                <a:latin typeface="맑은 고딕"/>
              </a:rPr>
              <a:t>(나)</a:t>
            </a:r>
          </a:p>
        </p:txBody>
      </p:sp>
      <p:sp>
        <p:nvSpPr>
          <p:cNvPr id="25" name="r"/>
          <p:cNvSpPr/>
          <p:nvPr/>
        </p:nvSpPr>
        <p:spPr>
          <a:xfrm>
            <a:off x="2150000" y="350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"/>
          <p:cNvSpPr txBox="1"/>
          <p:nvPr/>
        </p:nvSpPr>
        <p:spPr>
          <a:xfrm>
            <a:off x="2150000" y="350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7" name="r"/>
          <p:cNvSpPr/>
          <p:nvPr/>
        </p:nvSpPr>
        <p:spPr>
          <a:xfrm>
            <a:off x="3090000" y="350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"/>
          <p:cNvSpPr txBox="1"/>
          <p:nvPr/>
        </p:nvSpPr>
        <p:spPr>
          <a:xfrm>
            <a:off x="3090000" y="350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9" name="r"/>
          <p:cNvSpPr/>
          <p:nvPr/>
        </p:nvSpPr>
        <p:spPr>
          <a:xfrm>
            <a:off x="4030000" y="350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"/>
          <p:cNvSpPr txBox="1"/>
          <p:nvPr/>
        </p:nvSpPr>
        <p:spPr>
          <a:xfrm>
            <a:off x="4030000" y="350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1" name="r"/>
          <p:cNvSpPr/>
          <p:nvPr/>
        </p:nvSpPr>
        <p:spPr>
          <a:xfrm>
            <a:off x="4970000" y="350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"/>
          <p:cNvSpPr txBox="1"/>
          <p:nvPr/>
        </p:nvSpPr>
        <p:spPr>
          <a:xfrm>
            <a:off x="4970000" y="350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3" name="r"/>
          <p:cNvSpPr/>
          <p:nvPr/>
        </p:nvSpPr>
        <p:spPr>
          <a:xfrm>
            <a:off x="5910000" y="3500000"/>
            <a:ext cx="820000" cy="82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"/>
          <p:cNvSpPr txBox="1"/>
          <p:nvPr/>
        </p:nvSpPr>
        <p:spPr>
          <a:xfrm>
            <a:off x="5910000" y="3500000"/>
            <a:ext cx="82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5" name="t"/>
          <p:cNvSpPr txBox="1"/>
          <p:nvPr/>
        </p:nvSpPr>
        <p:spPr>
          <a:xfrm>
            <a:off x="6950000" y="3500000"/>
            <a:ext cx="4200000" cy="8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</a:rPr>
              <a:t>scs = 5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  3 → 5 점프 (4·5 한꺼번에)</a:t>
            </a:r>
          </a:p>
        </p:txBody>
      </p:sp>
      <p:sp>
        <p:nvSpPr>
          <p:cNvPr id="36" name="r"/>
          <p:cNvSpPr/>
          <p:nvPr/>
        </p:nvSpPr>
        <p:spPr>
          <a:xfrm>
            <a:off x="640080" y="4650000"/>
            <a:ext cx="11050000" cy="150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"/>
          <p:cNvSpPr/>
          <p:nvPr/>
        </p:nvSpPr>
        <p:spPr>
          <a:xfrm>
            <a:off x="640080" y="4650000"/>
            <a:ext cx="11050000" cy="38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"/>
          <p:cNvSpPr txBox="1"/>
          <p:nvPr/>
        </p:nvSpPr>
        <p:spPr>
          <a:xfrm>
            <a:off x="780080" y="4650000"/>
            <a:ext cx="1077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한 줄 정리</a:t>
            </a:r>
          </a:p>
        </p:txBody>
      </p:sp>
      <p:sp>
        <p:nvSpPr>
          <p:cNvPr id="39" name="t"/>
          <p:cNvSpPr txBox="1"/>
          <p:nvPr/>
        </p:nvSpPr>
        <p:spPr>
          <a:xfrm>
            <a:off x="800000" y="5220000"/>
            <a:ext cx="1070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350" b="1">
                <a:solidFill>
                  <a:srgbClr val="122A42"/>
                </a:solidFill>
                <a:latin typeface="맑은 고딕"/>
              </a:rPr>
              <a:t>scs = </a:t>
            </a:r>
            <a:r>
              <a:rPr sz="1350" b="1">
                <a:solidFill>
                  <a:srgbClr val="E87A2B"/>
                </a:solidFill>
                <a:latin typeface="맑은 고딕"/>
              </a:rPr>
              <a:t>1번부터 빠짐없이 durable commit 된 연속 구간의 끝</a:t>
            </a:r>
            <a:r>
              <a:rPr sz="1300" b="0">
                <a:solidFill>
                  <a:srgbClr val="444B54"/>
                </a:solidFill>
                <a:latin typeface="맑은 고딕"/>
              </a:rPr>
              <a:t> (중간 한 칸이라도 비면 거기서 멈춤)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44B54"/>
                </a:solidFill>
                <a:latin typeface="맑은 고딕"/>
              </a:rPr>
              <a:t>→ 코디네이터는 scs 하나만 보면 됨 : dep ≤ scs 면 '기다릴 선행이 100% 다 끝남'이 자동 보장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12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상세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① —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일반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디스패치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122A42"/>
                </a:solidFill>
                <a:latin typeface="맑은 고딕"/>
              </a:rPr>
              <a:t>독립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(dep=0)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은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즉시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병렬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,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의존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tx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는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watermark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도달까지</a:t>
            </a:r>
            <a:r>
              <a:rPr sz="22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22A42"/>
                </a:solidFill>
                <a:latin typeface="맑은 고딕"/>
              </a:rPr>
              <a:t>대기</a:t>
            </a:r>
            <a:endParaRPr sz="2200" b="1" dirty="0">
              <a:solidFill>
                <a:srgbClr val="122A42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dirty="0">
                <a:solidFill>
                  <a:srgbClr val="1F6F8B"/>
                </a:solidFill>
                <a:latin typeface="맑은 고딕"/>
              </a:rPr>
              <a:t>※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같은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dep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을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받는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건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commit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진입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때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6F8B"/>
                </a:solidFill>
                <a:latin typeface="맑은 고딕"/>
              </a:rPr>
              <a:t>같은</a:t>
            </a:r>
            <a:r>
              <a:rPr sz="11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6F8B"/>
                </a:solidFill>
                <a:latin typeface="맑은 고딕"/>
              </a:rPr>
              <a:t>max_committed</a:t>
            </a:r>
            <a:r>
              <a:rPr sz="11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6F8B"/>
                </a:solidFill>
                <a:latin typeface="맑은 고딕"/>
              </a:rPr>
              <a:t>를</a:t>
            </a:r>
            <a:r>
              <a:rPr sz="11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6F8B"/>
                </a:solidFill>
                <a:latin typeface="맑은 고딕"/>
              </a:rPr>
              <a:t>봤기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때문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서로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(2·3·4)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를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안</a:t>
            </a:r>
            <a:r>
              <a:rPr sz="1100" b="0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6F8B"/>
                </a:solidFill>
                <a:latin typeface="맑은 고딕"/>
              </a:rPr>
              <a:t>본다</a:t>
            </a:r>
            <a:endParaRPr sz="1100" b="0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24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480000"/>
            <a:ext cx="5350000" cy="182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"/>
          <p:cNvSpPr txBox="1"/>
          <p:nvPr/>
        </p:nvSpPr>
        <p:spPr>
          <a:xfrm>
            <a:off x="810080" y="1610000"/>
            <a:ext cx="5010000" cy="1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100" b="1">
                <a:solidFill>
                  <a:srgbClr val="E87A2B"/>
                </a:solidFill>
                <a:latin typeface="Consolas"/>
              </a:rPr>
              <a:t>복제 메타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40" b="0">
                <a:solidFill>
                  <a:srgbClr val="D8E6EE"/>
                </a:solidFill>
                <a:latin typeface="Consolas"/>
              </a:rPr>
              <a:t>T1: seq=1  dep=0     T5: seq=5  dep=2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40" b="0">
                <a:solidFill>
                  <a:srgbClr val="D8E6EE"/>
                </a:solidFill>
                <a:latin typeface="Consolas"/>
              </a:rPr>
              <a:t>T2: seq=2  dep=0     T6: seq=6  dep=1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40" b="0">
                <a:solidFill>
                  <a:srgbClr val="D8E6EE"/>
                </a:solidFill>
                <a:latin typeface="Consolas"/>
              </a:rPr>
              <a:t>T3: seq=3  dep=0     T7: seq=7  dep=0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40" b="0">
                <a:solidFill>
                  <a:srgbClr val="D8E6EE"/>
                </a:solidFill>
                <a:latin typeface="Consolas"/>
              </a:rPr>
              <a:t>T4: seq=4  dep=2</a:t>
            </a:r>
          </a:p>
        </p:txBody>
      </p:sp>
      <p:sp>
        <p:nvSpPr>
          <p:cNvPr id="12" name="r"/>
          <p:cNvSpPr/>
          <p:nvPr/>
        </p:nvSpPr>
        <p:spPr>
          <a:xfrm>
            <a:off x="640080" y="3420000"/>
            <a:ext cx="5350000" cy="230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"/>
          <p:cNvSpPr txBox="1"/>
          <p:nvPr/>
        </p:nvSpPr>
        <p:spPr>
          <a:xfrm>
            <a:off x="810080" y="3550000"/>
            <a:ext cx="5010000" cy="20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140" b="1">
                <a:solidFill>
                  <a:srgbClr val="E87A2B"/>
                </a:solidFill>
                <a:latin typeface="Consolas"/>
              </a:rPr>
              <a:t>의존성 그래프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dep0 ┬ T1 ──── T6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   ├ T2 ┬ T4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   │    └ T5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   ├ T3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   └ T7</a:t>
            </a:r>
          </a:p>
        </p:txBody>
      </p:sp>
      <p:sp>
        <p:nvSpPr>
          <p:cNvPr id="14" name="r"/>
          <p:cNvSpPr/>
          <p:nvPr/>
        </p:nvSpPr>
        <p:spPr>
          <a:xfrm>
            <a:off x="6260000" y="1480000"/>
            <a:ext cx="5430000" cy="268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6430000" y="1610000"/>
            <a:ext cx="5090000" cy="24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060" b="1">
                <a:solidFill>
                  <a:srgbClr val="E87A2B"/>
                </a:solidFill>
                <a:latin typeface="Consolas"/>
              </a:rPr>
              <a:t>타임라인 (worker = 4)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W1: T1 ─── done ──── T6 ── done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W2: T2 ───────── done ─ T4 ── done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W3: T3 ─ done ──────── T5 ── done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W4: T7 ─── done</a:t>
            </a:r>
          </a:p>
          <a:p>
            <a:endParaRPr sz="500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slave_committed_seq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T1 done        → 1   (T6 분배)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T2·T3 done     → 3   (T4·T5 분배)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00" b="0">
                <a:solidFill>
                  <a:srgbClr val="D8E6EE"/>
                </a:solidFill>
                <a:latin typeface="Consolas"/>
              </a:rPr>
              <a:t>  T4..T7 연속done → 7</a:t>
            </a:r>
          </a:p>
        </p:txBody>
      </p:sp>
      <p:sp>
        <p:nvSpPr>
          <p:cNvPr id="16" name="t"/>
          <p:cNvSpPr txBox="1"/>
          <p:nvPr/>
        </p:nvSpPr>
        <p:spPr>
          <a:xfrm>
            <a:off x="6260000" y="4320000"/>
            <a:ext cx="543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22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독립(dep=0) 인 </a:t>
            </a:r>
            <a:r>
              <a:rPr sz="1200" b="1">
                <a:solidFill>
                  <a:srgbClr val="1F6F8B"/>
                </a:solidFill>
                <a:latin typeface="맑은 고딕"/>
              </a:rPr>
              <a:t>T1·T2·T3·T7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은 즉시 병렬.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E87A2B"/>
                </a:solidFill>
                <a:latin typeface="맑은 고딕"/>
              </a:rPr>
              <a:t>T4·T5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는 dep=2 라 T2 까지(scs≥2) 대기, </a:t>
            </a:r>
            <a:r>
              <a:rPr sz="1200" b="1">
                <a:solidFill>
                  <a:srgbClr val="E87A2B"/>
                </a:solidFill>
                <a:latin typeface="맑은 고딕"/>
              </a:rPr>
              <a:t>T6</a:t>
            </a:r>
            <a:r>
              <a:rPr sz="1200" b="0">
                <a:solidFill>
                  <a:srgbClr val="444B54"/>
                </a:solidFill>
                <a:latin typeface="맑은 고딕"/>
              </a:rPr>
              <a:t> 은 dep=1 라 T1 후 분배.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dirty="0">
                <a:solidFill>
                  <a:srgbClr val="1F6F8B"/>
                </a:solidFill>
                <a:latin typeface="맑은 고딕"/>
              </a:rPr>
              <a:t>8-</a:t>
            </a:r>
            <a:r>
              <a:rPr lang="en-US" altLang="ko-KR" sz="1300" b="1" dirty="0">
                <a:solidFill>
                  <a:srgbClr val="1F6F8B"/>
                </a:solidFill>
                <a:latin typeface="맑은 고딕"/>
              </a:rPr>
              <a:t>12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상세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② — FK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가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있을</a:t>
            </a:r>
            <a:r>
              <a:rPr sz="1300" b="1" dirty="0">
                <a:solidFill>
                  <a:srgbClr val="1F6F8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6F8B"/>
                </a:solidFill>
                <a:latin typeface="맑은 고딕"/>
              </a:rPr>
              <a:t>때</a:t>
            </a:r>
            <a:endParaRPr sz="1300" b="1" dirty="0">
              <a:solidFill>
                <a:srgbClr val="1F6F8B"/>
              </a:solidFill>
              <a:latin typeface="맑은 고딕"/>
            </a:endParaRP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122A42"/>
                </a:solidFill>
                <a:latin typeface="맑은 고딕"/>
              </a:rPr>
              <a:t>자식은 부모 commit 이 끝날 때까지 대기 — commit 순서가 FK 를 보존</a:t>
            </a: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25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500000"/>
            <a:ext cx="6000000" cy="3650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"/>
          <p:cNvSpPr txBox="1"/>
          <p:nvPr/>
        </p:nvSpPr>
        <p:spPr>
          <a:xfrm>
            <a:off x="810080" y="1630000"/>
            <a:ext cx="5660000" cy="339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220"/>
              </a:spcAft>
            </a:pPr>
            <a:r>
              <a:rPr sz="1140" b="1">
                <a:solidFill>
                  <a:srgbClr val="E87A2B"/>
                </a:solidFill>
                <a:latin typeface="Consolas"/>
              </a:rPr>
              <a:t>FK 시나리오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T1 (seq=1, dep=0)   부모 INSERT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T2 (seq=2, dep=1)   자식 INSERT (FK → T1)</a:t>
            </a:r>
          </a:p>
          <a:p>
            <a:endParaRPr sz="540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slave_committed_seq = 0   (T1 미완)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T2.dep=1 ≤ 0 ?   거짓 → 대기</a:t>
            </a:r>
          </a:p>
          <a:p>
            <a:endParaRPr sz="540"/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T1 durable commit → slave_committed_seq = 1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T2.dep=1 ≤ 1 ?   참  → dispatch</a:t>
            </a:r>
          </a:p>
          <a:p>
            <a:pPr algn="l">
              <a:lnSpc>
                <a:spcPct val="124000"/>
              </a:lnSpc>
              <a:spcAft>
                <a:spcPts val="120"/>
              </a:spcAft>
            </a:pPr>
            <a:r>
              <a:rPr sz="1080" b="0">
                <a:solidFill>
                  <a:srgbClr val="D8E6EE"/>
                </a:solidFill>
                <a:latin typeface="Consolas"/>
              </a:rPr>
              <a:t>  → 자식 FK 검사가 'commit 된 부모' 를 본다</a:t>
            </a:r>
          </a:p>
        </p:txBody>
      </p:sp>
      <p:sp>
        <p:nvSpPr>
          <p:cNvPr id="12" name="r"/>
          <p:cNvSpPr/>
          <p:nvPr/>
        </p:nvSpPr>
        <p:spPr>
          <a:xfrm>
            <a:off x="6920000" y="1500000"/>
            <a:ext cx="4770000" cy="365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"/>
          <p:cNvSpPr/>
          <p:nvPr/>
        </p:nvSpPr>
        <p:spPr>
          <a:xfrm>
            <a:off x="6920000" y="1500000"/>
            <a:ext cx="4770000" cy="40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"/>
          <p:cNvSpPr txBox="1"/>
          <p:nvPr/>
        </p:nvSpPr>
        <p:spPr>
          <a:xfrm>
            <a:off x="7070000" y="1500000"/>
            <a:ext cx="447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왜 자동으로 풀리나</a:t>
            </a:r>
          </a:p>
        </p:txBody>
      </p:sp>
      <p:sp>
        <p:nvSpPr>
          <p:cNvPr id="15" name="t"/>
          <p:cNvSpPr txBox="1"/>
          <p:nvPr/>
        </p:nvSpPr>
        <p:spPr>
          <a:xfrm>
            <a:off x="7080000" y="2080000"/>
            <a:ext cx="4450000" cy="297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master 에서 자식은 부모가 commit 된 뒤에 commit → </a:t>
            </a:r>
            <a:r>
              <a:rPr sz="1180" b="1">
                <a:solidFill>
                  <a:srgbClr val="1F6F8B"/>
                </a:solidFill>
                <a:latin typeface="Consolas"/>
              </a:rPr>
              <a:t>자식.dep = 부모.commit_seq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slave 는 FK 를 몰라도 dependency_seq 만 보고 </a:t>
            </a:r>
            <a:r>
              <a:rPr sz="1250" b="1">
                <a:solidFill>
                  <a:srgbClr val="122A42"/>
                </a:solidFill>
                <a:latin typeface="맑은 고딕"/>
              </a:rPr>
              <a:t>자식을 부모 뒤로만 분배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444B54"/>
                </a:solidFill>
                <a:latin typeface="맑은 고딕"/>
              </a:rPr>
              <a:t>→ 자식을 먼저 적용해 FK 검사에 걸려 </a:t>
            </a:r>
            <a:r>
              <a:rPr sz="1250" b="1">
                <a:solidFill>
                  <a:srgbClr val="E87A2B"/>
                </a:solidFill>
                <a:latin typeface="맑은 고딕"/>
              </a:rPr>
              <a:t>조용히 누락</a:t>
            </a:r>
            <a:r>
              <a:rPr sz="1250" b="0">
                <a:solidFill>
                  <a:srgbClr val="444B54"/>
                </a:solidFill>
                <a:latin typeface="맑은 고딕"/>
              </a:rPr>
              <a:t>되는 문제(F.1)가 원천적으로 안 생긴다.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8A939E"/>
                </a:solidFill>
                <a:latin typeface="맑은 고딕"/>
              </a:rPr>
              <a:t>FK 키 주입 없이 마스터 commit 순서가 그대로 해결.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정확성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1차 COMMIT_ORDER 는 보수적으로 안전하다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9-1. FK 시나리오 — silent skip 차단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왜 마스터 계산이 필요한가의 대표 사례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394960" cy="2286000"/>
          </a:xfrm>
          <a:prstGeom prst="rect">
            <a:avLst/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7A2B"/>
                </a:solidFill>
                <a:latin typeface="맑은 고딕"/>
              </a:rPr>
              <a:t>잘못된 병렬화 (위험)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44B54"/>
                </a:solidFill>
                <a:latin typeface="Consolas"/>
              </a:rPr>
              <a:t>master:
  T1 commit INSERT orders(100)
  T2 commit INSERT order_items(100,
             FK → orders)
T2 를 T1 보다 먼저 적용 → orders(100)
없음 → FK 위반 → 자식 행 누락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394960" cy="2286000"/>
          </a:xfrm>
          <a:prstGeom prst="rect">
            <a:avLst/>
          </a:prstGeom>
          <a:solidFill>
            <a:srgbClr val="E6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6F8B"/>
                </a:solidFill>
                <a:latin typeface="맑은 고딕"/>
              </a:rPr>
              <a:t>1차 COMMIT_ORDER (자동 차단)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44B54"/>
                </a:solidFill>
                <a:latin typeface="Consolas"/>
              </a:rPr>
              <a:t>마스터: T1 commit 후 T2 commit 진입
  → T2.dependency_seq ≥ T1.commit_seq
슬레이브: T1 이 durable 되어
  slave_committed_seq ≥ T1.commit_seq
  되기 전까지 T2 는 dispatch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22A42"/>
                </a:solidFill>
                <a:latin typeface="맑은 고딕"/>
              </a:rPr>
              <a:t>FK 안전성은 슬레이브가 FK 를 알아서 생기는 것이 아니다.
부모 commit 뒤에 자식 commit 이 가능했던 마스터의 순서가 dependency_seq 로 전달되고,
슬레이브가 그 토큰을 집행해서 생긴다.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9-2. 같은 행·unique·상속 — commit 순서가 덮는다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슬레이브가 위험을 식별하지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283464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54480"/>
            <a:ext cx="347472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5544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마스터에서 일어나는 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429768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슬레이브에서 안전한 이유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11680"/>
            <a:ext cx="283464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011680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2A42"/>
                </a:solidFill>
                <a:latin typeface="맑은 고딕"/>
              </a:rPr>
              <a:t>같은 행 update/delete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011680"/>
            <a:ext cx="347472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2011680"/>
            <a:ext cx="3291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write-write 를 마스터 lock 으로 직렬화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011680"/>
            <a:ext cx="429768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2011680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뒤 tx 의 dependency_seq 가 앞 commit 이후를 가리켜 밀림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52928"/>
            <a:ext cx="28346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852928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122A42"/>
                </a:solidFill>
                <a:latin typeface="맑은 고딕"/>
              </a:rPr>
              <a:t>PK/unique </a:t>
            </a:r>
            <a:r>
              <a:rPr sz="1200" b="1" dirty="0" err="1">
                <a:solidFill>
                  <a:srgbClr val="122A42"/>
                </a:solidFill>
                <a:latin typeface="맑은 고딕"/>
              </a:rPr>
              <a:t>재사용</a:t>
            </a:r>
            <a:endParaRPr sz="120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0" y="2852928"/>
            <a:ext cx="34747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67328" y="2852928"/>
            <a:ext cx="3291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unique 검사·index 변경이 마스터 순서에서 성립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852928"/>
            <a:ext cx="42976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8" y="2852928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같은 순서로 dispatch/commit → 중간 unique 상태 안 만듦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694176"/>
            <a:ext cx="283464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3694176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2A42"/>
                </a:solidFill>
                <a:latin typeface="맑은 고딕"/>
              </a:rPr>
              <a:t>FK 부모→자식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694176"/>
            <a:ext cx="347472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67328" y="3694176"/>
            <a:ext cx="3291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자식은 commit 된 부모 기준 FK 통과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694176"/>
            <a:ext cx="4297680" cy="841248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8" y="3694176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자식 dependency_seq 가 부모 commit 이후 → 부모 durable 전 불가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35424"/>
            <a:ext cx="28346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4535424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2A42"/>
                </a:solidFill>
                <a:latin typeface="맑은 고딕"/>
              </a:rPr>
              <a:t>상속 공유 unique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4535424"/>
            <a:ext cx="34747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67328" y="4535424"/>
            <a:ext cx="3291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공유 index 충돌이 commit 순서에 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535424"/>
            <a:ext cx="42976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4928" y="4535424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B54"/>
                </a:solidFill>
                <a:latin typeface="맑은 고딕"/>
              </a:rPr>
              <a:t>COMMIT_ORDER 가 그 순서를 그대로 보존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7A2B"/>
                </a:solidFill>
                <a:latin typeface="맑은 고딕"/>
              </a:rPr>
              <a:t>공통점: 슬레이브는 위험을 식별하지 않는다. 마스터가 만든 commit-order 의존성이 더 보수적인 경계로 작동한다.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9-3. 병렬성은 얼마나 살아나는가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마스터 commit 동시성이 곧 상한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workload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1차 COMMIT_ORDER 병렬성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5486400" cy="777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2A42"/>
                </a:solidFill>
                <a:latin typeface="맑은 고딕"/>
              </a:rPr>
              <a:t>동시 commit OLTP (여러 클라이언트)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5212080" cy="777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44B54"/>
                </a:solidFill>
                <a:latin typeface="맑은 고딕"/>
              </a:rPr>
              <a:t>마스터 동시성만큼 살아남 — 워커 늘릴 실익 있음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7889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2A42"/>
                </a:solidFill>
                <a:latin typeface="맑은 고딕"/>
              </a:rPr>
              <a:t>단일 클라이언트·거의 직렬 commit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88920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44B54"/>
                </a:solidFill>
                <a:latin typeface="맑은 고딕"/>
              </a:rPr>
              <a:t>거의 순차 — 데이터 독립이어도 병렬화 못 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66160"/>
            <a:ext cx="5486400" cy="777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2A42"/>
                </a:solidFill>
                <a:latin typeface="맑은 고딕"/>
              </a:rPr>
              <a:t>긴 단일 트랜잭션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5212080" cy="77724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56616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44B54"/>
                </a:solidFill>
                <a:latin typeface="맑은 고딕"/>
              </a:rPr>
              <a:t>한 워커가 처리 — 내부 병렬 없음, HOL 대기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2A42"/>
                </a:solidFill>
                <a:latin typeface="맑은 고딕"/>
              </a:rPr>
              <a:t>백로그를 마스터보다 빨리 재생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343400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434340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44B54"/>
                </a:solidFill>
                <a:latin typeface="맑은 고딕"/>
              </a:rPr>
              <a:t>COMMIT_ORDER 상한에 막힘 → v2 WRITESET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22A42"/>
                </a:solidFill>
                <a:latin typeface="맑은 고딕"/>
              </a:rPr>
              <a:t>1차 설계는 "슬레이브 적용이 병목이고 마스터는 동시 쓰기 부하" 상황에 효과적이다.
마스터에서 이미 직렬로 쌓인 독립 tx 를 데이터 독립성만으로 재병렬화하는 능력은 v2 WRITESET 의 몫이다.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재시작과 Progress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commit 게이트가 기존 gap-free progress 모델을 유지시킨다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10. 재시작 — 기존 progress 모델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병렬화해도 새 applied-set 이 필요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5778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dirty="0">
                <a:solidFill>
                  <a:srgbClr val="122A42"/>
                </a:solidFill>
                <a:latin typeface="맑은 고딕"/>
              </a:rPr>
              <a:t>●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재시작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기준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(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develop·PoC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22A42"/>
                </a:solidFill>
                <a:latin typeface="맑은 고딕"/>
              </a:rPr>
              <a:t>동일</a:t>
            </a:r>
            <a:r>
              <a:rPr sz="1400" b="1" dirty="0">
                <a:solidFill>
                  <a:srgbClr val="122A42"/>
                </a:solidFill>
                <a:latin typeface="맑은 고딕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required_lsa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(LWM)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부터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로그를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다시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읽어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적용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두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단계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멱등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skip: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· LOG_COMMIT LSA ≤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committed_lsa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인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tx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통째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skip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item.lsa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&gt;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last_committed_rep_lsa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인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것만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적용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dirty="0">
                <a:solidFill>
                  <a:srgbClr val="E87A2B"/>
                </a:solidFill>
                <a:latin typeface="맑은 고딕"/>
              </a:rPr>
              <a:t>●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왜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out-of-order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문제가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안</a:t>
            </a:r>
            <a:r>
              <a:rPr sz="1400" b="1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E87A2B"/>
                </a:solidFill>
                <a:latin typeface="맑은 고딕"/>
              </a:rPr>
              <a:t>남는가</a:t>
            </a:r>
            <a:endParaRPr sz="1400" b="1" dirty="0">
              <a:solidFill>
                <a:srgbClr val="E87A2B"/>
              </a:solidFill>
              <a:latin typeface="맑은 고딕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worker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독립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commit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하면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T2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먼저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durable →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· crash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재적용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위험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(PoC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의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병렬화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고유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문제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–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정식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설계는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commit gate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그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상태를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만든다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→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dirty="0">
                <a:solidFill>
                  <a:srgbClr val="444B54"/>
                </a:solidFill>
                <a:latin typeface="맑은 고딕"/>
              </a:rPr>
              <a:t>·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committed_lsa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source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순서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prefix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로만</a:t>
            </a:r>
            <a:r>
              <a:rPr sz="130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B54"/>
                </a:solidFill>
                <a:latin typeface="맑은 고딕"/>
              </a:rPr>
              <a:t>전진</a:t>
            </a:r>
            <a:endParaRPr sz="1300" b="0" dirty="0">
              <a:solidFill>
                <a:srgbClr val="444B54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5120640" cy="448056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6F8B"/>
                </a:solidFill>
                <a:latin typeface="맑은 고딕"/>
              </a:rPr>
              <a:t>지켜야 할 불변식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● 워커는 durable commit 직전 순서 게이트를 반드시 통과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out-of-order durable commit 원천 차단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● committed_lsa 는 연속 prefix 로만 전진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dispatch 조건·재시작 skip 의 기준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● crash 후 메모리 큐·대기 순번은 버린다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복구 기준은 영속화된 progress 와 로그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2A42"/>
                </a:solidFill>
                <a:latin typeface="맑은 고딕"/>
              </a:rPr>
              <a:t>● 재시작 후 병렬 재적용은 선택 사항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44B54"/>
                </a:solidFill>
                <a:latin typeface="맑은 고딕"/>
              </a:rPr>
              <a:t>– 직렬 재적용으로도 correctness 충분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60"/>
              </a:spcAft>
            </a:pPr>
            <a:r>
              <a:rPr sz="1300" b="1">
                <a:solidFill>
                  <a:srgbClr val="1F6F8B"/>
                </a:solidFill>
                <a:latin typeface="맑은 고딕"/>
              </a:rPr>
              <a:t>10-2. 재시작 시 scs 복원 — 세 가지 방식</a:t>
            </a:r>
          </a:p>
        </p:txBody>
      </p:sp>
      <p:sp>
        <p:nvSpPr>
          <p:cNvPr id="6" name="t"/>
          <p:cNvSpPr txBox="1"/>
          <p:nvPr/>
        </p:nvSpPr>
        <p:spPr>
          <a:xfrm>
            <a:off x="731520" y="585216"/>
            <a:ext cx="111000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60"/>
              </a:spcAft>
            </a:pPr>
            <a:r>
              <a:rPr sz="1650" b="1" dirty="0" err="1">
                <a:solidFill>
                  <a:srgbClr val="122A42"/>
                </a:solidFill>
                <a:latin typeface="맑은 고딕"/>
              </a:rPr>
              <a:t>재시작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때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어떻게</a:t>
            </a:r>
            <a:r>
              <a:rPr sz="1650" b="1" dirty="0">
                <a:solidFill>
                  <a:srgbClr val="122A42"/>
                </a:solidFill>
                <a:latin typeface="맑은 고딕"/>
              </a:rPr>
              <a:t> </a:t>
            </a:r>
            <a:r>
              <a:rPr sz="1650" b="1" dirty="0" err="1">
                <a:solidFill>
                  <a:srgbClr val="122A42"/>
                </a:solidFill>
                <a:latin typeface="맑은 고딕"/>
              </a:rPr>
              <a:t>되살리나</a:t>
            </a:r>
            <a:endParaRPr sz="1650" b="1" dirty="0">
              <a:solidFill>
                <a:srgbClr val="122A42"/>
              </a:solidFill>
              <a:latin typeface="맑은 고딕"/>
            </a:endParaRPr>
          </a:p>
        </p:txBody>
      </p:sp>
      <p:sp>
        <p:nvSpPr>
          <p:cNvPr id="7" name="r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lnSpc>
                <a:spcPct val="110000"/>
              </a:lnSpc>
              <a:spcAft>
                <a:spcPts val="260"/>
              </a:spcAft>
            </a:pPr>
            <a:r>
              <a:rPr sz="1100" b="0">
                <a:solidFill>
                  <a:srgbClr val="8A939E"/>
                </a:solidFill>
                <a:latin typeface="맑은 고딕"/>
              </a:rPr>
              <a:t>36</a:t>
            </a:r>
          </a:p>
        </p:txBody>
      </p:sp>
      <p:sp>
        <p:nvSpPr>
          <p:cNvPr id="9" name="t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60"/>
              </a:spcAft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"/>
          <p:cNvSpPr/>
          <p:nvPr/>
        </p:nvSpPr>
        <p:spPr>
          <a:xfrm>
            <a:off x="640080" y="1500000"/>
            <a:ext cx="3540000" cy="23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"/>
          <p:cNvSpPr/>
          <p:nvPr/>
        </p:nvSpPr>
        <p:spPr>
          <a:xfrm>
            <a:off x="640080" y="1500000"/>
            <a:ext cx="3540000" cy="4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770080" y="1500000"/>
            <a:ext cx="328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① LSA 앵커링 (권장)</a:t>
            </a:r>
          </a:p>
        </p:txBody>
      </p:sp>
      <p:sp>
        <p:nvSpPr>
          <p:cNvPr id="13" name="t"/>
          <p:cNvSpPr txBox="1"/>
          <p:nvPr/>
        </p:nvSpPr>
        <p:spPr>
          <a:xfrm>
            <a:off x="790080" y="1970000"/>
            <a:ext cx="3240000" cy="18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scs 를 commit_seq 가 아니라 </a:t>
            </a:r>
            <a:r>
              <a:rPr sz="1080" b="1">
                <a:solidFill>
                  <a:srgbClr val="122A42"/>
                </a:solidFill>
                <a:latin typeface="맑은 고딕"/>
              </a:rPr>
              <a:t>LSA 로 표현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→ 재시작 scs = </a:t>
            </a:r>
            <a:r>
              <a:rPr sz="1080" b="1">
                <a:solidFill>
                  <a:srgbClr val="1F6F8B"/>
                </a:solidFill>
                <a:latin typeface="맑은 고딕"/>
              </a:rPr>
              <a:t>committed_lsa 그 자체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추가 필드 0 · 추가 읽기 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마스터 epoch 문제 </a:t>
            </a:r>
            <a:r>
              <a:rPr sz="1080" b="1">
                <a:solidFill>
                  <a:srgbClr val="2E8B57"/>
                </a:solidFill>
                <a:latin typeface="맑은 고딕"/>
              </a:rPr>
              <a:t>자동 소멸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 (LSA 는 안 리셋)</a:t>
            </a:r>
          </a:p>
        </p:txBody>
      </p:sp>
      <p:sp>
        <p:nvSpPr>
          <p:cNvPr id="14" name="r"/>
          <p:cNvSpPr/>
          <p:nvPr/>
        </p:nvSpPr>
        <p:spPr>
          <a:xfrm>
            <a:off x="4365080" y="1500000"/>
            <a:ext cx="3540000" cy="23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"/>
          <p:cNvSpPr/>
          <p:nvPr/>
        </p:nvSpPr>
        <p:spPr>
          <a:xfrm>
            <a:off x="4365080" y="1500000"/>
            <a:ext cx="3540000" cy="4000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"/>
          <p:cNvSpPr txBox="1"/>
          <p:nvPr/>
        </p:nvSpPr>
        <p:spPr>
          <a:xfrm>
            <a:off x="4495080" y="1500000"/>
            <a:ext cx="328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② commit_seq 영속</a:t>
            </a:r>
          </a:p>
        </p:txBody>
      </p:sp>
      <p:sp>
        <p:nvSpPr>
          <p:cNvPr id="17" name="t"/>
          <p:cNvSpPr txBox="1"/>
          <p:nvPr/>
        </p:nvSpPr>
        <p:spPr>
          <a:xfrm>
            <a:off x="4515080" y="1970000"/>
            <a:ext cx="3240000" cy="18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apply_info 에 scs(commit_seq) 컬럼 추가 → 로드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caveat ①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committed_lsa 와 원자적 갱신 필요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20" b="0">
                <a:solidFill>
                  <a:srgbClr val="8A939E"/>
                </a:solidFill>
                <a:latin typeface="맑은 고딕"/>
              </a:rPr>
              <a:t>(어긋나면 진도 불일치)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caveat ②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마스터 epoch 문제 남음</a:t>
            </a:r>
          </a:p>
        </p:txBody>
      </p:sp>
      <p:sp>
        <p:nvSpPr>
          <p:cNvPr id="18" name="r"/>
          <p:cNvSpPr/>
          <p:nvPr/>
        </p:nvSpPr>
        <p:spPr>
          <a:xfrm>
            <a:off x="8090080" y="1500000"/>
            <a:ext cx="3540000" cy="238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"/>
          <p:cNvSpPr/>
          <p:nvPr/>
        </p:nvSpPr>
        <p:spPr>
          <a:xfrm>
            <a:off x="8090080" y="1500000"/>
            <a:ext cx="3540000" cy="400000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"/>
          <p:cNvSpPr txBox="1"/>
          <p:nvPr/>
        </p:nvSpPr>
        <p:spPr>
          <a:xfrm>
            <a:off x="8220080" y="1500000"/>
            <a:ext cx="328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③ 재시작 시 재유도</a:t>
            </a:r>
          </a:p>
        </p:txBody>
      </p:sp>
      <p:sp>
        <p:nvSpPr>
          <p:cNvPr id="21" name="t"/>
          <p:cNvSpPr txBox="1"/>
          <p:nvPr/>
        </p:nvSpPr>
        <p:spPr>
          <a:xfrm>
            <a:off x="8240080" y="1970000"/>
            <a:ext cx="3240000" cy="18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committed_lsa 가 가리키는 commit 레코드를 읽어 </a:t>
            </a:r>
            <a:r>
              <a:rPr sz="1080" b="1">
                <a:solidFill>
                  <a:srgbClr val="122A42"/>
                </a:solidFill>
                <a:latin typeface="맑은 고딕"/>
              </a:rPr>
              <a:t>commit_seq 추출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새 영속 필드 0</a:t>
            </a:r>
          </a:p>
          <a:p>
            <a:pPr algn="l">
              <a:lnSpc>
                <a:spcPct val="110000"/>
              </a:lnSpc>
              <a:spcAft>
                <a:spcPts val="23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단 레코드 </a:t>
            </a:r>
            <a:r>
              <a:rPr sz="1080" b="1">
                <a:solidFill>
                  <a:srgbClr val="E87A2B"/>
                </a:solidFill>
                <a:latin typeface="맑은 고딕"/>
              </a:rPr>
              <a:t>1회 읽기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 필요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caveat ② </a:t>
            </a:r>
            <a:r>
              <a:rPr sz="1080" b="0">
                <a:solidFill>
                  <a:srgbClr val="444B54"/>
                </a:solidFill>
                <a:latin typeface="맑은 고딕"/>
              </a:rPr>
              <a:t>epoch 문제 남음</a:t>
            </a:r>
          </a:p>
        </p:txBody>
      </p:sp>
      <p:sp>
        <p:nvSpPr>
          <p:cNvPr id="22" name="r"/>
          <p:cNvSpPr/>
          <p:nvPr/>
        </p:nvSpPr>
        <p:spPr>
          <a:xfrm>
            <a:off x="640080" y="4080000"/>
            <a:ext cx="2700000" cy="44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"/>
          <p:cNvSpPr txBox="1"/>
          <p:nvPr/>
        </p:nvSpPr>
        <p:spPr>
          <a:xfrm>
            <a:off x="640080" y="4080000"/>
            <a:ext cx="27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방식</a:t>
            </a:r>
          </a:p>
        </p:txBody>
      </p:sp>
      <p:sp>
        <p:nvSpPr>
          <p:cNvPr id="24" name="r"/>
          <p:cNvSpPr/>
          <p:nvPr/>
        </p:nvSpPr>
        <p:spPr>
          <a:xfrm>
            <a:off x="3340080" y="4080000"/>
            <a:ext cx="2750000" cy="44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"/>
          <p:cNvSpPr txBox="1"/>
          <p:nvPr/>
        </p:nvSpPr>
        <p:spPr>
          <a:xfrm>
            <a:off x="3340080" y="4080000"/>
            <a:ext cx="27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새 영속 필드</a:t>
            </a:r>
          </a:p>
        </p:txBody>
      </p:sp>
      <p:sp>
        <p:nvSpPr>
          <p:cNvPr id="26" name="r"/>
          <p:cNvSpPr/>
          <p:nvPr/>
        </p:nvSpPr>
        <p:spPr>
          <a:xfrm>
            <a:off x="6090080" y="4080000"/>
            <a:ext cx="2200000" cy="44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"/>
          <p:cNvSpPr txBox="1"/>
          <p:nvPr/>
        </p:nvSpPr>
        <p:spPr>
          <a:xfrm>
            <a:off x="6090080" y="4080000"/>
            <a:ext cx="22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추가 읽기</a:t>
            </a:r>
          </a:p>
        </p:txBody>
      </p:sp>
      <p:sp>
        <p:nvSpPr>
          <p:cNvPr id="28" name="r"/>
          <p:cNvSpPr/>
          <p:nvPr/>
        </p:nvSpPr>
        <p:spPr>
          <a:xfrm>
            <a:off x="8290080" y="4080000"/>
            <a:ext cx="3400000" cy="440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"/>
          <p:cNvSpPr txBox="1"/>
          <p:nvPr/>
        </p:nvSpPr>
        <p:spPr>
          <a:xfrm>
            <a:off x="8290080" y="4080000"/>
            <a:ext cx="34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마스터 epoch 문제</a:t>
            </a:r>
          </a:p>
        </p:txBody>
      </p:sp>
      <p:sp>
        <p:nvSpPr>
          <p:cNvPr id="30" name="r"/>
          <p:cNvSpPr/>
          <p:nvPr/>
        </p:nvSpPr>
        <p:spPr>
          <a:xfrm>
            <a:off x="640080" y="4520000"/>
            <a:ext cx="27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"/>
          <p:cNvSpPr txBox="1"/>
          <p:nvPr/>
        </p:nvSpPr>
        <p:spPr>
          <a:xfrm>
            <a:off x="640080" y="4520000"/>
            <a:ext cx="27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1F6F8B"/>
                </a:solidFill>
                <a:latin typeface="맑은 고딕"/>
              </a:rPr>
              <a:t>① LSA 앵커링</a:t>
            </a:r>
          </a:p>
        </p:txBody>
      </p:sp>
      <p:sp>
        <p:nvSpPr>
          <p:cNvPr id="32" name="r"/>
          <p:cNvSpPr/>
          <p:nvPr/>
        </p:nvSpPr>
        <p:spPr>
          <a:xfrm>
            <a:off x="3340080" y="4520000"/>
            <a:ext cx="275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"/>
          <p:cNvSpPr txBox="1"/>
          <p:nvPr/>
        </p:nvSpPr>
        <p:spPr>
          <a:xfrm>
            <a:off x="3340080" y="4520000"/>
            <a:ext cx="27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없음</a:t>
            </a:r>
          </a:p>
        </p:txBody>
      </p:sp>
      <p:sp>
        <p:nvSpPr>
          <p:cNvPr id="34" name="r"/>
          <p:cNvSpPr/>
          <p:nvPr/>
        </p:nvSpPr>
        <p:spPr>
          <a:xfrm>
            <a:off x="6090080" y="4520000"/>
            <a:ext cx="22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"/>
          <p:cNvSpPr txBox="1"/>
          <p:nvPr/>
        </p:nvSpPr>
        <p:spPr>
          <a:xfrm>
            <a:off x="6090080" y="4520000"/>
            <a:ext cx="22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없음</a:t>
            </a:r>
          </a:p>
        </p:txBody>
      </p:sp>
      <p:sp>
        <p:nvSpPr>
          <p:cNvPr id="36" name="r"/>
          <p:cNvSpPr/>
          <p:nvPr/>
        </p:nvSpPr>
        <p:spPr>
          <a:xfrm>
            <a:off x="8290080" y="4520000"/>
            <a:ext cx="34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"/>
          <p:cNvSpPr txBox="1"/>
          <p:nvPr/>
        </p:nvSpPr>
        <p:spPr>
          <a:xfrm>
            <a:off x="8290080" y="4520000"/>
            <a:ext cx="34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2E8B57"/>
                </a:solidFill>
                <a:latin typeface="맑은 고딕"/>
              </a:rPr>
              <a:t>자동 해결</a:t>
            </a:r>
          </a:p>
        </p:txBody>
      </p:sp>
      <p:sp>
        <p:nvSpPr>
          <p:cNvPr id="38" name="r"/>
          <p:cNvSpPr/>
          <p:nvPr/>
        </p:nvSpPr>
        <p:spPr>
          <a:xfrm>
            <a:off x="640080" y="4960000"/>
            <a:ext cx="2700000" cy="4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"/>
          <p:cNvSpPr txBox="1"/>
          <p:nvPr/>
        </p:nvSpPr>
        <p:spPr>
          <a:xfrm>
            <a:off x="640080" y="4960000"/>
            <a:ext cx="27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8A939E"/>
                </a:solidFill>
                <a:latin typeface="맑은 고딕"/>
              </a:rPr>
              <a:t>② commit_seq 영속</a:t>
            </a:r>
          </a:p>
        </p:txBody>
      </p:sp>
      <p:sp>
        <p:nvSpPr>
          <p:cNvPr id="40" name="r"/>
          <p:cNvSpPr/>
          <p:nvPr/>
        </p:nvSpPr>
        <p:spPr>
          <a:xfrm>
            <a:off x="3340080" y="4960000"/>
            <a:ext cx="2750000" cy="4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"/>
          <p:cNvSpPr txBox="1"/>
          <p:nvPr/>
        </p:nvSpPr>
        <p:spPr>
          <a:xfrm>
            <a:off x="3340080" y="4960000"/>
            <a:ext cx="27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있음 (+원자성)</a:t>
            </a:r>
          </a:p>
        </p:txBody>
      </p:sp>
      <p:sp>
        <p:nvSpPr>
          <p:cNvPr id="42" name="r"/>
          <p:cNvSpPr/>
          <p:nvPr/>
        </p:nvSpPr>
        <p:spPr>
          <a:xfrm>
            <a:off x="6090080" y="4960000"/>
            <a:ext cx="2200000" cy="4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"/>
          <p:cNvSpPr txBox="1"/>
          <p:nvPr/>
        </p:nvSpPr>
        <p:spPr>
          <a:xfrm>
            <a:off x="6090080" y="4960000"/>
            <a:ext cx="22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없음</a:t>
            </a:r>
          </a:p>
        </p:txBody>
      </p:sp>
      <p:sp>
        <p:nvSpPr>
          <p:cNvPr id="44" name="r"/>
          <p:cNvSpPr/>
          <p:nvPr/>
        </p:nvSpPr>
        <p:spPr>
          <a:xfrm>
            <a:off x="8290080" y="4960000"/>
            <a:ext cx="3400000" cy="4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"/>
          <p:cNvSpPr txBox="1"/>
          <p:nvPr/>
        </p:nvSpPr>
        <p:spPr>
          <a:xfrm>
            <a:off x="8290080" y="4960000"/>
            <a:ext cx="34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남음</a:t>
            </a:r>
          </a:p>
        </p:txBody>
      </p:sp>
      <p:sp>
        <p:nvSpPr>
          <p:cNvPr id="46" name="r"/>
          <p:cNvSpPr/>
          <p:nvPr/>
        </p:nvSpPr>
        <p:spPr>
          <a:xfrm>
            <a:off x="640080" y="5400000"/>
            <a:ext cx="27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"/>
          <p:cNvSpPr txBox="1"/>
          <p:nvPr/>
        </p:nvSpPr>
        <p:spPr>
          <a:xfrm>
            <a:off x="640080" y="5400000"/>
            <a:ext cx="27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8A939E"/>
                </a:solidFill>
                <a:latin typeface="맑은 고딕"/>
              </a:rPr>
              <a:t>③ 재유도</a:t>
            </a:r>
          </a:p>
        </p:txBody>
      </p:sp>
      <p:sp>
        <p:nvSpPr>
          <p:cNvPr id="48" name="r"/>
          <p:cNvSpPr/>
          <p:nvPr/>
        </p:nvSpPr>
        <p:spPr>
          <a:xfrm>
            <a:off x="3340080" y="5400000"/>
            <a:ext cx="275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"/>
          <p:cNvSpPr txBox="1"/>
          <p:nvPr/>
        </p:nvSpPr>
        <p:spPr>
          <a:xfrm>
            <a:off x="3340080" y="5400000"/>
            <a:ext cx="275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없음</a:t>
            </a:r>
          </a:p>
        </p:txBody>
      </p:sp>
      <p:sp>
        <p:nvSpPr>
          <p:cNvPr id="50" name="r"/>
          <p:cNvSpPr/>
          <p:nvPr/>
        </p:nvSpPr>
        <p:spPr>
          <a:xfrm>
            <a:off x="6090080" y="5400000"/>
            <a:ext cx="22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"/>
          <p:cNvSpPr txBox="1"/>
          <p:nvPr/>
        </p:nvSpPr>
        <p:spPr>
          <a:xfrm>
            <a:off x="6090080" y="5400000"/>
            <a:ext cx="22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0">
                <a:solidFill>
                  <a:srgbClr val="444B54"/>
                </a:solidFill>
                <a:latin typeface="맑은 고딕"/>
              </a:rPr>
              <a:t>1회</a:t>
            </a:r>
          </a:p>
        </p:txBody>
      </p:sp>
      <p:sp>
        <p:nvSpPr>
          <p:cNvPr id="52" name="r"/>
          <p:cNvSpPr/>
          <p:nvPr/>
        </p:nvSpPr>
        <p:spPr>
          <a:xfrm>
            <a:off x="8290080" y="5400000"/>
            <a:ext cx="3400000" cy="440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"/>
          <p:cNvSpPr txBox="1"/>
          <p:nvPr/>
        </p:nvSpPr>
        <p:spPr>
          <a:xfrm>
            <a:off x="8290080" y="5400000"/>
            <a:ext cx="340000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260"/>
              </a:spcAft>
            </a:pPr>
            <a:r>
              <a:rPr sz="1080" b="1">
                <a:solidFill>
                  <a:srgbClr val="E87A2B"/>
                </a:solidFill>
                <a:latin typeface="맑은 고딕"/>
              </a:rPr>
              <a:t>남음</a:t>
            </a:r>
          </a:p>
        </p:txBody>
      </p:sp>
      <p:sp>
        <p:nvSpPr>
          <p:cNvPr id="54" name="t"/>
          <p:cNvSpPr txBox="1"/>
          <p:nvPr/>
        </p:nvSpPr>
        <p:spPr>
          <a:xfrm>
            <a:off x="640080" y="5960000"/>
            <a:ext cx="110500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1" dirty="0">
                <a:solidFill>
                  <a:srgbClr val="122A42"/>
                </a:solidFill>
                <a:latin typeface="맑은 고딕"/>
              </a:rPr>
              <a:t>※ </a:t>
            </a:r>
            <a:r>
              <a:rPr sz="1080" b="1" dirty="0" err="1">
                <a:solidFill>
                  <a:srgbClr val="122A42"/>
                </a:solidFill>
                <a:latin typeface="맑은 고딕"/>
              </a:rPr>
              <a:t>마스터</a:t>
            </a:r>
            <a:r>
              <a:rPr sz="1080" b="1" dirty="0">
                <a:solidFill>
                  <a:srgbClr val="122A42"/>
                </a:solidFill>
                <a:latin typeface="맑은 고딕"/>
              </a:rPr>
              <a:t> epoch </a:t>
            </a:r>
            <a:r>
              <a:rPr sz="1080" b="1" dirty="0" err="1">
                <a:solidFill>
                  <a:srgbClr val="122A42"/>
                </a:solidFill>
                <a:latin typeface="맑은 고딕"/>
              </a:rPr>
              <a:t>문제</a:t>
            </a:r>
            <a:r>
              <a:rPr sz="1080" b="1" dirty="0">
                <a:solidFill>
                  <a:srgbClr val="122A42"/>
                </a:solidFill>
                <a:latin typeface="맑은 고딕"/>
              </a:rPr>
              <a:t> :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마스터가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재시작해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commit_seq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리셋되면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,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영속해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둔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큰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scs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새로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들어오는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작은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commit_seq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맞는다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. LSA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는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리셋되지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않아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①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에선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안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 </a:t>
            </a:r>
            <a:r>
              <a:rPr sz="1080" b="0" dirty="0" err="1">
                <a:solidFill>
                  <a:srgbClr val="444B54"/>
                </a:solidFill>
                <a:latin typeface="맑은 고딕"/>
              </a:rPr>
              <a:t>생긴다</a:t>
            </a:r>
            <a:r>
              <a:rPr sz="1080" b="0" dirty="0">
                <a:solidFill>
                  <a:srgbClr val="444B54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6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>
                <a:solidFill>
                  <a:srgbClr val="E87A2B"/>
                </a:solidFill>
                <a:latin typeface="맑은 고딕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38100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결론 및 향후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C6D2"/>
                </a:solidFill>
                <a:latin typeface="맑은 고딕"/>
              </a:rPr>
              <a:t>보수적으로 안전한 1차 설계, 그리고 WRITESET 확장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8B"/>
                </a:solidFill>
                <a:latin typeface="맑은 고딕"/>
              </a:rPr>
              <a:t>11. 결론 및 향후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2A42"/>
                </a:solidFill>
                <a:latin typeface="맑은 고딕"/>
              </a:rPr>
              <a:t>1차 COMMIT_ORDER → v2 WRITESET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254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A939E"/>
                </a:solidFill>
                <a:latin typeface="맑은 고딕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39E"/>
                </a:solidFill>
                <a:latin typeface="맑은 고딕"/>
              </a:rPr>
              <a:t>병렬 applylogdb 코디네이터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5394960" cy="246888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539496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65506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1차 설계 (COMMIT_ORDER) — 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67128"/>
            <a:ext cx="506577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올바르게 구현되면 보수적으로 안전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슬레이브가 FK·unique·상속을 몰라도 됨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새 메타는 commit_seq + dependency_seq 둘뿐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목표: 마스터 동시 쓰기 부하를 슬레이브가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      따라잡게 하기 (lag 해소)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비용: 병렬도가 마스터 commit 동시성에 묶임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5394960" cy="246888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5394960" cy="4572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655064"/>
            <a:ext cx="50657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v2 향후 확장 (WRITESET)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67128"/>
            <a:ext cx="506577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같은 commit_seq/dependency_seq 인터페이스 위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마스터 계산만 writeset 으로 교체 (슬레이브 무변경)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conflict key = (class OID, PK) + unique 키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자식 writeset 에 FK 부모 키 주입 → 순서 보존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endParaRPr sz="1300">
              <a:solidFill>
                <a:srgbClr val="444B54"/>
              </a:solidFill>
              <a:latin typeface="맑은 고딕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행 단위 병렬 — 마스터 타이밍을 넘어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44B54"/>
                </a:solidFill>
                <a:latin typeface="맑은 고딕"/>
              </a:rPr>
              <a:t>백로그를 더 빨리 재생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09728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22A42"/>
                </a:solidFill>
                <a:latin typeface="맑은 고딕"/>
              </a:rPr>
              <a:t>● 정식 구현의 필수 항목 (불변식·쟁점)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durable commit 순서 게이트 불변식을 구현에서 절대 우회하지 않기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committed_lsa 는 durable 완료된 연속 prefix 로만 전진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DDL/sysop barrier 범위, pending 폭주 시 리더 정지 기준 확정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444B54"/>
                </a:solidFill>
                <a:latin typeface="맑은 고딕"/>
              </a:rPr>
              <a:t>– v2: history 크기 floor 불변식, FK·unique·상속 키 누락 방지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3DE"/>
                </a:solidFill>
                <a:latin typeface="맑은 고딕"/>
              </a:rPr>
              <a:t>병렬 applylogdb 코디네이터 설계 — 병렬 실행과 commit 순서 보존의 분리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9838</Words>
  <Application>Microsoft Macintosh PowerPoint</Application>
  <PresentationFormat>와이드스크린</PresentationFormat>
  <Paragraphs>1609</Paragraphs>
  <Slides>87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87</vt:i4>
      </vt:variant>
    </vt:vector>
  </HeadingPairs>
  <TitlesOfParts>
    <vt:vector size="9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유영준(youngjun.yu)</cp:lastModifiedBy>
  <cp:revision>23</cp:revision>
  <dcterms:created xsi:type="dcterms:W3CDTF">2013-01-27T09:14:16Z</dcterms:created>
  <dcterms:modified xsi:type="dcterms:W3CDTF">2026-06-09T19:46:33Z</dcterms:modified>
  <cp:category/>
</cp:coreProperties>
</file>